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706d599-7bc2-92ce-dcdf-363f084e84a7}">
          <p14:sldIdLst>
            <p14:sldId id="256"/>
            <p14:sldId id="257"/>
            <p14:sldId id="258"/>
          </p14:sldIdLst>
        </p14:section>
        <p14:section name="Literature Review" id="{5b86c646-cc77-6497-1725-e6d00f0d41da}">
          <p14:sldIdLst>
            <p14:sldId id="259"/>
            <p14:sldId id="260"/>
            <p14:sldId id="261"/>
            <p14:sldId id="262"/>
            <p14:sldId id="263"/>
            <p14:sldId id="264"/>
            <p14:sldId id="265"/>
            <p14:sldId id="266"/>
            <p14:sldId id="267"/>
            <p14:sldId id="268"/>
            <p14:sldId id="269"/>
          </p14:sldIdLst>
        </p14:section>
        <p14:section name="Research Design" id="{36c1bfa3-08f2-0f1d-2ef4-555a1c788604}">
          <p14:sldIdLst>
            <p14:sldId id="270"/>
            <p14:sldId id="271"/>
            <p14:sldId id="272"/>
            <p14:sldId id="273"/>
          </p14:sldIdLst>
        </p14:section>
        <p14:section name="References" id="{930d63d5-5078-61a9-f7fc-2731efca7363}">
          <p14:sldIdLst>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438912" y="457200"/>
            <a:ext cx="3712464" cy="91440"/>
          </a:xfrm>
          <a:prstGeom prst="rect">
            <a:avLst/>
          </a:prstGeom>
          <a:solidFill>
            <a:schemeClr val="tx2"/>
          </a:solidFill>
          <a:ln/>
        </p:spPr>
      </p:sp>
      <p:sp>
        <p:nvSpPr>
          <p:cNvPr id="3" name="Shape 1"/>
          <p:cNvSpPr/>
          <p:nvPr/>
        </p:nvSpPr>
        <p:spPr>
          <a:xfrm>
            <a:off x="4242816" y="457200"/>
            <a:ext cx="3694176" cy="91440"/>
          </a:xfrm>
          <a:prstGeom prst="rect">
            <a:avLst/>
          </a:prstGeom>
          <a:solidFill>
            <a:schemeClr val="accent1"/>
          </a:solidFill>
          <a:ln/>
        </p:spPr>
      </p:sp>
      <p:sp>
        <p:nvSpPr>
          <p:cNvPr id="4" name="Shape 2"/>
          <p:cNvSpPr/>
          <p:nvPr/>
        </p:nvSpPr>
        <p:spPr>
          <a:xfrm>
            <a:off x="8028432" y="457200"/>
            <a:ext cx="3712464" cy="91440"/>
          </a:xfrm>
          <a:prstGeom prst="rect">
            <a:avLst/>
          </a:prstGeom>
          <a:solidFill>
            <a:schemeClr val="accent3"/>
          </a:solidFill>
          <a:ln/>
        </p:spPr>
      </p:sp>
      <p:sp>
        <p:nvSpPr>
          <p:cNvPr id="5" name="Text 3"/>
          <p:cNvSpPr/>
          <p:nvPr>
            <p:ph idx="103" type="title" hasCustomPrompt="1"/>
          </p:nvPr>
        </p:nvSpPr>
        <p:spPr>
          <a:xfrm>
            <a:off x="548640" y="1371600"/>
            <a:ext cx="11091672" cy="1737360"/>
          </a:xfrm>
          <a:prstGeom prst="rect">
            <a:avLst/>
          </a:prstGeom>
          <a:noFill/>
          <a:ln/>
        </p:spPr>
        <p:txBody>
          <a:bodyPr wrap="square" rtlCol="0"/>
          <a:lstStyle>
            <a:lvl1pPr algn="ctr" indent="0" marL="0">
              <a:buNone/>
              <a:defRPr lang="en-US" sz="3800" b="1" dirty="0">
                <a:solidFill>
                  <a:schemeClr val="tx1"/>
                </a:solidFill>
              </a:defRPr>
            </a:lvl1pPr>
          </a:lstStyle>
          <a:p>
            <a:pPr algn="ctr"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438912" y="457200"/>
            <a:ext cx="3712464" cy="91440"/>
          </a:xfrm>
          <a:prstGeom prst="rect">
            <a:avLst/>
          </a:prstGeom>
          <a:solidFill>
            <a:schemeClr val="tx2"/>
          </a:solidFill>
          <a:ln/>
        </p:spPr>
      </p:sp>
      <p:sp>
        <p:nvSpPr>
          <p:cNvPr id="3" name="Shape 1"/>
          <p:cNvSpPr/>
          <p:nvPr/>
        </p:nvSpPr>
        <p:spPr>
          <a:xfrm>
            <a:off x="4242816" y="457200"/>
            <a:ext cx="3694176" cy="91440"/>
          </a:xfrm>
          <a:prstGeom prst="rect">
            <a:avLst/>
          </a:prstGeom>
          <a:solidFill>
            <a:schemeClr val="accent1"/>
          </a:solidFill>
          <a:ln/>
        </p:spPr>
      </p:sp>
      <p:sp>
        <p:nvSpPr>
          <p:cNvPr id="4" name="Shape 2"/>
          <p:cNvSpPr/>
          <p:nvPr/>
        </p:nvSpPr>
        <p:spPr>
          <a:xfrm>
            <a:off x="8028432" y="457200"/>
            <a:ext cx="3712464" cy="91440"/>
          </a:xfrm>
          <a:prstGeom prst="rect">
            <a:avLst/>
          </a:prstGeom>
          <a:solidFill>
            <a:schemeClr val="accent3"/>
          </a:solidFill>
          <a:ln/>
        </p:spPr>
      </p:sp>
      <p:sp>
        <p:nvSpPr>
          <p:cNvPr id="5" name="Text 3"/>
          <p:cNvSpPr/>
          <p:nvPr>
            <p:ph idx="103" type="title" hasCustomPrompt="1"/>
          </p:nvPr>
        </p:nvSpPr>
        <p:spPr>
          <a:xfrm>
            <a:off x="548640" y="749808"/>
            <a:ext cx="11091672"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3" type="title" hasCustomPrompt="1"/>
          </p:nvPr>
        </p:nvSpPr>
        <p:spPr>
          <a:xfrm>
            <a:off x="548640" y="1371600"/>
            <a:ext cx="11091672" cy="1737360"/>
          </a:xfrm>
          <a:prstGeom prst="rect">
            <a:avLst/>
          </a:prstGeom>
          <a:noFill/>
          <a:ln/>
        </p:spPr>
        <p:txBody>
          <a:bodyPr wrap="square" rtlCol="0" anchor="ctr"/>
          <a:lstStyle/>
          <a:p>
            <a:pPr algn="ctr" indent="0" marL="0">
              <a:buNone/>
            </a:pPr>
            <a:r>
              <a:rPr lang="en-US" sz="3800" b="1" dirty="0">
                <a:solidFill>
                  <a:schemeClr val="tx1"/>
                </a:solidFill>
              </a:rPr>
              <a:t>HOW CONSUMER PERCEPTIONS OF VIRTUAL INFLUENCERS SHAPE TRUST AND PURCHASE INTENTION AMONG GEN Z</a:t>
            </a:r>
            <a:endParaRPr lang="en-US" sz="3800" dirty="0"/>
          </a:p>
        </p:txBody>
      </p:sp>
      <p:sp>
        <p:nvSpPr>
          <p:cNvPr id="3" name="Text 1"/>
          <p:cNvSpPr txBox="1"/>
          <p:nvPr/>
        </p:nvSpPr>
        <p:spPr>
          <a:xfrm>
            <a:off x="548640" y="3429000"/>
            <a:ext cx="11091672" cy="502920"/>
          </a:xfrm>
          <a:prstGeom prst="rect">
            <a:avLst/>
          </a:prstGeom>
          <a:noFill/>
          <a:ln/>
        </p:spPr>
        <p:txBody>
          <a:bodyPr wrap="square" rtlCol="0" anchor="ctr"/>
          <a:lstStyle/>
          <a:p>
            <a:pPr algn="ctr" indent="0" marL="0">
              <a:buNone/>
            </a:pPr>
            <a:r>
              <a:rPr lang="en-US" sz="2400" dirty="0">
                <a:solidFill>
                  <a:schemeClr val="accent4"/>
                </a:solidFill>
              </a:rPr>
              <a:t>PROJECT PRESENTATION  |  AREA: MARKETING</a:t>
            </a:r>
            <a:endParaRPr lang="en-US" sz="2400" dirty="0"/>
          </a:p>
        </p:txBody>
      </p:sp>
      <p:sp>
        <p:nvSpPr>
          <p:cNvPr id="4" name="Text 2"/>
          <p:cNvSpPr txBox="1"/>
          <p:nvPr/>
        </p:nvSpPr>
        <p:spPr>
          <a:xfrm>
            <a:off x="548640" y="4572000"/>
            <a:ext cx="5029200" cy="1280160"/>
          </a:xfrm>
          <a:prstGeom prst="rect">
            <a:avLst/>
          </a:prstGeom>
          <a:noFill/>
          <a:ln/>
        </p:spPr>
        <p:txBody>
          <a:bodyPr wrap="square" rtlCol="0" anchor="t"/>
          <a:lstStyle/>
          <a:p>
            <a:pPr indent="0" marL="0">
              <a:buNone/>
            </a:pPr>
            <a:r>
              <a:rPr lang="en-US" sz="2000" dirty="0">
                <a:solidFill>
                  <a:srgbClr val="000000"/>
                </a:solidFill>
              </a:rPr>
              <a:t>Under the guidance of:</a:t>
            </a:r>
            <a:endParaRPr lang="en-US" sz="2000" dirty="0"/>
          </a:p>
          <a:p>
            <a:pPr indent="0" marL="0">
              <a:buNone/>
            </a:pPr>
            <a:r>
              <a:rPr lang="en-US" sz="2000" dirty="0">
                <a:solidFill>
                  <a:srgbClr val="000000"/>
                </a:solidFill>
              </a:rPr>
              <a:t>Dr. Mithra Manmadhan</a:t>
            </a:r>
            <a:endParaRPr lang="en-US" sz="2000" dirty="0"/>
          </a:p>
          <a:p>
            <a:pPr indent="0" marL="0">
              <a:buNone/>
            </a:pPr>
            <a:r>
              <a:rPr lang="en-US" sz="2000" dirty="0">
                <a:solidFill>
                  <a:srgbClr val="000000"/>
                </a:solidFill>
              </a:rPr>
              <a:t>Assistant Professor</a:t>
            </a:r>
            <a:endParaRPr lang="en-US" sz="2000" dirty="0"/>
          </a:p>
        </p:txBody>
      </p:sp>
      <p:sp>
        <p:nvSpPr>
          <p:cNvPr id="5" name="Text 3"/>
          <p:cNvSpPr txBox="1"/>
          <p:nvPr/>
        </p:nvSpPr>
        <p:spPr>
          <a:xfrm>
            <a:off x="8595360" y="4572000"/>
            <a:ext cx="3108960" cy="1280160"/>
          </a:xfrm>
          <a:prstGeom prst="rect">
            <a:avLst/>
          </a:prstGeom>
          <a:noFill/>
          <a:ln/>
        </p:spPr>
        <p:txBody>
          <a:bodyPr wrap="square" rtlCol="0" anchor="t"/>
          <a:lstStyle/>
          <a:p>
            <a:pPr indent="0" marL="0">
              <a:buNone/>
            </a:pPr>
            <a:r>
              <a:rPr lang="en-US" sz="2000" dirty="0">
                <a:solidFill>
                  <a:srgbClr val="000000"/>
                </a:solidFill>
              </a:rPr>
              <a:t>Abhiram JP</a:t>
            </a:r>
            <a:endParaRPr lang="en-US" sz="2000" dirty="0"/>
          </a:p>
          <a:p>
            <a:pPr indent="0" marL="0">
              <a:buNone/>
            </a:pPr>
            <a:r>
              <a:rPr lang="en-US" sz="2000" dirty="0">
                <a:solidFill>
                  <a:srgbClr val="000000"/>
                </a:solidFill>
              </a:rPr>
              <a:t>MBA Batch B</a:t>
            </a:r>
            <a:endParaRPr lang="en-US" sz="2000" dirty="0"/>
          </a:p>
          <a:p>
            <a:pPr indent="0" marL="0">
              <a:buNone/>
            </a:pPr>
            <a:r>
              <a:rPr lang="en-US" sz="2000" dirty="0">
                <a:solidFill>
                  <a:srgbClr val="000000"/>
                </a:solidFill>
              </a:rPr>
              <a:t>TVE25MBA03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INTRODUCTION</a:t>
            </a:r>
            <a:endParaRPr lang="en-US" sz="2800" dirty="0"/>
          </a:p>
        </p:txBody>
      </p:sp>
      <p:sp>
        <p:nvSpPr>
          <p:cNvPr id="3" name="Text 1"/>
          <p:cNvSpPr txBox="1"/>
          <p:nvPr/>
        </p:nvSpPr>
        <p:spPr>
          <a:xfrm>
            <a:off x="548640" y="1691640"/>
            <a:ext cx="7772400" cy="4663440"/>
          </a:xfrm>
          <a:prstGeom prst="rect">
            <a:avLst/>
          </a:prstGeom>
          <a:noFill/>
          <a:ln/>
        </p:spPr>
        <p:txBody>
          <a:bodyPr wrap="square" lIns="25400" tIns="50800" rIns="50800" bIns="25400" rtlCol="0" anchor="t"/>
          <a:lstStyle/>
          <a:p>
            <a:pPr marL="355600" indent="-355600">
              <a:spcAft>
                <a:spcPts val="1800"/>
              </a:spcAft>
              <a:buSzPct val="100000"/>
              <a:buChar char="■"/>
            </a:pPr>
            <a:r>
              <a:rPr lang="en-US" sz="2400" dirty="0">
                <a:solidFill>
                  <a:schemeClr val="tx1"/>
                </a:solidFill>
              </a:rPr>
              <a:t>Influencer marketing grew from social media users building personal brands that rival companies. </a:t>
            </a:r>
            <a:r>
              <a:rPr lang="en-US" sz="1900" dirty="0">
                <a:solidFill>
                  <a:schemeClr val="accent4"/>
                </a:solidFill>
              </a:rPr>
              <a:t>(Khamis et al., 2017)</a:t>
            </a:r>
            <a:endParaRPr lang="en-US" sz="2400" dirty="0"/>
          </a:p>
          <a:p>
            <a:pPr marL="355600" indent="-355600">
              <a:spcAft>
                <a:spcPts val="1800"/>
              </a:spcAft>
              <a:buSzPct val="100000"/>
              <a:buChar char="■"/>
            </a:pPr>
            <a:r>
              <a:rPr lang="en-US" sz="2400" dirty="0">
                <a:solidFill>
                  <a:schemeClr val="tx1"/>
                </a:solidFill>
              </a:rPr>
              <a:t>Influencers combine an audience, a persuasive endorser and a content producer in one person. </a:t>
            </a:r>
            <a:r>
              <a:rPr lang="en-US" sz="1900" dirty="0">
                <a:solidFill>
                  <a:schemeClr val="accent4"/>
                </a:solidFill>
              </a:rPr>
              <a:t>(Campbell &amp; Farrell, 2020)</a:t>
            </a:r>
            <a:endParaRPr lang="en-US" sz="2400" dirty="0"/>
          </a:p>
          <a:p>
            <a:pPr marL="355600" indent="-355600">
              <a:spcAft>
                <a:spcPts val="1800"/>
              </a:spcAft>
              <a:buSzPct val="100000"/>
              <a:buChar char="■"/>
            </a:pPr>
            <a:r>
              <a:rPr lang="en-US" sz="2400" dirty="0">
                <a:solidFill>
                  <a:schemeClr val="tx1"/>
                </a:solidFill>
              </a:rPr>
              <a:t>Virtual influencers are computer-generated characters that post, endorse brands and interact with followers like human creators.</a:t>
            </a:r>
            <a:endParaRPr lang="en-US" sz="2400" dirty="0"/>
          </a:p>
          <a:p>
            <a:pPr marL="355600" indent="-355600">
              <a:spcAft>
                <a:spcPts val="1800"/>
              </a:spcAft>
              <a:buSzPct val="100000"/>
              <a:buChar char="■"/>
            </a:pPr>
            <a:r>
              <a:rPr lang="en-US" sz="2400" dirty="0">
                <a:solidFill>
                  <a:schemeClr val="tx1"/>
                </a:solidFill>
              </a:rPr>
              <a:t>They offer brands customisation, flexibility, ownership and automation. </a:t>
            </a:r>
            <a:r>
              <a:rPr lang="en-US" sz="1900" dirty="0">
                <a:solidFill>
                  <a:schemeClr val="accent4"/>
                </a:solidFill>
              </a:rPr>
              <a:t>(Mouritzen et al., 2024)</a:t>
            </a:r>
            <a:endParaRPr lang="en-US" sz="2400" dirty="0"/>
          </a:p>
        </p:txBody>
      </p:sp>
      <p:sp>
        <p:nvSpPr>
          <p:cNvPr id="4" name="Virtual influencer panel"/>
          <p:cNvSpPr/>
          <p:nvPr/>
        </p:nvSpPr>
        <p:spPr>
          <a:xfrm>
            <a:off x="8595360" y="1783080"/>
            <a:ext cx="3063240" cy="4389120"/>
          </a:xfrm>
          <a:prstGeom prst="rect">
            <a:avLst/>
          </a:prstGeom>
          <a:solidFill>
            <a:schemeClr val="bg2"/>
          </a:solidFill>
          <a:ln w="12700">
            <a:solidFill>
              <a:schemeClr val="bg2"/>
            </a:solidFill>
            <a:prstDash val="solid"/>
          </a:ln>
        </p:spPr>
      </p:sp>
      <p:sp>
        <p:nvSpPr>
          <p:cNvPr id="5" name="Robot circle"/>
          <p:cNvSpPr/>
          <p:nvPr/>
        </p:nvSpPr>
        <p:spPr>
          <a:xfrm>
            <a:off x="9418320" y="2057400"/>
            <a:ext cx="1417320" cy="1417320"/>
          </a:xfrm>
          <a:prstGeom prst="ellipse">
            <a:avLst/>
          </a:prstGeom>
          <a:solidFill>
            <a:schemeClr val="accent1"/>
          </a:solidFill>
          <a:ln w="12700">
            <a:solidFill>
              <a:schemeClr val="accent1"/>
            </a:solidFill>
            <a:prstDash val="solid"/>
          </a:ln>
        </p:spPr>
      </p:sp>
      <p:pic>
        <p:nvPicPr>
          <p:cNvPr id="6" name="Robot icon" descr="preencoded.png">    </p:cNvPr>
          <p:cNvPicPr>
            <a:picLocks noChangeAspect="1"/>
          </p:cNvPicPr>
          <p:nvPr/>
        </p:nvPicPr>
        <p:blipFill>
          <a:blip r:embed="rId1"/>
          <a:stretch>
            <a:fillRect/>
          </a:stretch>
        </p:blipFill>
        <p:spPr>
          <a:xfrm>
            <a:off x="9772650" y="2411730"/>
            <a:ext cx="708660" cy="708660"/>
          </a:xfrm>
          <a:prstGeom prst="rect">
            <a:avLst/>
          </a:prstGeom>
        </p:spPr>
      </p:pic>
      <p:sp>
        <p:nvSpPr>
          <p:cNvPr id="7" name="Text 4"/>
          <p:cNvSpPr txBox="1"/>
          <p:nvPr/>
        </p:nvSpPr>
        <p:spPr>
          <a:xfrm>
            <a:off x="8732520" y="3657600"/>
            <a:ext cx="2788920" cy="1463040"/>
          </a:xfrm>
          <a:prstGeom prst="rect">
            <a:avLst/>
          </a:prstGeom>
          <a:noFill/>
          <a:ln/>
        </p:spPr>
        <p:txBody>
          <a:bodyPr wrap="square" rtlCol="0" anchor="t"/>
          <a:lstStyle/>
          <a:p>
            <a:pPr algn="ctr" indent="0" marL="0">
              <a:buNone/>
            </a:pPr>
            <a:r>
              <a:rPr lang="en-US" sz="1800" b="1" dirty="0">
                <a:solidFill>
                  <a:schemeClr val="tx2"/>
                </a:solidFill>
              </a:rPr>
              <a:t>A shift in the influencer marketing paradigm, especially for young consumers</a:t>
            </a:r>
            <a:endParaRPr lang="en-US" sz="1800" dirty="0"/>
          </a:p>
        </p:txBody>
      </p:sp>
      <p:sp>
        <p:nvSpPr>
          <p:cNvPr id="8" name="Text 5"/>
          <p:cNvSpPr txBox="1"/>
          <p:nvPr/>
        </p:nvSpPr>
        <p:spPr>
          <a:xfrm>
            <a:off x="8732520" y="5257800"/>
            <a:ext cx="2788920" cy="457200"/>
          </a:xfrm>
          <a:prstGeom prst="rect">
            <a:avLst/>
          </a:prstGeom>
          <a:noFill/>
          <a:ln/>
        </p:spPr>
        <p:txBody>
          <a:bodyPr wrap="square" rtlCol="0" anchor="ctr"/>
          <a:lstStyle/>
          <a:p>
            <a:pPr algn="ctr" indent="0" marL="0">
              <a:buNone/>
            </a:pPr>
            <a:r>
              <a:rPr lang="en-US" sz="1600" dirty="0">
                <a:solidFill>
                  <a:schemeClr val="accent4"/>
                </a:solidFill>
              </a:rPr>
              <a:t>(Jhawar et al., 2023)</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PROBLEM STATEMENT</a:t>
            </a:r>
            <a:endParaRPr lang="en-US" sz="2800" dirty="0"/>
          </a:p>
        </p:txBody>
      </p:sp>
      <p:sp>
        <p:nvSpPr>
          <p:cNvPr id="3" name="Problem box"/>
          <p:cNvSpPr/>
          <p:nvPr/>
        </p:nvSpPr>
        <p:spPr>
          <a:xfrm>
            <a:off x="548640" y="1691640"/>
            <a:ext cx="11091672" cy="2743200"/>
          </a:xfrm>
          <a:prstGeom prst="rect">
            <a:avLst/>
          </a:prstGeom>
          <a:solidFill>
            <a:schemeClr val="bg2"/>
          </a:solidFill>
          <a:ln w="12700">
            <a:solidFill>
              <a:schemeClr val="bg2"/>
            </a:solidFill>
            <a:prstDash val="solid"/>
          </a:ln>
        </p:spPr>
      </p:sp>
      <p:sp>
        <p:nvSpPr>
          <p:cNvPr id="4" name="Text 2"/>
          <p:cNvSpPr txBox="1"/>
          <p:nvPr/>
        </p:nvSpPr>
        <p:spPr>
          <a:xfrm>
            <a:off x="731520" y="1783080"/>
            <a:ext cx="10744200" cy="2560320"/>
          </a:xfrm>
          <a:prstGeom prst="rect">
            <a:avLst/>
          </a:prstGeom>
          <a:noFill/>
          <a:ln/>
        </p:spPr>
        <p:txBody>
          <a:bodyPr wrap="square" rtlCol="0" anchor="ctr"/>
          <a:lstStyle/>
          <a:p>
            <a:pPr indent="0" marL="0">
              <a:spcAft>
                <a:spcPts val="1400"/>
              </a:spcAft>
              <a:buNone/>
            </a:pPr>
            <a:r>
              <a:rPr lang="en-US" sz="2200" dirty="0">
                <a:solidFill>
                  <a:schemeClr val="tx1"/>
                </a:solidFill>
              </a:rPr>
              <a:t>Brands increasingly use virtual influencers to reach young consumers, yet evidence on whether they drive purchases is mixed, and it is unclear which perceptions build trust.</a:t>
            </a:r>
            <a:endParaRPr lang="en-US" sz="2200" dirty="0"/>
          </a:p>
          <a:p>
            <a:pPr indent="0" marL="0">
              <a:buNone/>
            </a:pPr>
            <a:r>
              <a:rPr lang="en-US" sz="2200" dirty="0">
                <a:solidFill>
                  <a:schemeClr val="tx1"/>
                </a:solidFill>
              </a:rPr>
              <a:t>This study examines how Gen Z consumers' perceptions of virtual influencers shape trust and, through it, purchase intention.</a:t>
            </a:r>
            <a:endParaRPr lang="en-US" sz="2200" dirty="0"/>
          </a:p>
        </p:txBody>
      </p:sp>
      <p:sp>
        <p:nvSpPr>
          <p:cNvPr id="5" name="Trust deficit circle"/>
          <p:cNvSpPr/>
          <p:nvPr/>
        </p:nvSpPr>
        <p:spPr>
          <a:xfrm>
            <a:off x="548640" y="4800600"/>
            <a:ext cx="868680" cy="868680"/>
          </a:xfrm>
          <a:prstGeom prst="ellipse">
            <a:avLst/>
          </a:prstGeom>
          <a:solidFill>
            <a:schemeClr val="tx2"/>
          </a:solidFill>
          <a:ln w="12700">
            <a:solidFill>
              <a:schemeClr val="tx2"/>
            </a:solidFill>
            <a:prstDash val="solid"/>
          </a:ln>
        </p:spPr>
      </p:sp>
      <p:pic>
        <p:nvPicPr>
          <p:cNvPr id="6" name="Trust deficit icon" descr="preencoded.png">    </p:cNvPr>
          <p:cNvPicPr>
            <a:picLocks noChangeAspect="1"/>
          </p:cNvPicPr>
          <p:nvPr/>
        </p:nvPicPr>
        <p:blipFill>
          <a:blip r:embed="rId1"/>
          <a:stretch>
            <a:fillRect/>
          </a:stretch>
        </p:blipFill>
        <p:spPr>
          <a:xfrm>
            <a:off x="765810" y="5017770"/>
            <a:ext cx="434340" cy="434340"/>
          </a:xfrm>
          <a:prstGeom prst="rect">
            <a:avLst/>
          </a:prstGeom>
        </p:spPr>
      </p:pic>
      <p:sp>
        <p:nvSpPr>
          <p:cNvPr id="7" name="Text 4"/>
          <p:cNvSpPr txBox="1"/>
          <p:nvPr/>
        </p:nvSpPr>
        <p:spPr>
          <a:xfrm>
            <a:off x="1554480" y="4709160"/>
            <a:ext cx="2651760" cy="1463040"/>
          </a:xfrm>
          <a:prstGeom prst="rect">
            <a:avLst/>
          </a:prstGeom>
          <a:noFill/>
          <a:ln/>
        </p:spPr>
        <p:txBody>
          <a:bodyPr wrap="square" lIns="0" tIns="0" rIns="0" bIns="0" rtlCol="0" anchor="t"/>
          <a:lstStyle/>
          <a:p>
            <a:pPr indent="0" marL="0">
              <a:buNone/>
            </a:pPr>
            <a:r>
              <a:rPr lang="en-US" sz="2000" b="1" dirty="0">
                <a:solidFill>
                  <a:schemeClr val="tx1"/>
                </a:solidFill>
              </a:rPr>
              <a:t>Trust deficit</a:t>
            </a:r>
            <a:endParaRPr lang="en-US" sz="2000" dirty="0"/>
          </a:p>
          <a:p>
            <a:pPr indent="0" marL="0">
              <a:buNone/>
            </a:pPr>
            <a:r>
              <a:rPr lang="en-US" sz="1700" dirty="0">
                <a:solidFill>
                  <a:schemeClr val="tx2"/>
                </a:solidFill>
              </a:rPr>
              <a:t>Trusted less than human influencers</a:t>
            </a:r>
            <a:endParaRPr lang="en-US" sz="2000" dirty="0"/>
          </a:p>
        </p:txBody>
      </p:sp>
      <p:sp>
        <p:nvSpPr>
          <p:cNvPr id="8" name="Mixed evidence circle"/>
          <p:cNvSpPr/>
          <p:nvPr/>
        </p:nvSpPr>
        <p:spPr>
          <a:xfrm>
            <a:off x="4325112" y="4800600"/>
            <a:ext cx="868680" cy="868680"/>
          </a:xfrm>
          <a:prstGeom prst="ellipse">
            <a:avLst/>
          </a:prstGeom>
          <a:solidFill>
            <a:schemeClr val="accent1"/>
          </a:solidFill>
          <a:ln w="12700">
            <a:solidFill>
              <a:schemeClr val="accent1"/>
            </a:solidFill>
            <a:prstDash val="solid"/>
          </a:ln>
        </p:spPr>
      </p:sp>
      <p:pic>
        <p:nvPicPr>
          <p:cNvPr id="9" name="Mixed evidence icon" descr="preencoded.png">    </p:cNvPr>
          <p:cNvPicPr>
            <a:picLocks noChangeAspect="1"/>
          </p:cNvPicPr>
          <p:nvPr/>
        </p:nvPicPr>
        <p:blipFill>
          <a:blip r:embed="rId2"/>
          <a:stretch>
            <a:fillRect/>
          </a:stretch>
        </p:blipFill>
        <p:spPr>
          <a:xfrm>
            <a:off x="4542282" y="5017770"/>
            <a:ext cx="434340" cy="434340"/>
          </a:xfrm>
          <a:prstGeom prst="rect">
            <a:avLst/>
          </a:prstGeom>
        </p:spPr>
      </p:pic>
      <p:sp>
        <p:nvSpPr>
          <p:cNvPr id="10" name="Text 6"/>
          <p:cNvSpPr txBox="1"/>
          <p:nvPr/>
        </p:nvSpPr>
        <p:spPr>
          <a:xfrm>
            <a:off x="5330952" y="4709160"/>
            <a:ext cx="2651760" cy="1463040"/>
          </a:xfrm>
          <a:prstGeom prst="rect">
            <a:avLst/>
          </a:prstGeom>
          <a:noFill/>
          <a:ln/>
        </p:spPr>
        <p:txBody>
          <a:bodyPr wrap="square" lIns="0" tIns="0" rIns="0" bIns="0" rtlCol="0" anchor="t"/>
          <a:lstStyle/>
          <a:p>
            <a:pPr indent="0" marL="0">
              <a:buNone/>
            </a:pPr>
            <a:r>
              <a:rPr lang="en-US" sz="2000" b="1" dirty="0">
                <a:solidFill>
                  <a:schemeClr val="tx1"/>
                </a:solidFill>
              </a:rPr>
              <a:t>Mixed evidence</a:t>
            </a:r>
            <a:endParaRPr lang="en-US" sz="2000" dirty="0"/>
          </a:p>
          <a:p>
            <a:pPr indent="0" marL="0">
              <a:buNone/>
            </a:pPr>
            <a:r>
              <a:rPr lang="en-US" sz="1700" dirty="0">
                <a:solidFill>
                  <a:schemeClr val="tx2"/>
                </a:solidFill>
              </a:rPr>
              <a:t>Unclear effect on purchase intention</a:t>
            </a:r>
            <a:endParaRPr lang="en-US" sz="2000" dirty="0"/>
          </a:p>
        </p:txBody>
      </p:sp>
      <p:sp>
        <p:nvSpPr>
          <p:cNvPr id="11" name="Thin Indian evidence circle"/>
          <p:cNvSpPr/>
          <p:nvPr/>
        </p:nvSpPr>
        <p:spPr>
          <a:xfrm>
            <a:off x="8101584" y="4800600"/>
            <a:ext cx="868680" cy="868680"/>
          </a:xfrm>
          <a:prstGeom prst="ellipse">
            <a:avLst/>
          </a:prstGeom>
          <a:solidFill>
            <a:schemeClr val="accent3"/>
          </a:solidFill>
          <a:ln w="12700">
            <a:solidFill>
              <a:schemeClr val="accent3"/>
            </a:solidFill>
            <a:prstDash val="solid"/>
          </a:ln>
        </p:spPr>
      </p:sp>
      <p:pic>
        <p:nvPicPr>
          <p:cNvPr id="12" name="Thin Indian evidence icon" descr="preencoded.png">    </p:cNvPr>
          <p:cNvPicPr>
            <a:picLocks noChangeAspect="1"/>
          </p:cNvPicPr>
          <p:nvPr/>
        </p:nvPicPr>
        <p:blipFill>
          <a:blip r:embed="rId3"/>
          <a:stretch>
            <a:fillRect/>
          </a:stretch>
        </p:blipFill>
        <p:spPr>
          <a:xfrm>
            <a:off x="8318754" y="5017770"/>
            <a:ext cx="434340" cy="434340"/>
          </a:xfrm>
          <a:prstGeom prst="rect">
            <a:avLst/>
          </a:prstGeom>
        </p:spPr>
      </p:pic>
      <p:sp>
        <p:nvSpPr>
          <p:cNvPr id="13" name="Text 8"/>
          <p:cNvSpPr txBox="1"/>
          <p:nvPr/>
        </p:nvSpPr>
        <p:spPr>
          <a:xfrm>
            <a:off x="9107424" y="4709160"/>
            <a:ext cx="2651760" cy="1463040"/>
          </a:xfrm>
          <a:prstGeom prst="rect">
            <a:avLst/>
          </a:prstGeom>
          <a:noFill/>
          <a:ln/>
        </p:spPr>
        <p:txBody>
          <a:bodyPr wrap="square" lIns="0" tIns="0" rIns="0" bIns="0" rtlCol="0" anchor="t"/>
          <a:lstStyle/>
          <a:p>
            <a:pPr indent="0" marL="0">
              <a:buNone/>
            </a:pPr>
            <a:r>
              <a:rPr lang="en-US" sz="2000" b="1" dirty="0">
                <a:solidFill>
                  <a:schemeClr val="tx1"/>
                </a:solidFill>
              </a:rPr>
              <a:t>Thin Indian evidence</a:t>
            </a:r>
            <a:endParaRPr lang="en-US" sz="2000" dirty="0"/>
          </a:p>
          <a:p>
            <a:pPr indent="0" marL="0">
              <a:buNone/>
            </a:pPr>
            <a:r>
              <a:rPr lang="en-US" sz="1700" dirty="0">
                <a:solidFill>
                  <a:schemeClr val="tx2"/>
                </a:solidFill>
              </a:rPr>
              <a:t>Limited data on Indian Gen Z</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INFLUENCER MARKETING</a:t>
            </a:r>
            <a:endParaRPr lang="en-US" sz="2800" dirty="0"/>
          </a:p>
        </p:txBody>
      </p:sp>
      <p:sp>
        <p:nvSpPr>
          <p:cNvPr id="3" name="Text 1"/>
          <p:cNvSpPr txBox="1"/>
          <p:nvPr/>
        </p:nvSpPr>
        <p:spPr>
          <a:xfrm>
            <a:off x="548640" y="1691640"/>
            <a:ext cx="11091672" cy="4663440"/>
          </a:xfrm>
          <a:prstGeom prst="rect">
            <a:avLst/>
          </a:prstGeom>
          <a:noFill/>
          <a:ln/>
        </p:spPr>
        <p:txBody>
          <a:bodyPr wrap="square" lIns="25400" tIns="50800" rIns="50800" bIns="25400" rtlCol="0" anchor="t"/>
          <a:lstStyle/>
          <a:p>
            <a:pPr marL="355600" indent="-355600">
              <a:spcAft>
                <a:spcPts val="2200"/>
              </a:spcAft>
              <a:buSzPct val="100000"/>
              <a:buChar char="■"/>
            </a:pPr>
            <a:r>
              <a:rPr lang="en-US" sz="2600" dirty="0">
                <a:solidFill>
                  <a:schemeClr val="tx1"/>
                </a:solidFill>
              </a:rPr>
              <a:t>Young consumers see online celebrities as more credible and relatable than traditional stars. </a:t>
            </a:r>
            <a:r>
              <a:rPr lang="en-US" sz="2100" dirty="0">
                <a:solidFill>
                  <a:schemeClr val="accent4"/>
                </a:solidFill>
              </a:rPr>
              <a:t>(Djafarova &amp; Rushworth, 2017)</a:t>
            </a:r>
            <a:endParaRPr lang="en-US" sz="2600" dirty="0"/>
          </a:p>
          <a:p>
            <a:pPr marL="355600" indent="-355600">
              <a:spcAft>
                <a:spcPts val="2200"/>
              </a:spcAft>
              <a:buSzPct val="100000"/>
              <a:buChar char="■"/>
            </a:pPr>
            <a:r>
              <a:rPr lang="en-US" sz="2600" dirty="0">
                <a:solidFill>
                  <a:schemeClr val="tx1"/>
                </a:solidFill>
              </a:rPr>
              <a:t>The field runs as a chain: influencer characteristics → audience responses → purchase behaviour. </a:t>
            </a:r>
            <a:r>
              <a:rPr lang="en-US" sz="2100" dirty="0">
                <a:solidFill>
                  <a:schemeClr val="accent4"/>
                </a:solidFill>
              </a:rPr>
              <a:t>(Vrontis et al., 2021)</a:t>
            </a:r>
            <a:endParaRPr lang="en-US" sz="2600" dirty="0"/>
          </a:p>
          <a:p>
            <a:pPr marL="355600" indent="-355600">
              <a:spcAft>
                <a:spcPts val="2200"/>
              </a:spcAft>
              <a:buSzPct val="100000"/>
              <a:buChar char="■"/>
            </a:pPr>
            <a:r>
              <a:rPr lang="en-US" sz="2600" dirty="0">
                <a:solidFill>
                  <a:schemeClr val="tx1"/>
                </a:solidFill>
              </a:rPr>
              <a:t>Source credibility is the most robust explanation of influencer impact. </a:t>
            </a:r>
            <a:r>
              <a:rPr lang="en-US" sz="2100" dirty="0">
                <a:solidFill>
                  <a:schemeClr val="accent4"/>
                </a:solidFill>
              </a:rPr>
              <a:t>(Han &amp; Balabanis, 2024)</a:t>
            </a:r>
            <a:endParaRPr lang="en-US" sz="2600" dirty="0"/>
          </a:p>
          <a:p>
            <a:pPr marL="355600" indent="-355600">
              <a:spcAft>
                <a:spcPts val="2200"/>
              </a:spcAft>
              <a:buSzPct val="100000"/>
              <a:buChar char="■"/>
            </a:pPr>
            <a:r>
              <a:rPr lang="en-US" sz="2600" dirty="0">
                <a:solidFill>
                  <a:schemeClr val="tx1"/>
                </a:solidFill>
              </a:rPr>
              <a:t>Social identification and the informational and hedonic value of posts are the strongest drivers of purchase intention. </a:t>
            </a:r>
            <a:r>
              <a:rPr lang="en-US" sz="2100" dirty="0">
                <a:solidFill>
                  <a:schemeClr val="accent4"/>
                </a:solidFill>
              </a:rPr>
              <a:t>(Pan et al., 2025)</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VIRTUAL INFLUENCERS</a:t>
            </a:r>
            <a:endParaRPr lang="en-US" sz="2800" dirty="0"/>
          </a:p>
        </p:txBody>
      </p:sp>
      <p:sp>
        <p:nvSpPr>
          <p:cNvPr id="3" name="Text 1"/>
          <p:cNvSpPr txBox="1"/>
          <p:nvPr/>
        </p:nvSpPr>
        <p:spPr>
          <a:xfrm>
            <a:off x="548640" y="1691640"/>
            <a:ext cx="11091672" cy="4663440"/>
          </a:xfrm>
          <a:prstGeom prst="rect">
            <a:avLst/>
          </a:prstGeom>
          <a:noFill/>
          <a:ln/>
        </p:spPr>
        <p:txBody>
          <a:bodyPr wrap="square" lIns="25400" tIns="50800" rIns="50800" bIns="25400" rtlCol="0" anchor="t"/>
          <a:lstStyle/>
          <a:p>
            <a:pPr marL="355600" indent="-355600">
              <a:spcAft>
                <a:spcPts val="2200"/>
              </a:spcAft>
              <a:buSzPct val="100000"/>
              <a:buChar char="■"/>
            </a:pPr>
            <a:r>
              <a:rPr lang="en-US" sz="2600" dirty="0">
                <a:solidFill>
                  <a:schemeClr val="tx1"/>
                </a:solidFill>
              </a:rPr>
              <a:t>Avatars perform best when how real they look matches how real they behave. </a:t>
            </a:r>
            <a:r>
              <a:rPr lang="en-US" sz="2100" dirty="0">
                <a:solidFill>
                  <a:schemeClr val="accent4"/>
                </a:solidFill>
              </a:rPr>
              <a:t>(Miao et al., 2022)</a:t>
            </a:r>
            <a:endParaRPr lang="en-US" sz="2600" dirty="0"/>
          </a:p>
          <a:p>
            <a:pPr marL="355600" indent="-355600">
              <a:spcAft>
                <a:spcPts val="2200"/>
              </a:spcAft>
              <a:buSzPct val="100000"/>
              <a:buChar char="■"/>
            </a:pPr>
            <a:r>
              <a:rPr lang="en-US" sz="2600" dirty="0">
                <a:solidFill>
                  <a:schemeClr val="tx1"/>
                </a:solidFill>
              </a:rPr>
              <a:t>Their social media presence is built to imitate the lives of real people. </a:t>
            </a:r>
            <a:r>
              <a:rPr lang="en-US" sz="2100" dirty="0">
                <a:solidFill>
                  <a:schemeClr val="accent4"/>
                </a:solidFill>
              </a:rPr>
              <a:t>(Arsenyan &amp; Mirowska, 2021)</a:t>
            </a:r>
            <a:endParaRPr lang="en-US" sz="2600" dirty="0"/>
          </a:p>
          <a:p>
            <a:pPr marL="355600" indent="-355600">
              <a:spcAft>
                <a:spcPts val="2200"/>
              </a:spcAft>
              <a:buSzPct val="100000"/>
              <a:buChar char="■"/>
            </a:pPr>
            <a:r>
              <a:rPr lang="en-US" sz="2600" dirty="0">
                <a:solidFill>
                  <a:schemeClr val="tx1"/>
                </a:solidFill>
              </a:rPr>
              <a:t>Human and virtual influencers share many qualities, but key differences limit virtual ones. </a:t>
            </a:r>
            <a:r>
              <a:rPr lang="en-US" sz="2100" dirty="0">
                <a:solidFill>
                  <a:schemeClr val="accent4"/>
                </a:solidFill>
              </a:rPr>
              <a:t>(Byun &amp; Ahn, 2023)</a:t>
            </a:r>
            <a:endParaRPr lang="en-US" sz="2600" dirty="0"/>
          </a:p>
          <a:p>
            <a:pPr marL="355600" indent="-355600">
              <a:spcAft>
                <a:spcPts val="2200"/>
              </a:spcAft>
              <a:buSzPct val="100000"/>
              <a:buChar char="■"/>
            </a:pPr>
            <a:r>
              <a:rPr lang="en-US" sz="2600" dirty="0">
                <a:solidFill>
                  <a:schemeClr val="tx1"/>
                </a:solidFill>
              </a:rPr>
              <a:t>The central weakness is trust: virtual influencers are trusted less than human ones. </a:t>
            </a:r>
            <a:r>
              <a:rPr lang="en-US" sz="2100" dirty="0">
                <a:solidFill>
                  <a:schemeClr val="accent4"/>
                </a:solidFill>
              </a:rPr>
              <a:t>(Sands et al., 2022; Cascio Rizzo et al., 2026)</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DO VIRTUAL INFLUENCERS SELL?</a:t>
            </a:r>
            <a:endParaRPr lang="en-US" sz="2800" dirty="0"/>
          </a:p>
        </p:txBody>
      </p:sp>
      <p:sp>
        <p:nvSpPr>
          <p:cNvPr id="3" name="Supportive evidence card"/>
          <p:cNvSpPr/>
          <p:nvPr/>
        </p:nvSpPr>
        <p:spPr>
          <a:xfrm>
            <a:off x="548640" y="1691640"/>
            <a:ext cx="5413248" cy="3977640"/>
          </a:xfrm>
          <a:prstGeom prst="rect">
            <a:avLst/>
          </a:prstGeom>
          <a:solidFill>
            <a:schemeClr val="bg2"/>
          </a:solidFill>
          <a:ln w="12700">
            <a:solidFill>
              <a:schemeClr val="bg2"/>
            </a:solidFill>
            <a:prstDash val="solid"/>
          </a:ln>
        </p:spPr>
      </p:sp>
      <p:sp>
        <p:nvSpPr>
          <p:cNvPr id="4" name="Supportive evidence circle"/>
          <p:cNvSpPr/>
          <p:nvPr/>
        </p:nvSpPr>
        <p:spPr>
          <a:xfrm>
            <a:off x="777240" y="1874520"/>
            <a:ext cx="685800" cy="685800"/>
          </a:xfrm>
          <a:prstGeom prst="ellipse">
            <a:avLst/>
          </a:prstGeom>
          <a:solidFill>
            <a:schemeClr val="accent6"/>
          </a:solidFill>
          <a:ln w="12700">
            <a:solidFill>
              <a:schemeClr val="accent6"/>
            </a:solidFill>
            <a:prstDash val="solid"/>
          </a:ln>
        </p:spPr>
      </p:sp>
      <p:pic>
        <p:nvPicPr>
          <p:cNvPr id="5" name="Supportive evidence icon" descr="preencoded.png">    </p:cNvPr>
          <p:cNvPicPr>
            <a:picLocks noChangeAspect="1"/>
          </p:cNvPicPr>
          <p:nvPr/>
        </p:nvPicPr>
        <p:blipFill>
          <a:blip r:embed="rId1"/>
          <a:stretch>
            <a:fillRect/>
          </a:stretch>
        </p:blipFill>
        <p:spPr>
          <a:xfrm>
            <a:off x="948690" y="2045970"/>
            <a:ext cx="342900" cy="342900"/>
          </a:xfrm>
          <a:prstGeom prst="rect">
            <a:avLst/>
          </a:prstGeom>
        </p:spPr>
      </p:pic>
      <p:sp>
        <p:nvSpPr>
          <p:cNvPr id="6" name="Text 3"/>
          <p:cNvSpPr txBox="1"/>
          <p:nvPr/>
        </p:nvSpPr>
        <p:spPr>
          <a:xfrm>
            <a:off x="1645920" y="1874520"/>
            <a:ext cx="4114800" cy="685800"/>
          </a:xfrm>
          <a:prstGeom prst="rect">
            <a:avLst/>
          </a:prstGeom>
          <a:noFill/>
          <a:ln/>
        </p:spPr>
        <p:txBody>
          <a:bodyPr wrap="square" lIns="0" tIns="0" rIns="0" bIns="0" rtlCol="0" anchor="ctr"/>
          <a:lstStyle/>
          <a:p>
            <a:pPr indent="0" marL="0">
              <a:buNone/>
            </a:pPr>
            <a:r>
              <a:rPr lang="en-US" sz="2200" b="1" dirty="0">
                <a:solidFill>
                  <a:schemeClr val="tx1"/>
                </a:solidFill>
              </a:rPr>
              <a:t>Supportive evidence</a:t>
            </a:r>
            <a:endParaRPr lang="en-US" sz="2200" dirty="0"/>
          </a:p>
        </p:txBody>
      </p:sp>
      <p:sp>
        <p:nvSpPr>
          <p:cNvPr id="7" name="Text 4"/>
          <p:cNvSpPr txBox="1"/>
          <p:nvPr/>
        </p:nvSpPr>
        <p:spPr>
          <a:xfrm>
            <a:off x="731520" y="2697480"/>
            <a:ext cx="5074920" cy="2926080"/>
          </a:xfrm>
          <a:prstGeom prst="rect">
            <a:avLst/>
          </a:prstGeom>
          <a:noFill/>
          <a:ln/>
        </p:spPr>
        <p:txBody>
          <a:bodyPr wrap="square" lIns="25400" tIns="50800" rIns="50800" bIns="25400" rtlCol="0" anchor="t"/>
          <a:lstStyle/>
          <a:p>
            <a:pPr marL="355600" indent="-355600">
              <a:spcAft>
                <a:spcPts val="1200"/>
              </a:spcAft>
              <a:buSzPct val="100000"/>
              <a:buChar char="■"/>
            </a:pPr>
            <a:r>
              <a:rPr lang="en-US" sz="2200" dirty="0">
                <a:solidFill>
                  <a:schemeClr val="tx1"/>
                </a:solidFill>
              </a:rPr>
              <a:t>Rated trustworthy and credible; linked to higher purchase intention. </a:t>
            </a:r>
            <a:r>
              <a:rPr lang="en-US" sz="1700" dirty="0">
                <a:solidFill>
                  <a:schemeClr val="accent4"/>
                </a:solidFill>
              </a:rPr>
              <a:t>(Gerlich, 2023)</a:t>
            </a:r>
            <a:endParaRPr lang="en-US" sz="2200" dirty="0"/>
          </a:p>
          <a:p>
            <a:pPr marL="355600" indent="-355600">
              <a:spcAft>
                <a:spcPts val="1200"/>
              </a:spcAft>
              <a:buSzPct val="100000"/>
              <a:buChar char="■"/>
            </a:pPr>
            <a:r>
              <a:rPr lang="en-US" sz="2200" dirty="0">
                <a:solidFill>
                  <a:schemeClr val="tx1"/>
                </a:solidFill>
              </a:rPr>
              <a:t>Seen as more useful than human influencers. </a:t>
            </a:r>
            <a:r>
              <a:rPr lang="en-US" sz="1700" dirty="0">
                <a:solidFill>
                  <a:schemeClr val="accent4"/>
                </a:solidFill>
              </a:rPr>
              <a:t>(Belanche et al., 2024)</a:t>
            </a:r>
            <a:endParaRPr lang="en-US" sz="2200" dirty="0"/>
          </a:p>
          <a:p>
            <a:pPr marL="355600" indent="-355600">
              <a:spcAft>
                <a:spcPts val="1200"/>
              </a:spcAft>
              <a:buSzPct val="100000"/>
              <a:buChar char="■"/>
            </a:pPr>
            <a:r>
              <a:rPr lang="en-US" sz="2200" dirty="0">
                <a:solidFill>
                  <a:schemeClr val="tx1"/>
                </a:solidFill>
              </a:rPr>
              <a:t>Their stories matter more than their looks. </a:t>
            </a:r>
            <a:r>
              <a:rPr lang="en-US" sz="1700" dirty="0">
                <a:solidFill>
                  <a:schemeClr val="accent4"/>
                </a:solidFill>
              </a:rPr>
              <a:t>(Allal-Chérif et al., 2024)</a:t>
            </a:r>
            <a:endParaRPr lang="en-US" sz="2200" dirty="0"/>
          </a:p>
        </p:txBody>
      </p:sp>
      <p:sp>
        <p:nvSpPr>
          <p:cNvPr id="8" name="Limiting evidence card"/>
          <p:cNvSpPr/>
          <p:nvPr/>
        </p:nvSpPr>
        <p:spPr>
          <a:xfrm>
            <a:off x="6227064" y="1691640"/>
            <a:ext cx="5413248" cy="3977640"/>
          </a:xfrm>
          <a:prstGeom prst="rect">
            <a:avLst/>
          </a:prstGeom>
          <a:solidFill>
            <a:schemeClr val="bg2"/>
          </a:solidFill>
          <a:ln w="12700">
            <a:solidFill>
              <a:schemeClr val="bg2"/>
            </a:solidFill>
            <a:prstDash val="solid"/>
          </a:ln>
        </p:spPr>
      </p:sp>
      <p:sp>
        <p:nvSpPr>
          <p:cNvPr id="9" name="Limiting evidence circle"/>
          <p:cNvSpPr/>
          <p:nvPr/>
        </p:nvSpPr>
        <p:spPr>
          <a:xfrm>
            <a:off x="6455664" y="1874520"/>
            <a:ext cx="685800" cy="685800"/>
          </a:xfrm>
          <a:prstGeom prst="ellipse">
            <a:avLst/>
          </a:prstGeom>
          <a:solidFill>
            <a:schemeClr val="accent5"/>
          </a:solidFill>
          <a:ln w="12700">
            <a:solidFill>
              <a:schemeClr val="accent5"/>
            </a:solidFill>
            <a:prstDash val="solid"/>
          </a:ln>
        </p:spPr>
      </p:sp>
      <p:pic>
        <p:nvPicPr>
          <p:cNvPr id="10" name="Limiting evidence icon" descr="preencoded.png">    </p:cNvPr>
          <p:cNvPicPr>
            <a:picLocks noChangeAspect="1"/>
          </p:cNvPicPr>
          <p:nvPr/>
        </p:nvPicPr>
        <p:blipFill>
          <a:blip r:embed="rId2"/>
          <a:stretch>
            <a:fillRect/>
          </a:stretch>
        </p:blipFill>
        <p:spPr>
          <a:xfrm>
            <a:off x="6627114" y="2045970"/>
            <a:ext cx="342900" cy="342900"/>
          </a:xfrm>
          <a:prstGeom prst="rect">
            <a:avLst/>
          </a:prstGeom>
        </p:spPr>
      </p:pic>
      <p:sp>
        <p:nvSpPr>
          <p:cNvPr id="11" name="Text 7"/>
          <p:cNvSpPr txBox="1"/>
          <p:nvPr/>
        </p:nvSpPr>
        <p:spPr>
          <a:xfrm>
            <a:off x="7324344" y="1874520"/>
            <a:ext cx="4114800" cy="685800"/>
          </a:xfrm>
          <a:prstGeom prst="rect">
            <a:avLst/>
          </a:prstGeom>
          <a:noFill/>
          <a:ln/>
        </p:spPr>
        <p:txBody>
          <a:bodyPr wrap="square" lIns="0" tIns="0" rIns="0" bIns="0" rtlCol="0" anchor="ctr"/>
          <a:lstStyle/>
          <a:p>
            <a:pPr indent="0" marL="0">
              <a:buNone/>
            </a:pPr>
            <a:r>
              <a:rPr lang="en-US" sz="2200" b="1" dirty="0">
                <a:solidFill>
                  <a:schemeClr val="tx1"/>
                </a:solidFill>
              </a:rPr>
              <a:t>Limiting evidence</a:t>
            </a:r>
            <a:endParaRPr lang="en-US" sz="2200" dirty="0"/>
          </a:p>
        </p:txBody>
      </p:sp>
      <p:sp>
        <p:nvSpPr>
          <p:cNvPr id="12" name="Text 8"/>
          <p:cNvSpPr txBox="1"/>
          <p:nvPr/>
        </p:nvSpPr>
        <p:spPr>
          <a:xfrm>
            <a:off x="6409944" y="2697480"/>
            <a:ext cx="5074920" cy="2926080"/>
          </a:xfrm>
          <a:prstGeom prst="rect">
            <a:avLst/>
          </a:prstGeom>
          <a:noFill/>
          <a:ln/>
        </p:spPr>
        <p:txBody>
          <a:bodyPr wrap="square" lIns="25400" tIns="50800" rIns="50800" bIns="25400" rtlCol="0" anchor="t"/>
          <a:lstStyle/>
          <a:p>
            <a:pPr marL="355600" indent="-355600">
              <a:spcAft>
                <a:spcPts val="1200"/>
              </a:spcAft>
              <a:buSzPct val="100000"/>
              <a:buChar char="■"/>
            </a:pPr>
            <a:r>
              <a:rPr lang="en-US" sz="2200" dirty="0">
                <a:solidFill>
                  <a:schemeClr val="tx1"/>
                </a:solidFill>
              </a:rPr>
              <a:t>Build brand image but do little for purchase intention. </a:t>
            </a:r>
            <a:r>
              <a:rPr lang="en-US" sz="1700" dirty="0">
                <a:solidFill>
                  <a:schemeClr val="accent4"/>
                </a:solidFill>
              </a:rPr>
              <a:t>(Lou et al., 2023)</a:t>
            </a:r>
            <a:endParaRPr lang="en-US" sz="2200" dirty="0"/>
          </a:p>
          <a:p>
            <a:pPr marL="355600" indent="-355600">
              <a:spcAft>
                <a:spcPts val="1200"/>
              </a:spcAft>
              <a:buSzPct val="100000"/>
              <a:buChar char="■"/>
            </a:pPr>
            <a:r>
              <a:rPr lang="en-US" sz="2200" dirty="0">
                <a:solidFill>
                  <a:schemeClr val="tx1"/>
                </a:solidFill>
              </a:rPr>
              <a:t>Weak when the product depends on taste or touch. </a:t>
            </a:r>
            <a:r>
              <a:rPr lang="en-US" sz="1700" dirty="0">
                <a:solidFill>
                  <a:schemeClr val="accent4"/>
                </a:solidFill>
              </a:rPr>
              <a:t>(Zhou et al., 2024)</a:t>
            </a:r>
            <a:endParaRPr lang="en-US" sz="2200" dirty="0"/>
          </a:p>
          <a:p>
            <a:pPr marL="355600" indent="-355600">
              <a:spcAft>
                <a:spcPts val="1200"/>
              </a:spcAft>
              <a:buSzPct val="100000"/>
              <a:buChar char="■"/>
            </a:pPr>
            <a:r>
              <a:rPr lang="en-US" sz="2200" dirty="0">
                <a:solidFill>
                  <a:schemeClr val="tx1"/>
                </a:solidFill>
              </a:rPr>
              <a:t>Seen as novel, or as uncanny and deceptive. </a:t>
            </a:r>
            <a:r>
              <a:rPr lang="en-US" sz="1700" dirty="0">
                <a:solidFill>
                  <a:schemeClr val="accent4"/>
                </a:solidFill>
              </a:rPr>
              <a:t>(Franke et al., 2023)</a:t>
            </a:r>
            <a:endParaRPr lang="en-US" sz="2200" dirty="0"/>
          </a:p>
        </p:txBody>
      </p:sp>
      <p:sp>
        <p:nvSpPr>
          <p:cNvPr id="13" name="Text 9"/>
          <p:cNvSpPr txBox="1"/>
          <p:nvPr/>
        </p:nvSpPr>
        <p:spPr>
          <a:xfrm>
            <a:off x="548640" y="5806440"/>
            <a:ext cx="11091672" cy="548640"/>
          </a:xfrm>
          <a:prstGeom prst="rect">
            <a:avLst/>
          </a:prstGeom>
          <a:noFill/>
          <a:ln/>
        </p:spPr>
        <p:txBody>
          <a:bodyPr wrap="square" lIns="0" tIns="0" rIns="0" bIns="0" rtlCol="0" anchor="ctr"/>
          <a:lstStyle/>
          <a:p>
            <a:pPr indent="0" marL="0">
              <a:buNone/>
            </a:pPr>
            <a:r>
              <a:rPr lang="en-US" sz="2000" b="1" dirty="0">
                <a:solidFill>
                  <a:schemeClr val="accent4"/>
                </a:solidFill>
              </a:rPr>
              <a:t>Takeaway: </a:t>
            </a:r>
            <a:r>
              <a:rPr lang="en-US" sz="2000" dirty="0">
                <a:solidFill>
                  <a:schemeClr val="tx1"/>
                </a:solidFill>
              </a:rPr>
              <a:t>the effect depends on how consumers perceive the influencer.</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THEORETICAL FOUNDATION</a:t>
            </a:r>
            <a:endParaRPr lang="en-US" sz="2800" dirty="0"/>
          </a:p>
        </p:txBody>
      </p:sp>
      <p:sp>
        <p:nvSpPr>
          <p:cNvPr id="3" name="STIMULUS box"/>
          <p:cNvSpPr/>
          <p:nvPr/>
        </p:nvSpPr>
        <p:spPr>
          <a:xfrm>
            <a:off x="548640" y="1691640"/>
            <a:ext cx="3246120" cy="1097280"/>
          </a:xfrm>
          <a:prstGeom prst="rect">
            <a:avLst/>
          </a:prstGeom>
          <a:solidFill>
            <a:schemeClr val="tx2"/>
          </a:solidFill>
          <a:ln w="12700">
            <a:solidFill>
              <a:schemeClr val="tx2"/>
            </a:solidFill>
            <a:prstDash val="solid"/>
          </a:ln>
        </p:spPr>
      </p:sp>
      <p:sp>
        <p:nvSpPr>
          <p:cNvPr id="4" name="Text 2"/>
          <p:cNvSpPr txBox="1"/>
          <p:nvPr/>
        </p:nvSpPr>
        <p:spPr>
          <a:xfrm>
            <a:off x="548640" y="1691640"/>
            <a:ext cx="3246120" cy="1097280"/>
          </a:xfrm>
          <a:prstGeom prst="rect">
            <a:avLst/>
          </a:prstGeom>
          <a:noFill/>
          <a:ln/>
        </p:spPr>
        <p:txBody>
          <a:bodyPr wrap="square" rtlCol="0" anchor="ctr"/>
          <a:lstStyle/>
          <a:p>
            <a:pPr algn="ctr" indent="0" marL="0">
              <a:buNone/>
            </a:pPr>
            <a:r>
              <a:rPr lang="en-US" sz="2200" b="1" dirty="0">
                <a:solidFill>
                  <a:schemeClr val="bg1"/>
                </a:solidFill>
              </a:rPr>
              <a:t>STIMULUS</a:t>
            </a:r>
            <a:endParaRPr lang="en-US" sz="2200" dirty="0"/>
          </a:p>
          <a:p>
            <a:pPr algn="ctr" indent="0" marL="0">
              <a:buNone/>
            </a:pPr>
            <a:r>
              <a:rPr lang="en-US" sz="1800" dirty="0">
                <a:solidFill>
                  <a:schemeClr val="bg1"/>
                </a:solidFill>
              </a:rPr>
              <a:t>Perceptions</a:t>
            </a:r>
            <a:endParaRPr lang="en-US" sz="2200" dirty="0"/>
          </a:p>
        </p:txBody>
      </p:sp>
      <p:sp>
        <p:nvSpPr>
          <p:cNvPr id="5" name="SOR arrow 0"/>
          <p:cNvSpPr/>
          <p:nvPr/>
        </p:nvSpPr>
        <p:spPr>
          <a:xfrm>
            <a:off x="3840480" y="2240280"/>
            <a:ext cx="594360" cy="0"/>
          </a:xfrm>
          <a:prstGeom prst="line">
            <a:avLst/>
          </a:prstGeom>
          <a:noFill/>
          <a:ln w="38100">
            <a:solidFill>
              <a:schemeClr val="accent3"/>
            </a:solidFill>
            <a:prstDash val="solid"/>
            <a:tailEnd type="triangle"/>
          </a:ln>
        </p:spPr>
      </p:sp>
      <p:sp>
        <p:nvSpPr>
          <p:cNvPr id="6" name="ORGANISM box"/>
          <p:cNvSpPr/>
          <p:nvPr/>
        </p:nvSpPr>
        <p:spPr>
          <a:xfrm>
            <a:off x="4480560" y="1691640"/>
            <a:ext cx="3246120" cy="1097280"/>
          </a:xfrm>
          <a:prstGeom prst="rect">
            <a:avLst/>
          </a:prstGeom>
          <a:solidFill>
            <a:schemeClr val="accent1"/>
          </a:solidFill>
          <a:ln w="12700">
            <a:solidFill>
              <a:schemeClr val="accent1"/>
            </a:solidFill>
            <a:prstDash val="solid"/>
          </a:ln>
        </p:spPr>
      </p:sp>
      <p:sp>
        <p:nvSpPr>
          <p:cNvPr id="7" name="Text 5"/>
          <p:cNvSpPr txBox="1"/>
          <p:nvPr/>
        </p:nvSpPr>
        <p:spPr>
          <a:xfrm>
            <a:off x="4480560" y="1691640"/>
            <a:ext cx="3246120" cy="1097280"/>
          </a:xfrm>
          <a:prstGeom prst="rect">
            <a:avLst/>
          </a:prstGeom>
          <a:noFill/>
          <a:ln/>
        </p:spPr>
        <p:txBody>
          <a:bodyPr wrap="square" rtlCol="0" anchor="ctr"/>
          <a:lstStyle/>
          <a:p>
            <a:pPr algn="ctr" indent="0" marL="0">
              <a:buNone/>
            </a:pPr>
            <a:r>
              <a:rPr lang="en-US" sz="2200" b="1" dirty="0">
                <a:solidFill>
                  <a:schemeClr val="bg1"/>
                </a:solidFill>
              </a:rPr>
              <a:t>ORGANISM</a:t>
            </a:r>
            <a:endParaRPr lang="en-US" sz="2200" dirty="0"/>
          </a:p>
          <a:p>
            <a:pPr algn="ctr" indent="0" marL="0">
              <a:buNone/>
            </a:pPr>
            <a:r>
              <a:rPr lang="en-US" sz="1800" dirty="0">
                <a:solidFill>
                  <a:schemeClr val="bg1"/>
                </a:solidFill>
              </a:rPr>
              <a:t>Trust</a:t>
            </a:r>
            <a:endParaRPr lang="en-US" sz="2200" dirty="0"/>
          </a:p>
        </p:txBody>
      </p:sp>
      <p:sp>
        <p:nvSpPr>
          <p:cNvPr id="8" name="SOR arrow 1"/>
          <p:cNvSpPr/>
          <p:nvPr/>
        </p:nvSpPr>
        <p:spPr>
          <a:xfrm>
            <a:off x="7772400" y="2240280"/>
            <a:ext cx="594360" cy="0"/>
          </a:xfrm>
          <a:prstGeom prst="line">
            <a:avLst/>
          </a:prstGeom>
          <a:noFill/>
          <a:ln w="38100">
            <a:solidFill>
              <a:schemeClr val="accent3"/>
            </a:solidFill>
            <a:prstDash val="solid"/>
            <a:tailEnd type="triangle"/>
          </a:ln>
        </p:spPr>
      </p:sp>
      <p:sp>
        <p:nvSpPr>
          <p:cNvPr id="9" name="RESPONSE box"/>
          <p:cNvSpPr/>
          <p:nvPr/>
        </p:nvSpPr>
        <p:spPr>
          <a:xfrm>
            <a:off x="8412480" y="1691640"/>
            <a:ext cx="3246120" cy="1097280"/>
          </a:xfrm>
          <a:prstGeom prst="rect">
            <a:avLst/>
          </a:prstGeom>
          <a:solidFill>
            <a:schemeClr val="accent4"/>
          </a:solidFill>
          <a:ln w="12700">
            <a:solidFill>
              <a:schemeClr val="accent4"/>
            </a:solidFill>
            <a:prstDash val="solid"/>
          </a:ln>
        </p:spPr>
      </p:sp>
      <p:sp>
        <p:nvSpPr>
          <p:cNvPr id="10" name="Text 8"/>
          <p:cNvSpPr txBox="1"/>
          <p:nvPr/>
        </p:nvSpPr>
        <p:spPr>
          <a:xfrm>
            <a:off x="8412480" y="1691640"/>
            <a:ext cx="3246120" cy="1097280"/>
          </a:xfrm>
          <a:prstGeom prst="rect">
            <a:avLst/>
          </a:prstGeom>
          <a:noFill/>
          <a:ln/>
        </p:spPr>
        <p:txBody>
          <a:bodyPr wrap="square" rtlCol="0" anchor="ctr"/>
          <a:lstStyle/>
          <a:p>
            <a:pPr algn="ctr" indent="0" marL="0">
              <a:buNone/>
            </a:pPr>
            <a:r>
              <a:rPr lang="en-US" sz="2200" b="1" dirty="0">
                <a:solidFill>
                  <a:schemeClr val="bg1"/>
                </a:solidFill>
              </a:rPr>
              <a:t>RESPONSE</a:t>
            </a:r>
            <a:endParaRPr lang="en-US" sz="2200" dirty="0"/>
          </a:p>
          <a:p>
            <a:pPr algn="ctr" indent="0" marL="0">
              <a:buNone/>
            </a:pPr>
            <a:r>
              <a:rPr lang="en-US" sz="1800" dirty="0">
                <a:solidFill>
                  <a:schemeClr val="bg1"/>
                </a:solidFill>
              </a:rPr>
              <a:t>Purchase intention</a:t>
            </a:r>
            <a:endParaRPr lang="en-US" sz="2200" dirty="0"/>
          </a:p>
        </p:txBody>
      </p:sp>
      <p:sp>
        <p:nvSpPr>
          <p:cNvPr id="11" name="Text 9"/>
          <p:cNvSpPr txBox="1"/>
          <p:nvPr/>
        </p:nvSpPr>
        <p:spPr>
          <a:xfrm>
            <a:off x="548640" y="2880360"/>
            <a:ext cx="11091672" cy="411480"/>
          </a:xfrm>
          <a:prstGeom prst="rect">
            <a:avLst/>
          </a:prstGeom>
          <a:noFill/>
          <a:ln/>
        </p:spPr>
        <p:txBody>
          <a:bodyPr wrap="square" rtlCol="0" anchor="ctr"/>
          <a:lstStyle/>
          <a:p>
            <a:pPr algn="ctr" indent="0" marL="0">
              <a:buNone/>
            </a:pPr>
            <a:r>
              <a:rPr lang="en-US" sz="1600" i="1" dirty="0">
                <a:solidFill>
                  <a:schemeClr val="tx2"/>
                </a:solidFill>
              </a:rPr>
              <a:t>S-O-R framework (Mehrabian &amp; Russell, 1974)</a:t>
            </a:r>
            <a:endParaRPr lang="en-US" sz="1600" dirty="0"/>
          </a:p>
        </p:txBody>
      </p:sp>
      <p:sp>
        <p:nvSpPr>
          <p:cNvPr id="12" name="Source credibility card"/>
          <p:cNvSpPr/>
          <p:nvPr/>
        </p:nvSpPr>
        <p:spPr>
          <a:xfrm>
            <a:off x="548640" y="3474720"/>
            <a:ext cx="2057400" cy="2834640"/>
          </a:xfrm>
          <a:prstGeom prst="rect">
            <a:avLst/>
          </a:prstGeom>
          <a:solidFill>
            <a:schemeClr val="bg2"/>
          </a:solidFill>
          <a:ln w="12700">
            <a:solidFill>
              <a:schemeClr val="bg2"/>
            </a:solidFill>
            <a:prstDash val="solid"/>
          </a:ln>
        </p:spPr>
      </p:sp>
      <p:sp>
        <p:nvSpPr>
          <p:cNvPr id="13" name="Text 11"/>
          <p:cNvSpPr txBox="1"/>
          <p:nvPr/>
        </p:nvSpPr>
        <p:spPr>
          <a:xfrm>
            <a:off x="621792" y="3611880"/>
            <a:ext cx="1938528" cy="2606040"/>
          </a:xfrm>
          <a:prstGeom prst="rect">
            <a:avLst/>
          </a:prstGeom>
          <a:noFill/>
          <a:ln/>
        </p:spPr>
        <p:txBody>
          <a:bodyPr wrap="square" lIns="0" tIns="0" rIns="0" bIns="0" rtlCol="0" anchor="t"/>
          <a:lstStyle/>
          <a:p>
            <a:pPr indent="0" marL="0">
              <a:buNone/>
            </a:pPr>
            <a:r>
              <a:rPr lang="en-US" sz="1500" b="1" dirty="0">
                <a:solidFill>
                  <a:schemeClr val="tx1"/>
                </a:solidFill>
              </a:rPr>
              <a:t>Source credibility</a:t>
            </a:r>
            <a:endParaRPr lang="en-US" sz="1500" dirty="0"/>
          </a:p>
          <a:p>
            <a:pPr indent="0" marL="0">
              <a:spcAft>
                <a:spcPts val="1000"/>
              </a:spcAft>
              <a:buNone/>
            </a:pPr>
            <a:r>
              <a:rPr lang="en-US" sz="1400" dirty="0">
                <a:solidFill>
                  <a:schemeClr val="accent4"/>
                </a:solidFill>
              </a:rPr>
              <a:t>Ohanian, 1990</a:t>
            </a:r>
            <a:endParaRPr lang="en-US" sz="1500" dirty="0"/>
          </a:p>
          <a:p>
            <a:pPr indent="0" marL="0">
              <a:buNone/>
            </a:pPr>
            <a:r>
              <a:rPr lang="en-US" sz="1700" dirty="0">
                <a:solidFill>
                  <a:schemeClr val="tx2"/>
                </a:solidFill>
              </a:rPr>
              <a:t>Trustworthiness, expertise, attractiveness</a:t>
            </a:r>
            <a:endParaRPr lang="en-US" sz="1500" dirty="0"/>
          </a:p>
        </p:txBody>
      </p:sp>
      <p:sp>
        <p:nvSpPr>
          <p:cNvPr id="14" name="Anthropomorphism card"/>
          <p:cNvSpPr/>
          <p:nvPr/>
        </p:nvSpPr>
        <p:spPr>
          <a:xfrm>
            <a:off x="2807208" y="3474720"/>
            <a:ext cx="2057400" cy="2834640"/>
          </a:xfrm>
          <a:prstGeom prst="rect">
            <a:avLst/>
          </a:prstGeom>
          <a:solidFill>
            <a:schemeClr val="bg2"/>
          </a:solidFill>
          <a:ln w="12700">
            <a:solidFill>
              <a:schemeClr val="bg2"/>
            </a:solidFill>
            <a:prstDash val="solid"/>
          </a:ln>
        </p:spPr>
      </p:sp>
      <p:sp>
        <p:nvSpPr>
          <p:cNvPr id="15" name="Text 13"/>
          <p:cNvSpPr txBox="1"/>
          <p:nvPr/>
        </p:nvSpPr>
        <p:spPr>
          <a:xfrm>
            <a:off x="2880360" y="3611880"/>
            <a:ext cx="1938528" cy="2606040"/>
          </a:xfrm>
          <a:prstGeom prst="rect">
            <a:avLst/>
          </a:prstGeom>
          <a:noFill/>
          <a:ln/>
        </p:spPr>
        <p:txBody>
          <a:bodyPr wrap="square" lIns="0" tIns="0" rIns="0" bIns="0" rtlCol="0" anchor="t"/>
          <a:lstStyle/>
          <a:p>
            <a:pPr indent="0" marL="0">
              <a:buNone/>
            </a:pPr>
            <a:r>
              <a:rPr lang="en-US" sz="1500" b="1" dirty="0">
                <a:solidFill>
                  <a:schemeClr val="tx1"/>
                </a:solidFill>
              </a:rPr>
              <a:t>Anthropomorphism</a:t>
            </a:r>
            <a:endParaRPr lang="en-US" sz="1500" dirty="0"/>
          </a:p>
          <a:p>
            <a:pPr indent="0" marL="0">
              <a:spcAft>
                <a:spcPts val="1000"/>
              </a:spcAft>
              <a:buNone/>
            </a:pPr>
            <a:r>
              <a:rPr lang="en-US" sz="1400" dirty="0">
                <a:solidFill>
                  <a:schemeClr val="accent4"/>
                </a:solidFill>
              </a:rPr>
              <a:t>Epley et al., 2007</a:t>
            </a:r>
            <a:endParaRPr lang="en-US" sz="1500" dirty="0"/>
          </a:p>
          <a:p>
            <a:pPr indent="0" marL="0">
              <a:buNone/>
            </a:pPr>
            <a:r>
              <a:rPr lang="en-US" sz="1700" dirty="0">
                <a:solidFill>
                  <a:schemeClr val="tx2"/>
                </a:solidFill>
              </a:rPr>
              <a:t>Seeing a human mind in non-humans</a:t>
            </a:r>
            <a:endParaRPr lang="en-US" sz="1500" dirty="0"/>
          </a:p>
        </p:txBody>
      </p:sp>
      <p:sp>
        <p:nvSpPr>
          <p:cNvPr id="16" name="Media equation card"/>
          <p:cNvSpPr/>
          <p:nvPr/>
        </p:nvSpPr>
        <p:spPr>
          <a:xfrm>
            <a:off x="5065776" y="3474720"/>
            <a:ext cx="2057400" cy="2834640"/>
          </a:xfrm>
          <a:prstGeom prst="rect">
            <a:avLst/>
          </a:prstGeom>
          <a:solidFill>
            <a:schemeClr val="bg2"/>
          </a:solidFill>
          <a:ln w="12700">
            <a:solidFill>
              <a:schemeClr val="bg2"/>
            </a:solidFill>
            <a:prstDash val="solid"/>
          </a:ln>
        </p:spPr>
      </p:sp>
      <p:sp>
        <p:nvSpPr>
          <p:cNvPr id="17" name="Text 15"/>
          <p:cNvSpPr txBox="1"/>
          <p:nvPr/>
        </p:nvSpPr>
        <p:spPr>
          <a:xfrm>
            <a:off x="5138928" y="3611880"/>
            <a:ext cx="1938528" cy="2606040"/>
          </a:xfrm>
          <a:prstGeom prst="rect">
            <a:avLst/>
          </a:prstGeom>
          <a:noFill/>
          <a:ln/>
        </p:spPr>
        <p:txBody>
          <a:bodyPr wrap="square" lIns="0" tIns="0" rIns="0" bIns="0" rtlCol="0" anchor="t"/>
          <a:lstStyle/>
          <a:p>
            <a:pPr indent="0" marL="0">
              <a:buNone/>
            </a:pPr>
            <a:r>
              <a:rPr lang="en-US" sz="1500" b="1" dirty="0">
                <a:solidFill>
                  <a:schemeClr val="tx1"/>
                </a:solidFill>
              </a:rPr>
              <a:t>Media equation</a:t>
            </a:r>
            <a:endParaRPr lang="en-US" sz="1500" dirty="0"/>
          </a:p>
          <a:p>
            <a:pPr indent="0" marL="0">
              <a:spcAft>
                <a:spcPts val="1000"/>
              </a:spcAft>
              <a:buNone/>
            </a:pPr>
            <a:r>
              <a:rPr lang="en-US" sz="1400" dirty="0">
                <a:solidFill>
                  <a:schemeClr val="accent4"/>
                </a:solidFill>
              </a:rPr>
              <a:t>Reeves &amp; Nass, 1996</a:t>
            </a:r>
            <a:endParaRPr lang="en-US" sz="1500" dirty="0"/>
          </a:p>
          <a:p>
            <a:pPr indent="0" marL="0">
              <a:buNone/>
            </a:pPr>
            <a:r>
              <a:rPr lang="en-US" sz="1700" dirty="0">
                <a:solidFill>
                  <a:schemeClr val="tx2"/>
                </a:solidFill>
              </a:rPr>
              <a:t>People treat machines socially</a:t>
            </a:r>
            <a:endParaRPr lang="en-US" sz="1500" dirty="0"/>
          </a:p>
        </p:txBody>
      </p:sp>
      <p:sp>
        <p:nvSpPr>
          <p:cNvPr id="18" name="Uncanny valley card"/>
          <p:cNvSpPr/>
          <p:nvPr/>
        </p:nvSpPr>
        <p:spPr>
          <a:xfrm>
            <a:off x="7324344" y="3474720"/>
            <a:ext cx="2057400" cy="2834640"/>
          </a:xfrm>
          <a:prstGeom prst="rect">
            <a:avLst/>
          </a:prstGeom>
          <a:solidFill>
            <a:schemeClr val="bg2"/>
          </a:solidFill>
          <a:ln w="12700">
            <a:solidFill>
              <a:schemeClr val="bg2"/>
            </a:solidFill>
            <a:prstDash val="solid"/>
          </a:ln>
        </p:spPr>
      </p:sp>
      <p:sp>
        <p:nvSpPr>
          <p:cNvPr id="19" name="Text 17"/>
          <p:cNvSpPr txBox="1"/>
          <p:nvPr/>
        </p:nvSpPr>
        <p:spPr>
          <a:xfrm>
            <a:off x="7397496" y="3611880"/>
            <a:ext cx="1938528" cy="2606040"/>
          </a:xfrm>
          <a:prstGeom prst="rect">
            <a:avLst/>
          </a:prstGeom>
          <a:noFill/>
          <a:ln/>
        </p:spPr>
        <p:txBody>
          <a:bodyPr wrap="square" lIns="0" tIns="0" rIns="0" bIns="0" rtlCol="0" anchor="t"/>
          <a:lstStyle/>
          <a:p>
            <a:pPr indent="0" marL="0">
              <a:buNone/>
            </a:pPr>
            <a:r>
              <a:rPr lang="en-US" sz="1500" b="1" dirty="0">
                <a:solidFill>
                  <a:schemeClr val="tx1"/>
                </a:solidFill>
              </a:rPr>
              <a:t>Uncanny valley</a:t>
            </a:r>
            <a:endParaRPr lang="en-US" sz="1500" dirty="0"/>
          </a:p>
          <a:p>
            <a:pPr indent="0" marL="0">
              <a:spcAft>
                <a:spcPts val="1000"/>
              </a:spcAft>
              <a:buNone/>
            </a:pPr>
            <a:r>
              <a:rPr lang="en-US" sz="1400" dirty="0">
                <a:solidFill>
                  <a:schemeClr val="accent4"/>
                </a:solidFill>
              </a:rPr>
              <a:t>Mori et al., 2012</a:t>
            </a:r>
            <a:endParaRPr lang="en-US" sz="1500" dirty="0"/>
          </a:p>
          <a:p>
            <a:pPr indent="0" marL="0">
              <a:buNone/>
            </a:pPr>
            <a:r>
              <a:rPr lang="en-US" sz="1700" dirty="0">
                <a:solidFill>
                  <a:schemeClr val="tx2"/>
                </a:solidFill>
              </a:rPr>
              <a:t>Near-human can cause unease</a:t>
            </a:r>
            <a:endParaRPr lang="en-US" sz="1500" dirty="0"/>
          </a:p>
        </p:txBody>
      </p:sp>
      <p:sp>
        <p:nvSpPr>
          <p:cNvPr id="20" name="Homophily card"/>
          <p:cNvSpPr/>
          <p:nvPr/>
        </p:nvSpPr>
        <p:spPr>
          <a:xfrm>
            <a:off x="9582912" y="3474720"/>
            <a:ext cx="2057400" cy="2834640"/>
          </a:xfrm>
          <a:prstGeom prst="rect">
            <a:avLst/>
          </a:prstGeom>
          <a:solidFill>
            <a:schemeClr val="bg2"/>
          </a:solidFill>
          <a:ln w="12700">
            <a:solidFill>
              <a:schemeClr val="bg2"/>
            </a:solidFill>
            <a:prstDash val="solid"/>
          </a:ln>
        </p:spPr>
      </p:sp>
      <p:sp>
        <p:nvSpPr>
          <p:cNvPr id="21" name="Text 19"/>
          <p:cNvSpPr txBox="1"/>
          <p:nvPr/>
        </p:nvSpPr>
        <p:spPr>
          <a:xfrm>
            <a:off x="9656064" y="3611880"/>
            <a:ext cx="1938528" cy="2606040"/>
          </a:xfrm>
          <a:prstGeom prst="rect">
            <a:avLst/>
          </a:prstGeom>
          <a:noFill/>
          <a:ln/>
        </p:spPr>
        <p:txBody>
          <a:bodyPr wrap="square" lIns="0" tIns="0" rIns="0" bIns="0" rtlCol="0" anchor="t"/>
          <a:lstStyle/>
          <a:p>
            <a:pPr indent="0" marL="0">
              <a:buNone/>
            </a:pPr>
            <a:r>
              <a:rPr lang="en-US" sz="1500" b="1" dirty="0">
                <a:solidFill>
                  <a:schemeClr val="tx1"/>
                </a:solidFill>
              </a:rPr>
              <a:t>Homophily</a:t>
            </a:r>
            <a:endParaRPr lang="en-US" sz="1500" dirty="0"/>
          </a:p>
          <a:p>
            <a:pPr indent="0" marL="0">
              <a:spcAft>
                <a:spcPts val="1000"/>
              </a:spcAft>
              <a:buNone/>
            </a:pPr>
            <a:r>
              <a:rPr lang="en-US" sz="1400" dirty="0">
                <a:solidFill>
                  <a:schemeClr val="accent4"/>
                </a:solidFill>
              </a:rPr>
              <a:t>McPherson et al., 2001</a:t>
            </a:r>
            <a:endParaRPr lang="en-US" sz="1500" dirty="0"/>
          </a:p>
          <a:p>
            <a:pPr indent="0" marL="0">
              <a:buNone/>
            </a:pPr>
            <a:r>
              <a:rPr lang="en-US" sz="1700" dirty="0">
                <a:solidFill>
                  <a:schemeClr val="tx2"/>
                </a:solidFill>
              </a:rPr>
              <a:t>Similarity draws people together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ANTHROPOMORPHISM</a:t>
            </a:r>
            <a:endParaRPr lang="en-US" sz="2800" dirty="0"/>
          </a:p>
        </p:txBody>
      </p:sp>
      <p:sp>
        <p:nvSpPr>
          <p:cNvPr id="3" name="Perceived Anthropomorphism panel"/>
          <p:cNvSpPr/>
          <p:nvPr/>
        </p:nvSpPr>
        <p:spPr>
          <a:xfrm>
            <a:off x="548640" y="1691640"/>
            <a:ext cx="3200400" cy="4572000"/>
          </a:xfrm>
          <a:prstGeom prst="rect">
            <a:avLst/>
          </a:prstGeom>
          <a:solidFill>
            <a:schemeClr val="bg2"/>
          </a:solidFill>
          <a:ln w="12700">
            <a:solidFill>
              <a:schemeClr val="bg2"/>
            </a:solidFill>
            <a:prstDash val="solid"/>
          </a:ln>
        </p:spPr>
      </p:sp>
      <p:sp>
        <p:nvSpPr>
          <p:cNvPr id="4" name="Perceived Anthropomorphism circle"/>
          <p:cNvSpPr/>
          <p:nvPr/>
        </p:nvSpPr>
        <p:spPr>
          <a:xfrm>
            <a:off x="1371600" y="2103120"/>
            <a:ext cx="1554480" cy="1554480"/>
          </a:xfrm>
          <a:prstGeom prst="ellipse">
            <a:avLst/>
          </a:prstGeom>
          <a:solidFill>
            <a:schemeClr val="accent1"/>
          </a:solidFill>
          <a:ln w="12700">
            <a:solidFill>
              <a:schemeClr val="accent1"/>
            </a:solidFill>
            <a:prstDash val="solid"/>
          </a:ln>
        </p:spPr>
      </p:sp>
      <p:pic>
        <p:nvPicPr>
          <p:cNvPr id="5" name="Perceived Anthropomorphism icon" descr="preencoded.png">    </p:cNvPr>
          <p:cNvPicPr>
            <a:picLocks noChangeAspect="1"/>
          </p:cNvPicPr>
          <p:nvPr/>
        </p:nvPicPr>
        <p:blipFill>
          <a:blip r:embed="rId1"/>
          <a:stretch>
            <a:fillRect/>
          </a:stretch>
        </p:blipFill>
        <p:spPr>
          <a:xfrm>
            <a:off x="1760220" y="2491740"/>
            <a:ext cx="777240" cy="777240"/>
          </a:xfrm>
          <a:prstGeom prst="rect">
            <a:avLst/>
          </a:prstGeom>
        </p:spPr>
      </p:pic>
      <p:sp>
        <p:nvSpPr>
          <p:cNvPr id="6" name="Text 3"/>
          <p:cNvSpPr txBox="1"/>
          <p:nvPr/>
        </p:nvSpPr>
        <p:spPr>
          <a:xfrm>
            <a:off x="685800" y="3931920"/>
            <a:ext cx="2926080" cy="1737360"/>
          </a:xfrm>
          <a:prstGeom prst="rect">
            <a:avLst/>
          </a:prstGeom>
          <a:noFill/>
          <a:ln/>
        </p:spPr>
        <p:txBody>
          <a:bodyPr wrap="square" rtlCol="0" anchor="t"/>
          <a:lstStyle/>
          <a:p>
            <a:pPr algn="ctr" indent="0" marL="0">
              <a:buNone/>
            </a:pPr>
            <a:r>
              <a:rPr lang="en-US" sz="2200" b="1" dirty="0">
                <a:solidFill>
                  <a:schemeClr val="tx1"/>
                </a:solidFill>
              </a:rPr>
              <a:t>Perceived Anthropomorphism</a:t>
            </a:r>
            <a:endParaRPr lang="en-US" sz="2200" dirty="0"/>
          </a:p>
          <a:p>
            <a:pPr algn="ctr" indent="0" marL="0">
              <a:buNone/>
            </a:pPr>
            <a:r>
              <a:rPr lang="en-US" sz="1600" dirty="0">
                <a:solidFill>
                  <a:schemeClr val="accent4"/>
                </a:solidFill>
              </a:rPr>
              <a:t>Independent variable</a:t>
            </a:r>
            <a:endParaRPr lang="en-US" sz="2200" dirty="0"/>
          </a:p>
        </p:txBody>
      </p:sp>
      <p:sp>
        <p:nvSpPr>
          <p:cNvPr id="7" name="Text 4"/>
          <p:cNvSpPr txBox="1"/>
          <p:nvPr/>
        </p:nvSpPr>
        <p:spPr>
          <a:xfrm>
            <a:off x="4069080" y="1691640"/>
            <a:ext cx="7589520" cy="4663440"/>
          </a:xfrm>
          <a:prstGeom prst="rect">
            <a:avLst/>
          </a:prstGeom>
          <a:noFill/>
          <a:ln/>
        </p:spPr>
        <p:txBody>
          <a:bodyPr wrap="square" lIns="25400" tIns="50800" rIns="50800" bIns="25400" rtlCol="0" anchor="t"/>
          <a:lstStyle/>
          <a:p>
            <a:pPr marL="355600" indent="-355600">
              <a:spcAft>
                <a:spcPts val="1600"/>
              </a:spcAft>
              <a:buSzPct val="100000"/>
              <a:buChar char="■"/>
            </a:pPr>
            <a:r>
              <a:rPr lang="en-US" sz="2400" dirty="0">
                <a:solidFill>
                  <a:schemeClr val="tx1"/>
                </a:solidFill>
              </a:rPr>
              <a:t>How far a virtual influencer seems humanlike, with a mind and lifelikeness. </a:t>
            </a:r>
            <a:r>
              <a:rPr lang="en-US" sz="1900" dirty="0">
                <a:solidFill>
                  <a:schemeClr val="accent4"/>
                </a:solidFill>
              </a:rPr>
              <a:t>(Epley et al., 2007)</a:t>
            </a:r>
            <a:endParaRPr lang="en-US" sz="2400" dirty="0"/>
          </a:p>
          <a:p>
            <a:pPr marL="355600" indent="-355600">
              <a:spcAft>
                <a:spcPts val="1600"/>
              </a:spcAft>
              <a:buSzPct val="100000"/>
              <a:buChar char="■"/>
            </a:pPr>
            <a:r>
              <a:rPr lang="en-US" sz="2400" dirty="0">
                <a:solidFill>
                  <a:schemeClr val="tx1"/>
                </a:solidFill>
              </a:rPr>
              <a:t>Humanlike cues raise trust, engagement and choice. </a:t>
            </a:r>
            <a:r>
              <a:rPr lang="en-US" sz="1900" dirty="0">
                <a:solidFill>
                  <a:schemeClr val="accent4"/>
                </a:solidFill>
              </a:rPr>
              <a:t>(Waytz et al., 2014; Cascio Rizzo et al., 2026)</a:t>
            </a:r>
            <a:endParaRPr lang="en-US" sz="2400" dirty="0"/>
          </a:p>
          <a:p>
            <a:pPr marL="355600" indent="-355600">
              <a:spcAft>
                <a:spcPts val="1600"/>
              </a:spcAft>
              <a:buSzPct val="100000"/>
              <a:buChar char="■"/>
            </a:pPr>
            <a:r>
              <a:rPr lang="en-US" sz="2400" dirty="0">
                <a:solidFill>
                  <a:schemeClr val="tx1"/>
                </a:solidFill>
              </a:rPr>
              <a:t>Raised purchase intention and did not reduce Gen Z trust. </a:t>
            </a:r>
            <a:r>
              <a:rPr lang="en-US" sz="1900" dirty="0">
                <a:solidFill>
                  <a:schemeClr val="accent4"/>
                </a:solidFill>
              </a:rPr>
              <a:t>(Lin et al., 2025; Lonsdale et al., 2025)</a:t>
            </a:r>
            <a:endParaRPr lang="en-US" sz="2400" dirty="0"/>
          </a:p>
          <a:p>
            <a:pPr marL="355600" indent="-355600">
              <a:spcAft>
                <a:spcPts val="1600"/>
              </a:spcAft>
              <a:buSzPct val="100000"/>
              <a:buChar char="■"/>
            </a:pPr>
            <a:r>
              <a:rPr lang="en-US" sz="2400" dirty="0">
                <a:solidFill>
                  <a:schemeClr val="tx1"/>
                </a:solidFill>
              </a:rPr>
              <a:t>Too humanlike can feel uncanny: a powerful but non-linear driver. </a:t>
            </a:r>
            <a:r>
              <a:rPr lang="en-US" sz="1900" dirty="0">
                <a:solidFill>
                  <a:schemeClr val="accent4"/>
                </a:solidFill>
              </a:rPr>
              <a:t>(Gutuleac et al., 2024)</a:t>
            </a:r>
            <a:endParaRPr lang="en-US" sz="2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AUTHENTICITY</a:t>
            </a:r>
            <a:endParaRPr lang="en-US" sz="2800" dirty="0"/>
          </a:p>
        </p:txBody>
      </p:sp>
      <p:sp>
        <p:nvSpPr>
          <p:cNvPr id="3" name="Perceived Authenticity panel"/>
          <p:cNvSpPr/>
          <p:nvPr/>
        </p:nvSpPr>
        <p:spPr>
          <a:xfrm>
            <a:off x="548640" y="1691640"/>
            <a:ext cx="3200400" cy="4572000"/>
          </a:xfrm>
          <a:prstGeom prst="rect">
            <a:avLst/>
          </a:prstGeom>
          <a:solidFill>
            <a:schemeClr val="bg2"/>
          </a:solidFill>
          <a:ln w="12700">
            <a:solidFill>
              <a:schemeClr val="bg2"/>
            </a:solidFill>
            <a:prstDash val="solid"/>
          </a:ln>
        </p:spPr>
      </p:sp>
      <p:sp>
        <p:nvSpPr>
          <p:cNvPr id="4" name="Perceived Authenticity circle"/>
          <p:cNvSpPr/>
          <p:nvPr/>
        </p:nvSpPr>
        <p:spPr>
          <a:xfrm>
            <a:off x="1371600" y="2103120"/>
            <a:ext cx="1554480" cy="1554480"/>
          </a:xfrm>
          <a:prstGeom prst="ellipse">
            <a:avLst/>
          </a:prstGeom>
          <a:solidFill>
            <a:schemeClr val="accent4"/>
          </a:solidFill>
          <a:ln w="12700">
            <a:solidFill>
              <a:schemeClr val="accent4"/>
            </a:solidFill>
            <a:prstDash val="solid"/>
          </a:ln>
        </p:spPr>
      </p:sp>
      <p:pic>
        <p:nvPicPr>
          <p:cNvPr id="5" name="Perceived Authenticity icon" descr="preencoded.png">    </p:cNvPr>
          <p:cNvPicPr>
            <a:picLocks noChangeAspect="1"/>
          </p:cNvPicPr>
          <p:nvPr/>
        </p:nvPicPr>
        <p:blipFill>
          <a:blip r:embed="rId1"/>
          <a:stretch>
            <a:fillRect/>
          </a:stretch>
        </p:blipFill>
        <p:spPr>
          <a:xfrm>
            <a:off x="1760220" y="2491740"/>
            <a:ext cx="777240" cy="777240"/>
          </a:xfrm>
          <a:prstGeom prst="rect">
            <a:avLst/>
          </a:prstGeom>
        </p:spPr>
      </p:pic>
      <p:sp>
        <p:nvSpPr>
          <p:cNvPr id="6" name="Text 3"/>
          <p:cNvSpPr txBox="1"/>
          <p:nvPr/>
        </p:nvSpPr>
        <p:spPr>
          <a:xfrm>
            <a:off x="685800" y="3931920"/>
            <a:ext cx="2926080" cy="1737360"/>
          </a:xfrm>
          <a:prstGeom prst="rect">
            <a:avLst/>
          </a:prstGeom>
          <a:noFill/>
          <a:ln/>
        </p:spPr>
        <p:txBody>
          <a:bodyPr wrap="square" rtlCol="0" anchor="t"/>
          <a:lstStyle/>
          <a:p>
            <a:pPr algn="ctr" indent="0" marL="0">
              <a:buNone/>
            </a:pPr>
            <a:r>
              <a:rPr lang="en-US" sz="2200" b="1" dirty="0">
                <a:solidFill>
                  <a:schemeClr val="tx1"/>
                </a:solidFill>
              </a:rPr>
              <a:t>Perceived Authenticity</a:t>
            </a:r>
            <a:endParaRPr lang="en-US" sz="2200" dirty="0"/>
          </a:p>
          <a:p>
            <a:pPr algn="ctr" indent="0" marL="0">
              <a:buNone/>
            </a:pPr>
            <a:r>
              <a:rPr lang="en-US" sz="1600" dirty="0">
                <a:solidFill>
                  <a:schemeClr val="accent4"/>
                </a:solidFill>
              </a:rPr>
              <a:t>Independent variable</a:t>
            </a:r>
            <a:endParaRPr lang="en-US" sz="2200" dirty="0"/>
          </a:p>
        </p:txBody>
      </p:sp>
      <p:sp>
        <p:nvSpPr>
          <p:cNvPr id="7" name="Text 4"/>
          <p:cNvSpPr txBox="1"/>
          <p:nvPr/>
        </p:nvSpPr>
        <p:spPr>
          <a:xfrm>
            <a:off x="4069080" y="1691640"/>
            <a:ext cx="7589520" cy="4663440"/>
          </a:xfrm>
          <a:prstGeom prst="rect">
            <a:avLst/>
          </a:prstGeom>
          <a:noFill/>
          <a:ln/>
        </p:spPr>
        <p:txBody>
          <a:bodyPr wrap="square" lIns="25400" tIns="50800" rIns="50800" bIns="25400" rtlCol="0" anchor="t"/>
          <a:lstStyle/>
          <a:p>
            <a:pPr marL="355600" indent="-355600">
              <a:spcAft>
                <a:spcPts val="1600"/>
              </a:spcAft>
              <a:buSzPct val="100000"/>
              <a:buChar char="■"/>
            </a:pPr>
            <a:r>
              <a:rPr lang="en-US" sz="2400" dirty="0">
                <a:solidFill>
                  <a:schemeClr val="tx1"/>
                </a:solidFill>
              </a:rPr>
              <a:t>Belief that the influencer is sincere and endorsements reflect real opinions. </a:t>
            </a:r>
            <a:r>
              <a:rPr lang="en-US" sz="1900" dirty="0">
                <a:solidFill>
                  <a:schemeClr val="accent4"/>
                </a:solidFill>
              </a:rPr>
              <a:t>(Lee &amp; Eastin, 2021)</a:t>
            </a:r>
            <a:endParaRPr lang="en-US" sz="2400" dirty="0"/>
          </a:p>
          <a:p>
            <a:pPr marL="355600" indent="-355600">
              <a:spcAft>
                <a:spcPts val="1600"/>
              </a:spcAft>
              <a:buSzPct val="100000"/>
              <a:buChar char="■"/>
            </a:pPr>
            <a:r>
              <a:rPr lang="en-US" sz="2400" dirty="0">
                <a:solidFill>
                  <a:schemeClr val="tx1"/>
                </a:solidFill>
              </a:rPr>
              <a:t>Built through consistency, passion and transparency. </a:t>
            </a:r>
            <a:r>
              <a:rPr lang="en-US" sz="1900" dirty="0">
                <a:solidFill>
                  <a:schemeClr val="accent4"/>
                </a:solidFill>
              </a:rPr>
              <a:t>(Moulard et al., 2015; Audrezet et al., 2020)</a:t>
            </a:r>
            <a:endParaRPr lang="en-US" sz="2400" dirty="0"/>
          </a:p>
          <a:p>
            <a:pPr marL="355600" indent="-355600">
              <a:spcAft>
                <a:spcPts val="1600"/>
              </a:spcAft>
              <a:buSzPct val="100000"/>
              <a:buChar char="■"/>
            </a:pPr>
            <a:r>
              <a:rPr lang="en-US" sz="2400" dirty="0">
                <a:solidFill>
                  <a:schemeClr val="tx1"/>
                </a:solidFill>
              </a:rPr>
              <a:t>Predicts purchase intention more strongly than attractiveness and builds trust. </a:t>
            </a:r>
            <a:r>
              <a:rPr lang="en-US" sz="1900" dirty="0">
                <a:solidFill>
                  <a:schemeClr val="accent4"/>
                </a:solidFill>
              </a:rPr>
              <a:t>(Pöyry et al., 2019; Kim &amp; Kim, 2021)</a:t>
            </a:r>
            <a:endParaRPr lang="en-US" sz="2400" dirty="0"/>
          </a:p>
          <a:p>
            <a:pPr marL="355600" indent="-355600">
              <a:spcAft>
                <a:spcPts val="1600"/>
              </a:spcAft>
              <a:buSzPct val="100000"/>
              <a:buChar char="■"/>
            </a:pPr>
            <a:r>
              <a:rPr lang="en-US" sz="2400" dirty="0">
                <a:solidFill>
                  <a:schemeClr val="tx1"/>
                </a:solidFill>
              </a:rPr>
              <a:t>Contested for virtual influencers: seen as limited, yet strong stories can make them authentic. </a:t>
            </a:r>
            <a:r>
              <a:rPr lang="en-US" sz="1900" dirty="0">
                <a:solidFill>
                  <a:schemeClr val="accent4"/>
                </a:solidFill>
              </a:rPr>
              <a:t>(Lou et al., 2023; Allal-Chérif et al., 2024)</a:t>
            </a:r>
            <a:endParaRPr lang="en-US" sz="2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HOMOPHILY</a:t>
            </a:r>
            <a:endParaRPr lang="en-US" sz="2800" dirty="0"/>
          </a:p>
        </p:txBody>
      </p:sp>
      <p:sp>
        <p:nvSpPr>
          <p:cNvPr id="3" name="Perceived Homophily panel"/>
          <p:cNvSpPr/>
          <p:nvPr/>
        </p:nvSpPr>
        <p:spPr>
          <a:xfrm>
            <a:off x="548640" y="1691640"/>
            <a:ext cx="3200400" cy="4572000"/>
          </a:xfrm>
          <a:prstGeom prst="rect">
            <a:avLst/>
          </a:prstGeom>
          <a:solidFill>
            <a:schemeClr val="bg2"/>
          </a:solidFill>
          <a:ln w="12700">
            <a:solidFill>
              <a:schemeClr val="bg2"/>
            </a:solidFill>
            <a:prstDash val="solid"/>
          </a:ln>
        </p:spPr>
      </p:sp>
      <p:sp>
        <p:nvSpPr>
          <p:cNvPr id="4" name="Perceived Homophily circle"/>
          <p:cNvSpPr/>
          <p:nvPr/>
        </p:nvSpPr>
        <p:spPr>
          <a:xfrm>
            <a:off x="1371600" y="2103120"/>
            <a:ext cx="1554480" cy="1554480"/>
          </a:xfrm>
          <a:prstGeom prst="ellipse">
            <a:avLst/>
          </a:prstGeom>
          <a:solidFill>
            <a:schemeClr val="tx2"/>
          </a:solidFill>
          <a:ln w="12700">
            <a:solidFill>
              <a:schemeClr val="tx2"/>
            </a:solidFill>
            <a:prstDash val="solid"/>
          </a:ln>
        </p:spPr>
      </p:sp>
      <p:pic>
        <p:nvPicPr>
          <p:cNvPr id="5" name="Perceived Homophily icon" descr="preencoded.png">    </p:cNvPr>
          <p:cNvPicPr>
            <a:picLocks noChangeAspect="1"/>
          </p:cNvPicPr>
          <p:nvPr/>
        </p:nvPicPr>
        <p:blipFill>
          <a:blip r:embed="rId1"/>
          <a:stretch>
            <a:fillRect/>
          </a:stretch>
        </p:blipFill>
        <p:spPr>
          <a:xfrm>
            <a:off x="1760220" y="2491740"/>
            <a:ext cx="777240" cy="777240"/>
          </a:xfrm>
          <a:prstGeom prst="rect">
            <a:avLst/>
          </a:prstGeom>
        </p:spPr>
      </p:pic>
      <p:sp>
        <p:nvSpPr>
          <p:cNvPr id="6" name="Text 3"/>
          <p:cNvSpPr txBox="1"/>
          <p:nvPr/>
        </p:nvSpPr>
        <p:spPr>
          <a:xfrm>
            <a:off x="685800" y="3931920"/>
            <a:ext cx="2926080" cy="1737360"/>
          </a:xfrm>
          <a:prstGeom prst="rect">
            <a:avLst/>
          </a:prstGeom>
          <a:noFill/>
          <a:ln/>
        </p:spPr>
        <p:txBody>
          <a:bodyPr wrap="square" rtlCol="0" anchor="t"/>
          <a:lstStyle/>
          <a:p>
            <a:pPr algn="ctr" indent="0" marL="0">
              <a:buNone/>
            </a:pPr>
            <a:r>
              <a:rPr lang="en-US" sz="2200" b="1" dirty="0">
                <a:solidFill>
                  <a:schemeClr val="tx1"/>
                </a:solidFill>
              </a:rPr>
              <a:t>Perceived Homophily</a:t>
            </a:r>
            <a:endParaRPr lang="en-US" sz="2200" dirty="0"/>
          </a:p>
          <a:p>
            <a:pPr algn="ctr" indent="0" marL="0">
              <a:buNone/>
            </a:pPr>
            <a:r>
              <a:rPr lang="en-US" sz="1600" dirty="0">
                <a:solidFill>
                  <a:schemeClr val="accent4"/>
                </a:solidFill>
              </a:rPr>
              <a:t>Independent variable</a:t>
            </a:r>
            <a:endParaRPr lang="en-US" sz="2200" dirty="0"/>
          </a:p>
        </p:txBody>
      </p:sp>
      <p:sp>
        <p:nvSpPr>
          <p:cNvPr id="7" name="Text 4"/>
          <p:cNvSpPr txBox="1"/>
          <p:nvPr/>
        </p:nvSpPr>
        <p:spPr>
          <a:xfrm>
            <a:off x="4069080" y="1691640"/>
            <a:ext cx="7589520" cy="4663440"/>
          </a:xfrm>
          <a:prstGeom prst="rect">
            <a:avLst/>
          </a:prstGeom>
          <a:noFill/>
          <a:ln/>
        </p:spPr>
        <p:txBody>
          <a:bodyPr wrap="square" lIns="25400" tIns="50800" rIns="50800" bIns="25400" rtlCol="0" anchor="t"/>
          <a:lstStyle/>
          <a:p>
            <a:pPr marL="355600" indent="-355600">
              <a:spcAft>
                <a:spcPts val="1600"/>
              </a:spcAft>
              <a:buSzPct val="100000"/>
              <a:buChar char="■"/>
            </a:pPr>
            <a:r>
              <a:rPr lang="en-US" sz="2400" dirty="0">
                <a:solidFill>
                  <a:schemeClr val="tx1"/>
                </a:solidFill>
              </a:rPr>
              <a:t>How similar consumers feel to an influencer in attitudes, values, background or appearance. </a:t>
            </a:r>
            <a:r>
              <a:rPr lang="en-US" sz="1900" dirty="0">
                <a:solidFill>
                  <a:schemeClr val="accent4"/>
                </a:solidFill>
              </a:rPr>
              <a:t>(McCroskey et al., 1975)</a:t>
            </a:r>
            <a:endParaRPr lang="en-US" sz="2400" dirty="0"/>
          </a:p>
          <a:p>
            <a:pPr marL="355600" indent="-355600">
              <a:spcAft>
                <a:spcPts val="1600"/>
              </a:spcAft>
              <a:buSzPct val="100000"/>
              <a:buChar char="■"/>
            </a:pPr>
            <a:r>
              <a:rPr lang="en-US" sz="2400" dirty="0">
                <a:solidFill>
                  <a:schemeClr val="tx1"/>
                </a:solidFill>
              </a:rPr>
              <a:t>Similarity raises trust and purchase intention. </a:t>
            </a:r>
            <a:r>
              <a:rPr lang="en-US" sz="1900" dirty="0">
                <a:solidFill>
                  <a:schemeClr val="accent4"/>
                </a:solidFill>
              </a:rPr>
              <a:t>(Ladhari et al., 2020; Lou &amp; Yuan, 2019)</a:t>
            </a:r>
            <a:endParaRPr lang="en-US" sz="2400" dirty="0"/>
          </a:p>
          <a:p>
            <a:pPr marL="355600" indent="-355600">
              <a:spcAft>
                <a:spcPts val="1600"/>
              </a:spcAft>
              <a:buSzPct val="100000"/>
              <a:buChar char="■"/>
            </a:pPr>
            <a:r>
              <a:rPr lang="en-US" sz="2400" dirty="0">
                <a:solidFill>
                  <a:schemeClr val="tx1"/>
                </a:solidFill>
              </a:rPr>
              <a:t>A weak point: viewers feel less similar to virtual influencers. </a:t>
            </a:r>
            <a:r>
              <a:rPr lang="en-US" sz="1900" dirty="0">
                <a:solidFill>
                  <a:schemeClr val="accent4"/>
                </a:solidFill>
              </a:rPr>
              <a:t>(Stein et al., 2024; Belanche et al., 2024)</a:t>
            </a:r>
            <a:endParaRPr lang="en-US" sz="2400" dirty="0"/>
          </a:p>
          <a:p>
            <a:pPr marL="355600" indent="-355600">
              <a:spcAft>
                <a:spcPts val="1600"/>
              </a:spcAft>
              <a:buSzPct val="100000"/>
              <a:buChar char="■"/>
            </a:pPr>
            <a:r>
              <a:rPr lang="en-US" sz="2400" dirty="0">
                <a:solidFill>
                  <a:schemeClr val="tx1"/>
                </a:solidFill>
              </a:rPr>
              <a:t>Strengthens the bond that anthropomorphism creates. </a:t>
            </a:r>
            <a:r>
              <a:rPr lang="en-US" sz="1900" dirty="0">
                <a:solidFill>
                  <a:schemeClr val="accent4"/>
                </a:solidFill>
              </a:rPr>
              <a:t>(Lee &amp; Kim, 2025)</a:t>
            </a:r>
            <a:endParaRPr lang="en-US" sz="2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ATTRACTIVENESS</a:t>
            </a:r>
            <a:endParaRPr lang="en-US" sz="2800" dirty="0"/>
          </a:p>
        </p:txBody>
      </p:sp>
      <p:sp>
        <p:nvSpPr>
          <p:cNvPr id="3" name="Perceived Attractiveness panel"/>
          <p:cNvSpPr/>
          <p:nvPr/>
        </p:nvSpPr>
        <p:spPr>
          <a:xfrm>
            <a:off x="548640" y="1691640"/>
            <a:ext cx="3200400" cy="4572000"/>
          </a:xfrm>
          <a:prstGeom prst="rect">
            <a:avLst/>
          </a:prstGeom>
          <a:solidFill>
            <a:schemeClr val="bg2"/>
          </a:solidFill>
          <a:ln w="12700">
            <a:solidFill>
              <a:schemeClr val="bg2"/>
            </a:solidFill>
            <a:prstDash val="solid"/>
          </a:ln>
        </p:spPr>
      </p:sp>
      <p:sp>
        <p:nvSpPr>
          <p:cNvPr id="4" name="Perceived Attractiveness circle"/>
          <p:cNvSpPr/>
          <p:nvPr/>
        </p:nvSpPr>
        <p:spPr>
          <a:xfrm>
            <a:off x="1371600" y="2103120"/>
            <a:ext cx="1554480" cy="1554480"/>
          </a:xfrm>
          <a:prstGeom prst="ellipse">
            <a:avLst/>
          </a:prstGeom>
          <a:solidFill>
            <a:schemeClr val="accent3"/>
          </a:solidFill>
          <a:ln w="12700">
            <a:solidFill>
              <a:schemeClr val="accent3"/>
            </a:solidFill>
            <a:prstDash val="solid"/>
          </a:ln>
        </p:spPr>
      </p:sp>
      <p:pic>
        <p:nvPicPr>
          <p:cNvPr id="5" name="Perceived Attractiveness icon" descr="preencoded.png">    </p:cNvPr>
          <p:cNvPicPr>
            <a:picLocks noChangeAspect="1"/>
          </p:cNvPicPr>
          <p:nvPr/>
        </p:nvPicPr>
        <p:blipFill>
          <a:blip r:embed="rId1"/>
          <a:stretch>
            <a:fillRect/>
          </a:stretch>
        </p:blipFill>
        <p:spPr>
          <a:xfrm>
            <a:off x="1760220" y="2491740"/>
            <a:ext cx="777240" cy="777240"/>
          </a:xfrm>
          <a:prstGeom prst="rect">
            <a:avLst/>
          </a:prstGeom>
        </p:spPr>
      </p:pic>
      <p:sp>
        <p:nvSpPr>
          <p:cNvPr id="6" name="Text 3"/>
          <p:cNvSpPr txBox="1"/>
          <p:nvPr/>
        </p:nvSpPr>
        <p:spPr>
          <a:xfrm>
            <a:off x="685800" y="3931920"/>
            <a:ext cx="2926080" cy="1737360"/>
          </a:xfrm>
          <a:prstGeom prst="rect">
            <a:avLst/>
          </a:prstGeom>
          <a:noFill/>
          <a:ln/>
        </p:spPr>
        <p:txBody>
          <a:bodyPr wrap="square" rtlCol="0" anchor="t"/>
          <a:lstStyle/>
          <a:p>
            <a:pPr algn="ctr" indent="0" marL="0">
              <a:buNone/>
            </a:pPr>
            <a:r>
              <a:rPr lang="en-US" sz="2200" b="1" dirty="0">
                <a:solidFill>
                  <a:schemeClr val="tx1"/>
                </a:solidFill>
              </a:rPr>
              <a:t>Perceived Attractiveness</a:t>
            </a:r>
            <a:endParaRPr lang="en-US" sz="2200" dirty="0"/>
          </a:p>
          <a:p>
            <a:pPr algn="ctr" indent="0" marL="0">
              <a:buNone/>
            </a:pPr>
            <a:r>
              <a:rPr lang="en-US" sz="1600" dirty="0">
                <a:solidFill>
                  <a:schemeClr val="accent4"/>
                </a:solidFill>
              </a:rPr>
              <a:t>Independent variable</a:t>
            </a:r>
            <a:endParaRPr lang="en-US" sz="2200" dirty="0"/>
          </a:p>
        </p:txBody>
      </p:sp>
      <p:sp>
        <p:nvSpPr>
          <p:cNvPr id="7" name="Text 4"/>
          <p:cNvSpPr txBox="1"/>
          <p:nvPr/>
        </p:nvSpPr>
        <p:spPr>
          <a:xfrm>
            <a:off x="4069080" y="1691640"/>
            <a:ext cx="7589520" cy="4663440"/>
          </a:xfrm>
          <a:prstGeom prst="rect">
            <a:avLst/>
          </a:prstGeom>
          <a:noFill/>
          <a:ln/>
        </p:spPr>
        <p:txBody>
          <a:bodyPr wrap="square" lIns="25400" tIns="50800" rIns="50800" bIns="25400" rtlCol="0" anchor="t"/>
          <a:lstStyle/>
          <a:p>
            <a:pPr marL="355600" indent="-355600">
              <a:spcAft>
                <a:spcPts val="1600"/>
              </a:spcAft>
              <a:buSzPct val="100000"/>
              <a:buChar char="■"/>
            </a:pPr>
            <a:r>
              <a:rPr lang="en-US" sz="2400" dirty="0">
                <a:solidFill>
                  <a:schemeClr val="tx1"/>
                </a:solidFill>
              </a:rPr>
              <a:t>How appealing, stylish and elegant an influencer appears. </a:t>
            </a:r>
            <a:r>
              <a:rPr lang="en-US" sz="1900" dirty="0">
                <a:solidFill>
                  <a:schemeClr val="accent4"/>
                </a:solidFill>
              </a:rPr>
              <a:t>(Ohanian, 1990)</a:t>
            </a:r>
            <a:endParaRPr lang="en-US" sz="2400" dirty="0"/>
          </a:p>
          <a:p>
            <a:pPr marL="355600" indent="-355600">
              <a:spcAft>
                <a:spcPts val="1600"/>
              </a:spcAft>
              <a:buSzPct val="100000"/>
              <a:buChar char="■"/>
            </a:pPr>
            <a:r>
              <a:rPr lang="en-US" sz="2400" dirty="0">
                <a:solidFill>
                  <a:schemeClr val="tx1"/>
                </a:solidFill>
              </a:rPr>
              <a:t>Improves brand attitudes, trust and purchase intention. </a:t>
            </a:r>
            <a:r>
              <a:rPr lang="en-US" sz="1900" dirty="0">
                <a:solidFill>
                  <a:schemeClr val="accent4"/>
                </a:solidFill>
              </a:rPr>
              <a:t>(Kahle &amp; Homer, 1985; Weismueller et al., 2020)</a:t>
            </a:r>
            <a:endParaRPr lang="en-US" sz="2400" dirty="0"/>
          </a:p>
          <a:p>
            <a:pPr marL="355600" indent="-355600">
              <a:spcAft>
                <a:spcPts val="1600"/>
              </a:spcAft>
              <a:buSzPct val="100000"/>
              <a:buChar char="■"/>
            </a:pPr>
            <a:r>
              <a:rPr lang="en-US" sz="2400" dirty="0">
                <a:solidFill>
                  <a:schemeClr val="tx1"/>
                </a:solidFill>
              </a:rPr>
              <a:t>Authenticity and expertise can outweigh it. </a:t>
            </a:r>
            <a:r>
              <a:rPr lang="en-US" sz="1900" dirty="0">
                <a:solidFill>
                  <a:schemeClr val="accent4"/>
                </a:solidFill>
              </a:rPr>
              <a:t>(Pöyry et al., 2019; Trivedi &amp; Sama, 2020)</a:t>
            </a:r>
            <a:endParaRPr lang="en-US" sz="2400" dirty="0"/>
          </a:p>
          <a:p>
            <a:pPr marL="355600" indent="-355600">
              <a:spcAft>
                <a:spcPts val="1600"/>
              </a:spcAft>
              <a:buSzPct val="100000"/>
              <a:buChar char="■"/>
            </a:pPr>
            <a:r>
              <a:rPr lang="en-US" sz="2400" dirty="0">
                <a:solidFill>
                  <a:schemeClr val="tx1"/>
                </a:solidFill>
              </a:rPr>
              <a:t>For virtual influencers it works indirectly, through credibility. </a:t>
            </a:r>
            <a:r>
              <a:rPr lang="en-US" sz="1900" dirty="0">
                <a:solidFill>
                  <a:schemeClr val="accent4"/>
                </a:solidFill>
              </a:rPr>
              <a:t>(Kim &amp; Park, 2023; Yoo et al., 2025)</a:t>
            </a:r>
            <a:endParaRPr lang="en-US" sz="2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TRUST AS THE MEDIATOR</a:t>
            </a:r>
            <a:endParaRPr lang="en-US" sz="2800" dirty="0"/>
          </a:p>
        </p:txBody>
      </p:sp>
      <p:sp>
        <p:nvSpPr>
          <p:cNvPr id="3" name="Text 1"/>
          <p:cNvSpPr txBox="1"/>
          <p:nvPr/>
        </p:nvSpPr>
        <p:spPr>
          <a:xfrm>
            <a:off x="548640" y="1691640"/>
            <a:ext cx="7680960" cy="4663440"/>
          </a:xfrm>
          <a:prstGeom prst="rect">
            <a:avLst/>
          </a:prstGeom>
          <a:noFill/>
          <a:ln/>
        </p:spPr>
        <p:txBody>
          <a:bodyPr wrap="square" lIns="25400" tIns="50800" rIns="50800" bIns="25400" rtlCol="0" anchor="t"/>
          <a:lstStyle/>
          <a:p>
            <a:pPr marL="355600" indent="-355600">
              <a:spcAft>
                <a:spcPts val="1800"/>
              </a:spcAft>
              <a:buSzPct val="100000"/>
              <a:buChar char="■"/>
            </a:pPr>
            <a:r>
              <a:rPr lang="en-US" sz="2400" dirty="0">
                <a:solidFill>
                  <a:schemeClr val="tx1"/>
                </a:solidFill>
              </a:rPr>
              <a:t>Willingness to rely on another party based on ability, benevolence and integrity. </a:t>
            </a:r>
            <a:r>
              <a:rPr lang="en-US" sz="1900" dirty="0">
                <a:solidFill>
                  <a:schemeClr val="accent4"/>
                </a:solidFill>
              </a:rPr>
              <a:t>(Mayer et al., 1995)</a:t>
            </a:r>
            <a:endParaRPr lang="en-US" sz="2400" dirty="0"/>
          </a:p>
          <a:p>
            <a:pPr marL="355600" indent="-355600">
              <a:spcAft>
                <a:spcPts val="1800"/>
              </a:spcAft>
              <a:buSzPct val="100000"/>
              <a:buChar char="■"/>
            </a:pPr>
            <a:r>
              <a:rPr lang="en-US" sz="2400" dirty="0">
                <a:solidFill>
                  <a:schemeClr val="tx1"/>
                </a:solidFill>
              </a:rPr>
              <a:t>Consumers buy what a creator recommends because they first trust them. </a:t>
            </a:r>
            <a:r>
              <a:rPr lang="en-US" sz="1900" dirty="0">
                <a:solidFill>
                  <a:schemeClr val="accent4"/>
                </a:solidFill>
              </a:rPr>
              <a:t>(Lou &amp; Yuan, 2019; Kim &amp; Kim, 2021)</a:t>
            </a:r>
            <a:endParaRPr lang="en-US" sz="2400" dirty="0"/>
          </a:p>
          <a:p>
            <a:pPr marL="355600" indent="-355600">
              <a:spcAft>
                <a:spcPts val="1800"/>
              </a:spcAft>
              <a:buSzPct val="100000"/>
              <a:buChar char="■"/>
            </a:pPr>
            <a:r>
              <a:rPr lang="en-US" sz="2400" dirty="0">
                <a:solidFill>
                  <a:schemeClr val="tx1"/>
                </a:solidFill>
              </a:rPr>
              <a:t>Virtual influencers face an inherent trust deficit. </a:t>
            </a:r>
            <a:r>
              <a:rPr lang="en-US" sz="1900" dirty="0">
                <a:solidFill>
                  <a:schemeClr val="accent4"/>
                </a:solidFill>
              </a:rPr>
              <a:t>(Sands et al., 2022)</a:t>
            </a:r>
            <a:endParaRPr lang="en-US" sz="2400" dirty="0"/>
          </a:p>
          <a:p>
            <a:pPr marL="355600" indent="-355600">
              <a:spcAft>
                <a:spcPts val="1800"/>
              </a:spcAft>
              <a:buSzPct val="100000"/>
              <a:buChar char="■"/>
            </a:pPr>
            <a:r>
              <a:rPr lang="en-US" sz="2400" dirty="0">
                <a:solidFill>
                  <a:schemeClr val="tx1"/>
                </a:solidFill>
              </a:rPr>
              <a:t>Humanising cues can raise trust to nearly human levels. </a:t>
            </a:r>
            <a:r>
              <a:rPr lang="en-US" sz="1900" dirty="0">
                <a:solidFill>
                  <a:schemeClr val="accent4"/>
                </a:solidFill>
              </a:rPr>
              <a:t>(Cascio Rizzo et al., 2026)</a:t>
            </a:r>
            <a:endParaRPr lang="en-US" sz="2400" dirty="0"/>
          </a:p>
        </p:txBody>
      </p:sp>
      <p:sp>
        <p:nvSpPr>
          <p:cNvPr id="4" name="Perceptions step"/>
          <p:cNvSpPr/>
          <p:nvPr/>
        </p:nvSpPr>
        <p:spPr>
          <a:xfrm>
            <a:off x="8641080" y="1783080"/>
            <a:ext cx="3017520" cy="914400"/>
          </a:xfrm>
          <a:prstGeom prst="roundRect">
            <a:avLst>
              <a:gd name="adj" fmla="val 12000"/>
            </a:avLst>
          </a:prstGeom>
          <a:solidFill>
            <a:schemeClr val="tx2"/>
          </a:solidFill>
          <a:ln w="12700">
            <a:solidFill>
              <a:schemeClr val="tx2"/>
            </a:solidFill>
            <a:prstDash val="solid"/>
          </a:ln>
        </p:spPr>
      </p:sp>
      <p:sp>
        <p:nvSpPr>
          <p:cNvPr id="5" name="Text 3"/>
          <p:cNvSpPr txBox="1"/>
          <p:nvPr/>
        </p:nvSpPr>
        <p:spPr>
          <a:xfrm>
            <a:off x="8641080" y="1783080"/>
            <a:ext cx="3017520" cy="914400"/>
          </a:xfrm>
          <a:prstGeom prst="rect">
            <a:avLst/>
          </a:prstGeom>
          <a:noFill/>
          <a:ln/>
        </p:spPr>
        <p:txBody>
          <a:bodyPr wrap="square" rtlCol="0" anchor="ctr"/>
          <a:lstStyle/>
          <a:p>
            <a:pPr algn="ctr" indent="0" marL="0">
              <a:buNone/>
            </a:pPr>
            <a:r>
              <a:rPr lang="en-US" sz="2000" b="1" dirty="0">
                <a:solidFill>
                  <a:schemeClr val="bg1"/>
                </a:solidFill>
              </a:rPr>
              <a:t>Perceptions</a:t>
            </a:r>
            <a:endParaRPr lang="en-US" sz="2000" dirty="0"/>
          </a:p>
        </p:txBody>
      </p:sp>
      <p:sp>
        <p:nvSpPr>
          <p:cNvPr id="6" name="flow arrow 0"/>
          <p:cNvSpPr/>
          <p:nvPr/>
        </p:nvSpPr>
        <p:spPr>
          <a:xfrm>
            <a:off x="10149840" y="2743200"/>
            <a:ext cx="0" cy="502920"/>
          </a:xfrm>
          <a:prstGeom prst="line">
            <a:avLst/>
          </a:prstGeom>
          <a:noFill/>
          <a:ln w="38100">
            <a:solidFill>
              <a:schemeClr val="accent3"/>
            </a:solidFill>
            <a:prstDash val="solid"/>
            <a:tailEnd type="triangle"/>
          </a:ln>
        </p:spPr>
      </p:sp>
      <p:sp>
        <p:nvSpPr>
          <p:cNvPr id="7" name="Trust step"/>
          <p:cNvSpPr/>
          <p:nvPr/>
        </p:nvSpPr>
        <p:spPr>
          <a:xfrm>
            <a:off x="8641080" y="3291840"/>
            <a:ext cx="3017520" cy="914400"/>
          </a:xfrm>
          <a:prstGeom prst="roundRect">
            <a:avLst>
              <a:gd name="adj" fmla="val 12000"/>
            </a:avLst>
          </a:prstGeom>
          <a:solidFill>
            <a:schemeClr val="accent1"/>
          </a:solidFill>
          <a:ln w="12700">
            <a:solidFill>
              <a:schemeClr val="accent1"/>
            </a:solidFill>
            <a:prstDash val="solid"/>
          </a:ln>
        </p:spPr>
      </p:sp>
      <p:sp>
        <p:nvSpPr>
          <p:cNvPr id="8" name="Text 6"/>
          <p:cNvSpPr txBox="1"/>
          <p:nvPr/>
        </p:nvSpPr>
        <p:spPr>
          <a:xfrm>
            <a:off x="8641080" y="3291840"/>
            <a:ext cx="3017520" cy="914400"/>
          </a:xfrm>
          <a:prstGeom prst="rect">
            <a:avLst/>
          </a:prstGeom>
          <a:noFill/>
          <a:ln/>
        </p:spPr>
        <p:txBody>
          <a:bodyPr wrap="square" rtlCol="0" anchor="ctr"/>
          <a:lstStyle/>
          <a:p>
            <a:pPr algn="ctr" indent="0" marL="0">
              <a:buNone/>
            </a:pPr>
            <a:r>
              <a:rPr lang="en-US" sz="2000" b="1" dirty="0">
                <a:solidFill>
                  <a:schemeClr val="bg1"/>
                </a:solidFill>
              </a:rPr>
              <a:t>Trust</a:t>
            </a:r>
            <a:endParaRPr lang="en-US" sz="2000" dirty="0"/>
          </a:p>
        </p:txBody>
      </p:sp>
      <p:sp>
        <p:nvSpPr>
          <p:cNvPr id="9" name="flow arrow 1"/>
          <p:cNvSpPr/>
          <p:nvPr/>
        </p:nvSpPr>
        <p:spPr>
          <a:xfrm>
            <a:off x="10149840" y="4251960"/>
            <a:ext cx="0" cy="502920"/>
          </a:xfrm>
          <a:prstGeom prst="line">
            <a:avLst/>
          </a:prstGeom>
          <a:noFill/>
          <a:ln w="38100">
            <a:solidFill>
              <a:schemeClr val="accent3"/>
            </a:solidFill>
            <a:prstDash val="solid"/>
            <a:tailEnd type="triangle"/>
          </a:ln>
        </p:spPr>
      </p:sp>
      <p:sp>
        <p:nvSpPr>
          <p:cNvPr id="10" name="Purchase intention step"/>
          <p:cNvSpPr/>
          <p:nvPr/>
        </p:nvSpPr>
        <p:spPr>
          <a:xfrm>
            <a:off x="8641080" y="4800600"/>
            <a:ext cx="3017520" cy="914400"/>
          </a:xfrm>
          <a:prstGeom prst="roundRect">
            <a:avLst>
              <a:gd name="adj" fmla="val 12000"/>
            </a:avLst>
          </a:prstGeom>
          <a:solidFill>
            <a:schemeClr val="accent4"/>
          </a:solidFill>
          <a:ln w="12700">
            <a:solidFill>
              <a:schemeClr val="accent4"/>
            </a:solidFill>
            <a:prstDash val="solid"/>
          </a:ln>
        </p:spPr>
      </p:sp>
      <p:sp>
        <p:nvSpPr>
          <p:cNvPr id="11" name="Text 9"/>
          <p:cNvSpPr txBox="1"/>
          <p:nvPr/>
        </p:nvSpPr>
        <p:spPr>
          <a:xfrm>
            <a:off x="8641080" y="4800600"/>
            <a:ext cx="3017520" cy="914400"/>
          </a:xfrm>
          <a:prstGeom prst="rect">
            <a:avLst/>
          </a:prstGeom>
          <a:noFill/>
          <a:ln/>
        </p:spPr>
        <p:txBody>
          <a:bodyPr wrap="square" rtlCol="0" anchor="ctr"/>
          <a:lstStyle/>
          <a:p>
            <a:pPr algn="ctr" indent="0" marL="0">
              <a:buNone/>
            </a:pPr>
            <a:r>
              <a:rPr lang="en-US" sz="2000" b="1" dirty="0">
                <a:solidFill>
                  <a:schemeClr val="bg1"/>
                </a:solidFill>
              </a:rPr>
              <a:t>Purchase intention</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PURCHASE INTENTION</a:t>
            </a:r>
            <a:endParaRPr lang="en-US" sz="2800" dirty="0"/>
          </a:p>
        </p:txBody>
      </p:sp>
      <p:sp>
        <p:nvSpPr>
          <p:cNvPr id="3" name="Purchase Intention panel"/>
          <p:cNvSpPr/>
          <p:nvPr/>
        </p:nvSpPr>
        <p:spPr>
          <a:xfrm>
            <a:off x="548640" y="1691640"/>
            <a:ext cx="3200400" cy="4572000"/>
          </a:xfrm>
          <a:prstGeom prst="rect">
            <a:avLst/>
          </a:prstGeom>
          <a:solidFill>
            <a:schemeClr val="bg2"/>
          </a:solidFill>
          <a:ln w="12700">
            <a:solidFill>
              <a:schemeClr val="bg2"/>
            </a:solidFill>
            <a:prstDash val="solid"/>
          </a:ln>
        </p:spPr>
      </p:sp>
      <p:sp>
        <p:nvSpPr>
          <p:cNvPr id="4" name="Purchase Intention circle"/>
          <p:cNvSpPr/>
          <p:nvPr/>
        </p:nvSpPr>
        <p:spPr>
          <a:xfrm>
            <a:off x="1371600" y="2103120"/>
            <a:ext cx="1554480" cy="1554480"/>
          </a:xfrm>
          <a:prstGeom prst="ellipse">
            <a:avLst/>
          </a:prstGeom>
          <a:solidFill>
            <a:schemeClr val="accent4"/>
          </a:solidFill>
          <a:ln w="12700">
            <a:solidFill>
              <a:schemeClr val="accent4"/>
            </a:solidFill>
            <a:prstDash val="solid"/>
          </a:ln>
        </p:spPr>
      </p:sp>
      <p:pic>
        <p:nvPicPr>
          <p:cNvPr id="5" name="Purchase Intention icon" descr="preencoded.png">    </p:cNvPr>
          <p:cNvPicPr>
            <a:picLocks noChangeAspect="1"/>
          </p:cNvPicPr>
          <p:nvPr/>
        </p:nvPicPr>
        <p:blipFill>
          <a:blip r:embed="rId1"/>
          <a:stretch>
            <a:fillRect/>
          </a:stretch>
        </p:blipFill>
        <p:spPr>
          <a:xfrm>
            <a:off x="1760220" y="2491740"/>
            <a:ext cx="777240" cy="777240"/>
          </a:xfrm>
          <a:prstGeom prst="rect">
            <a:avLst/>
          </a:prstGeom>
        </p:spPr>
      </p:pic>
      <p:sp>
        <p:nvSpPr>
          <p:cNvPr id="6" name="Text 3"/>
          <p:cNvSpPr txBox="1"/>
          <p:nvPr/>
        </p:nvSpPr>
        <p:spPr>
          <a:xfrm>
            <a:off x="685800" y="3931920"/>
            <a:ext cx="2926080" cy="1737360"/>
          </a:xfrm>
          <a:prstGeom prst="rect">
            <a:avLst/>
          </a:prstGeom>
          <a:noFill/>
          <a:ln/>
        </p:spPr>
        <p:txBody>
          <a:bodyPr wrap="square" rtlCol="0" anchor="t"/>
          <a:lstStyle/>
          <a:p>
            <a:pPr algn="ctr" indent="0" marL="0">
              <a:buNone/>
            </a:pPr>
            <a:r>
              <a:rPr lang="en-US" sz="2200" b="1" dirty="0">
                <a:solidFill>
                  <a:schemeClr val="tx1"/>
                </a:solidFill>
              </a:rPr>
              <a:t>Purchase Intention</a:t>
            </a:r>
            <a:endParaRPr lang="en-US" sz="2200" dirty="0"/>
          </a:p>
          <a:p>
            <a:pPr algn="ctr" indent="0" marL="0">
              <a:buNone/>
            </a:pPr>
            <a:r>
              <a:rPr lang="en-US" sz="1600" dirty="0">
                <a:solidFill>
                  <a:schemeClr val="accent4"/>
                </a:solidFill>
              </a:rPr>
              <a:t>Dependent variable</a:t>
            </a:r>
            <a:endParaRPr lang="en-US" sz="2200" dirty="0"/>
          </a:p>
        </p:txBody>
      </p:sp>
      <p:sp>
        <p:nvSpPr>
          <p:cNvPr id="7" name="Text 4"/>
          <p:cNvSpPr txBox="1"/>
          <p:nvPr/>
        </p:nvSpPr>
        <p:spPr>
          <a:xfrm>
            <a:off x="4069080" y="1691640"/>
            <a:ext cx="7589520" cy="4663440"/>
          </a:xfrm>
          <a:prstGeom prst="rect">
            <a:avLst/>
          </a:prstGeom>
          <a:noFill/>
          <a:ln/>
        </p:spPr>
        <p:txBody>
          <a:bodyPr wrap="square" lIns="25400" tIns="50800" rIns="50800" bIns="25400" rtlCol="0" anchor="t"/>
          <a:lstStyle/>
          <a:p>
            <a:pPr marL="355600" indent="-355600">
              <a:spcAft>
                <a:spcPts val="1600"/>
              </a:spcAft>
              <a:buSzPct val="100000"/>
              <a:buChar char="■"/>
            </a:pPr>
            <a:r>
              <a:rPr lang="en-US" sz="2400" dirty="0">
                <a:solidFill>
                  <a:schemeClr val="tx1"/>
                </a:solidFill>
              </a:rPr>
              <a:t>A consumer's conscious plan to buy a product or brand. </a:t>
            </a:r>
            <a:r>
              <a:rPr lang="en-US" sz="1900" dirty="0">
                <a:solidFill>
                  <a:schemeClr val="accent4"/>
                </a:solidFill>
              </a:rPr>
              <a:t>(Spears &amp; Singh, 2004)</a:t>
            </a:r>
            <a:endParaRPr lang="en-US" sz="2400" dirty="0"/>
          </a:p>
          <a:p>
            <a:pPr marL="355600" indent="-355600">
              <a:spcAft>
                <a:spcPts val="1600"/>
              </a:spcAft>
              <a:buSzPct val="100000"/>
              <a:buChar char="■"/>
            </a:pPr>
            <a:r>
              <a:rPr lang="en-US" sz="2400" dirty="0">
                <a:solidFill>
                  <a:schemeClr val="tx1"/>
                </a:solidFill>
              </a:rPr>
              <a:t>Intention is the most immediate predictor of behaviour. </a:t>
            </a:r>
            <a:r>
              <a:rPr lang="en-US" sz="1900" dirty="0">
                <a:solidFill>
                  <a:schemeClr val="accent4"/>
                </a:solidFill>
              </a:rPr>
              <a:t>(Ajzen, 1991)</a:t>
            </a:r>
            <a:endParaRPr lang="en-US" sz="2400" dirty="0"/>
          </a:p>
          <a:p>
            <a:pPr marL="355600" indent="-355600">
              <a:spcAft>
                <a:spcPts val="1600"/>
              </a:spcAft>
              <a:buSzPct val="100000"/>
              <a:buChar char="■"/>
            </a:pPr>
            <a:r>
              <a:rPr lang="en-US" sz="2400" dirty="0">
                <a:solidFill>
                  <a:schemeClr val="tx1"/>
                </a:solidFill>
              </a:rPr>
              <a:t>Influencer credibility predicts buying intentions in India. </a:t>
            </a:r>
            <a:r>
              <a:rPr lang="en-US" sz="1900" dirty="0">
                <a:solidFill>
                  <a:schemeClr val="accent4"/>
                </a:solidFill>
              </a:rPr>
              <a:t>(Saima &amp; Khan, 2021)</a:t>
            </a:r>
            <a:endParaRPr lang="en-US" sz="2400" dirty="0"/>
          </a:p>
          <a:p>
            <a:pPr marL="355600" indent="-355600">
              <a:spcAft>
                <a:spcPts val="1600"/>
              </a:spcAft>
              <a:buSzPct val="100000"/>
              <a:buChar char="■"/>
            </a:pPr>
            <a:r>
              <a:rPr lang="en-US" sz="2400" dirty="0">
                <a:solidFill>
                  <a:schemeClr val="tx1"/>
                </a:solidFill>
              </a:rPr>
              <a:t>For virtual influencers the link is mixed and product-dependent. </a:t>
            </a:r>
            <a:r>
              <a:rPr lang="en-US" sz="1900" dirty="0">
                <a:solidFill>
                  <a:schemeClr val="accent4"/>
                </a:solidFill>
              </a:rPr>
              <a:t>(Gerlich, 2023; Lou et al., 2023; Zhou et al., 2024)</a:t>
            </a:r>
            <a:endParaRPr lang="en-US" sz="2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LITERATURE REVIEW – GEN Z</a:t>
            </a:r>
            <a:endParaRPr lang="en-US" sz="2800" dirty="0"/>
          </a:p>
        </p:txBody>
      </p:sp>
      <p:sp>
        <p:nvSpPr>
          <p:cNvPr id="3" name="Generation Z panel"/>
          <p:cNvSpPr/>
          <p:nvPr/>
        </p:nvSpPr>
        <p:spPr>
          <a:xfrm>
            <a:off x="548640" y="1691640"/>
            <a:ext cx="3200400" cy="4572000"/>
          </a:xfrm>
          <a:prstGeom prst="rect">
            <a:avLst/>
          </a:prstGeom>
          <a:solidFill>
            <a:schemeClr val="bg2"/>
          </a:solidFill>
          <a:ln w="12700">
            <a:solidFill>
              <a:schemeClr val="bg2"/>
            </a:solidFill>
            <a:prstDash val="solid"/>
          </a:ln>
        </p:spPr>
      </p:sp>
      <p:sp>
        <p:nvSpPr>
          <p:cNvPr id="4" name="Generation Z circle"/>
          <p:cNvSpPr/>
          <p:nvPr/>
        </p:nvSpPr>
        <p:spPr>
          <a:xfrm>
            <a:off x="1371600" y="2103120"/>
            <a:ext cx="1554480" cy="1554480"/>
          </a:xfrm>
          <a:prstGeom prst="ellipse">
            <a:avLst/>
          </a:prstGeom>
          <a:solidFill>
            <a:schemeClr val="accent1"/>
          </a:solidFill>
          <a:ln w="12700">
            <a:solidFill>
              <a:schemeClr val="accent1"/>
            </a:solidFill>
            <a:prstDash val="solid"/>
          </a:ln>
        </p:spPr>
      </p:sp>
      <p:pic>
        <p:nvPicPr>
          <p:cNvPr id="5" name="Generation Z icon" descr="preencoded.png">    </p:cNvPr>
          <p:cNvPicPr>
            <a:picLocks noChangeAspect="1"/>
          </p:cNvPicPr>
          <p:nvPr/>
        </p:nvPicPr>
        <p:blipFill>
          <a:blip r:embed="rId1"/>
          <a:stretch>
            <a:fillRect/>
          </a:stretch>
        </p:blipFill>
        <p:spPr>
          <a:xfrm>
            <a:off x="1760220" y="2491740"/>
            <a:ext cx="777240" cy="777240"/>
          </a:xfrm>
          <a:prstGeom prst="rect">
            <a:avLst/>
          </a:prstGeom>
        </p:spPr>
      </p:pic>
      <p:sp>
        <p:nvSpPr>
          <p:cNvPr id="6" name="Text 3"/>
          <p:cNvSpPr txBox="1"/>
          <p:nvPr/>
        </p:nvSpPr>
        <p:spPr>
          <a:xfrm>
            <a:off x="685800" y="3931920"/>
            <a:ext cx="2926080" cy="1737360"/>
          </a:xfrm>
          <a:prstGeom prst="rect">
            <a:avLst/>
          </a:prstGeom>
          <a:noFill/>
          <a:ln/>
        </p:spPr>
        <p:txBody>
          <a:bodyPr wrap="square" rtlCol="0" anchor="t"/>
          <a:lstStyle/>
          <a:p>
            <a:pPr algn="ctr" indent="0" marL="0">
              <a:buNone/>
            </a:pPr>
            <a:r>
              <a:rPr lang="en-US" sz="2200" b="1" dirty="0">
                <a:solidFill>
                  <a:schemeClr val="tx1"/>
                </a:solidFill>
              </a:rPr>
              <a:t>Generation Z</a:t>
            </a:r>
            <a:endParaRPr lang="en-US" sz="2200" dirty="0"/>
          </a:p>
          <a:p>
            <a:pPr algn="ctr" indent="0" marL="0">
              <a:buNone/>
            </a:pPr>
            <a:r>
              <a:rPr lang="en-US" sz="1600" dirty="0">
                <a:solidFill>
                  <a:schemeClr val="accent4"/>
                </a:solidFill>
              </a:rPr>
              <a:t>Target population</a:t>
            </a:r>
            <a:endParaRPr lang="en-US" sz="2200" dirty="0"/>
          </a:p>
        </p:txBody>
      </p:sp>
      <p:sp>
        <p:nvSpPr>
          <p:cNvPr id="7" name="Text 4"/>
          <p:cNvSpPr txBox="1"/>
          <p:nvPr/>
        </p:nvSpPr>
        <p:spPr>
          <a:xfrm>
            <a:off x="4069080" y="1691640"/>
            <a:ext cx="7589520" cy="4663440"/>
          </a:xfrm>
          <a:prstGeom prst="rect">
            <a:avLst/>
          </a:prstGeom>
          <a:noFill/>
          <a:ln/>
        </p:spPr>
        <p:txBody>
          <a:bodyPr wrap="square" lIns="25400" tIns="50800" rIns="50800" bIns="25400" rtlCol="0" anchor="t"/>
          <a:lstStyle/>
          <a:p>
            <a:pPr marL="355600" indent="-355600">
              <a:spcAft>
                <a:spcPts val="1600"/>
              </a:spcAft>
              <a:buSzPct val="100000"/>
              <a:buChar char="■"/>
            </a:pPr>
            <a:r>
              <a:rPr lang="en-US" sz="2400" dirty="0">
                <a:solidFill>
                  <a:schemeClr val="tx1"/>
                </a:solidFill>
              </a:rPr>
              <a:t>Instagram content often prompts Gen Z purchases. </a:t>
            </a:r>
            <a:r>
              <a:rPr lang="en-US" sz="1900" dirty="0">
                <a:solidFill>
                  <a:schemeClr val="accent4"/>
                </a:solidFill>
              </a:rPr>
              <a:t>(Djafarova &amp; Bowes, 2021)</a:t>
            </a:r>
            <a:endParaRPr lang="en-US" sz="2400" dirty="0"/>
          </a:p>
          <a:p>
            <a:pPr marL="355600" indent="-355600">
              <a:spcAft>
                <a:spcPts val="1600"/>
              </a:spcAft>
              <a:buSzPct val="100000"/>
              <a:buChar char="■"/>
            </a:pPr>
            <a:r>
              <a:rPr lang="en-US" sz="2400" dirty="0">
                <a:solidFill>
                  <a:schemeClr val="tx1"/>
                </a:solidFill>
              </a:rPr>
              <a:t>Virtual influencers are aimed at young consumers. </a:t>
            </a:r>
            <a:r>
              <a:rPr lang="en-US" sz="1900" dirty="0">
                <a:solidFill>
                  <a:schemeClr val="accent4"/>
                </a:solidFill>
              </a:rPr>
              <a:t>(Jhawar et al., 2023)</a:t>
            </a:r>
            <a:endParaRPr lang="en-US" sz="2400" dirty="0"/>
          </a:p>
          <a:p>
            <a:pPr marL="355600" indent="-355600">
              <a:spcAft>
                <a:spcPts val="1600"/>
              </a:spcAft>
              <a:buSzPct val="100000"/>
              <a:buChar char="■"/>
            </a:pPr>
            <a:r>
              <a:rPr lang="en-US" sz="2400" dirty="0">
                <a:solidFill>
                  <a:schemeClr val="tx1"/>
                </a:solidFill>
              </a:rPr>
              <a:t>In India, trust mediated virtual influencers' effect on purchase intention. </a:t>
            </a:r>
            <a:r>
              <a:rPr lang="en-US" sz="1900" dirty="0">
                <a:solidFill>
                  <a:schemeClr val="accent4"/>
                </a:solidFill>
              </a:rPr>
              <a:t>(Jha et al., 2025)</a:t>
            </a:r>
            <a:endParaRPr lang="en-US" sz="2400" dirty="0"/>
          </a:p>
          <a:p>
            <a:pPr marL="355600" indent="-355600">
              <a:spcAft>
                <a:spcPts val="1600"/>
              </a:spcAft>
              <a:buSzPct val="100000"/>
              <a:buChar char="■"/>
            </a:pPr>
            <a:r>
              <a:rPr lang="en-US" sz="2400" dirty="0">
                <a:solidFill>
                  <a:schemeClr val="tx1"/>
                </a:solidFill>
              </a:rPr>
              <a:t>But among Indian Gen Z, engagement did not raise trust or purchase intent. </a:t>
            </a:r>
            <a:r>
              <a:rPr lang="en-US" sz="1900" dirty="0">
                <a:solidFill>
                  <a:schemeClr val="accent4"/>
                </a:solidFill>
              </a:rPr>
              <a:t>(George et al., 2026)</a:t>
            </a:r>
            <a:endParaRPr lang="en-US" sz="2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RESEARCH GAP</a:t>
            </a:r>
            <a:endParaRPr lang="en-US" sz="2800" dirty="0"/>
          </a:p>
        </p:txBody>
      </p:sp>
      <p:sp>
        <p:nvSpPr>
          <p:cNvPr id="3" name="Gap 1"/>
          <p:cNvSpPr/>
          <p:nvPr/>
        </p:nvSpPr>
        <p:spPr>
          <a:xfrm>
            <a:off x="548640" y="1691640"/>
            <a:ext cx="11091672" cy="786384"/>
          </a:xfrm>
          <a:prstGeom prst="rect">
            <a:avLst/>
          </a:prstGeom>
          <a:solidFill>
            <a:schemeClr val="bg2"/>
          </a:solidFill>
          <a:ln w="12700">
            <a:solidFill>
              <a:schemeClr val="bg2"/>
            </a:solidFill>
            <a:prstDash val="solid"/>
          </a:ln>
        </p:spPr>
      </p:sp>
      <p:sp>
        <p:nvSpPr>
          <p:cNvPr id="4" name="Gap number 1"/>
          <p:cNvSpPr/>
          <p:nvPr/>
        </p:nvSpPr>
        <p:spPr>
          <a:xfrm>
            <a:off x="713232" y="1810512"/>
            <a:ext cx="548640" cy="548640"/>
          </a:xfrm>
          <a:prstGeom prst="ellipse">
            <a:avLst/>
          </a:prstGeom>
          <a:solidFill>
            <a:schemeClr val="accent1"/>
          </a:solidFill>
          <a:ln w="12700">
            <a:solidFill>
              <a:schemeClr val="accent1"/>
            </a:solidFill>
            <a:prstDash val="solid"/>
          </a:ln>
        </p:spPr>
      </p:sp>
      <p:sp>
        <p:nvSpPr>
          <p:cNvPr id="5" name="Text 3"/>
          <p:cNvSpPr txBox="1"/>
          <p:nvPr/>
        </p:nvSpPr>
        <p:spPr>
          <a:xfrm>
            <a:off x="713232" y="1810512"/>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508760" y="1691640"/>
            <a:ext cx="9966960" cy="786384"/>
          </a:xfrm>
          <a:prstGeom prst="rect">
            <a:avLst/>
          </a:prstGeom>
          <a:noFill/>
          <a:ln/>
        </p:spPr>
        <p:txBody>
          <a:bodyPr wrap="square" lIns="0" tIns="0" rIns="0" bIns="0" rtlCol="0" anchor="ctr"/>
          <a:lstStyle/>
          <a:p>
            <a:pPr indent="0" marL="0">
              <a:buNone/>
            </a:pPr>
            <a:r>
              <a:rPr lang="en-US" sz="2100" dirty="0">
                <a:solidFill>
                  <a:schemeClr val="tx1"/>
                </a:solidFill>
              </a:rPr>
              <a:t>The four perceptions are mostly studied in isolation or in pairs</a:t>
            </a:r>
            <a:endParaRPr lang="en-US" sz="2100" dirty="0"/>
          </a:p>
        </p:txBody>
      </p:sp>
      <p:sp>
        <p:nvSpPr>
          <p:cNvPr id="7" name="Gap 2"/>
          <p:cNvSpPr/>
          <p:nvPr/>
        </p:nvSpPr>
        <p:spPr>
          <a:xfrm>
            <a:off x="548640" y="2624328"/>
            <a:ext cx="11091672" cy="786384"/>
          </a:xfrm>
          <a:prstGeom prst="rect">
            <a:avLst/>
          </a:prstGeom>
          <a:solidFill>
            <a:schemeClr val="bg2"/>
          </a:solidFill>
          <a:ln w="12700">
            <a:solidFill>
              <a:schemeClr val="bg2"/>
            </a:solidFill>
            <a:prstDash val="solid"/>
          </a:ln>
        </p:spPr>
      </p:sp>
      <p:sp>
        <p:nvSpPr>
          <p:cNvPr id="8" name="Gap number 2"/>
          <p:cNvSpPr/>
          <p:nvPr/>
        </p:nvSpPr>
        <p:spPr>
          <a:xfrm>
            <a:off x="713232" y="2743200"/>
            <a:ext cx="548640" cy="548640"/>
          </a:xfrm>
          <a:prstGeom prst="ellipse">
            <a:avLst/>
          </a:prstGeom>
          <a:solidFill>
            <a:schemeClr val="accent4"/>
          </a:solidFill>
          <a:ln w="12700">
            <a:solidFill>
              <a:schemeClr val="accent4"/>
            </a:solidFill>
            <a:prstDash val="solid"/>
          </a:ln>
        </p:spPr>
      </p:sp>
      <p:sp>
        <p:nvSpPr>
          <p:cNvPr id="9" name="Text 7"/>
          <p:cNvSpPr txBox="1"/>
          <p:nvPr/>
        </p:nvSpPr>
        <p:spPr>
          <a:xfrm>
            <a:off x="713232" y="27432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508760" y="2624328"/>
            <a:ext cx="9966960" cy="786384"/>
          </a:xfrm>
          <a:prstGeom prst="rect">
            <a:avLst/>
          </a:prstGeom>
          <a:noFill/>
          <a:ln/>
        </p:spPr>
        <p:txBody>
          <a:bodyPr wrap="square" lIns="0" tIns="0" rIns="0" bIns="0" rtlCol="0" anchor="ctr"/>
          <a:lstStyle/>
          <a:p>
            <a:pPr indent="0" marL="0">
              <a:buNone/>
            </a:pPr>
            <a:r>
              <a:rPr lang="en-US" sz="2100" dirty="0">
                <a:solidFill>
                  <a:schemeClr val="tx1"/>
                </a:solidFill>
              </a:rPr>
              <a:t>Anthropomorphism vs authenticity as drivers of trust is untested</a:t>
            </a:r>
            <a:endParaRPr lang="en-US" sz="2100" dirty="0"/>
          </a:p>
        </p:txBody>
      </p:sp>
      <p:sp>
        <p:nvSpPr>
          <p:cNvPr id="11" name="Gap 3"/>
          <p:cNvSpPr/>
          <p:nvPr/>
        </p:nvSpPr>
        <p:spPr>
          <a:xfrm>
            <a:off x="548640" y="3557016"/>
            <a:ext cx="11091672" cy="786384"/>
          </a:xfrm>
          <a:prstGeom prst="rect">
            <a:avLst/>
          </a:prstGeom>
          <a:solidFill>
            <a:schemeClr val="bg2"/>
          </a:solidFill>
          <a:ln w="12700">
            <a:solidFill>
              <a:schemeClr val="bg2"/>
            </a:solidFill>
            <a:prstDash val="solid"/>
          </a:ln>
        </p:spPr>
      </p:sp>
      <p:sp>
        <p:nvSpPr>
          <p:cNvPr id="12" name="Gap number 3"/>
          <p:cNvSpPr/>
          <p:nvPr/>
        </p:nvSpPr>
        <p:spPr>
          <a:xfrm>
            <a:off x="713232" y="3675888"/>
            <a:ext cx="548640" cy="548640"/>
          </a:xfrm>
          <a:prstGeom prst="ellipse">
            <a:avLst/>
          </a:prstGeom>
          <a:solidFill>
            <a:schemeClr val="accent1"/>
          </a:solidFill>
          <a:ln w="12700">
            <a:solidFill>
              <a:schemeClr val="accent1"/>
            </a:solidFill>
            <a:prstDash val="solid"/>
          </a:ln>
        </p:spPr>
      </p:sp>
      <p:sp>
        <p:nvSpPr>
          <p:cNvPr id="13" name="Text 11"/>
          <p:cNvSpPr txBox="1"/>
          <p:nvPr/>
        </p:nvSpPr>
        <p:spPr>
          <a:xfrm>
            <a:off x="713232" y="367588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508760" y="3557016"/>
            <a:ext cx="9966960" cy="786384"/>
          </a:xfrm>
          <a:prstGeom prst="rect">
            <a:avLst/>
          </a:prstGeom>
          <a:noFill/>
          <a:ln/>
        </p:spPr>
        <p:txBody>
          <a:bodyPr wrap="square" lIns="0" tIns="0" rIns="0" bIns="0" rtlCol="0" anchor="ctr"/>
          <a:lstStyle/>
          <a:p>
            <a:pPr indent="0" marL="0">
              <a:buNone/>
            </a:pPr>
            <a:r>
              <a:rPr lang="en-US" sz="2100" dirty="0">
                <a:solidFill>
                  <a:schemeClr val="tx1"/>
                </a:solidFill>
              </a:rPr>
              <a:t>Homophily is rarely studied with the other perceptions</a:t>
            </a:r>
            <a:endParaRPr lang="en-US" sz="2100" dirty="0"/>
          </a:p>
        </p:txBody>
      </p:sp>
      <p:sp>
        <p:nvSpPr>
          <p:cNvPr id="15" name="Gap 4"/>
          <p:cNvSpPr/>
          <p:nvPr/>
        </p:nvSpPr>
        <p:spPr>
          <a:xfrm>
            <a:off x="548640" y="4489704"/>
            <a:ext cx="11091672" cy="786384"/>
          </a:xfrm>
          <a:prstGeom prst="rect">
            <a:avLst/>
          </a:prstGeom>
          <a:solidFill>
            <a:schemeClr val="bg2"/>
          </a:solidFill>
          <a:ln w="12700">
            <a:solidFill>
              <a:schemeClr val="bg2"/>
            </a:solidFill>
            <a:prstDash val="solid"/>
          </a:ln>
        </p:spPr>
      </p:sp>
      <p:sp>
        <p:nvSpPr>
          <p:cNvPr id="16" name="Gap number 4"/>
          <p:cNvSpPr/>
          <p:nvPr/>
        </p:nvSpPr>
        <p:spPr>
          <a:xfrm>
            <a:off x="713232" y="4608576"/>
            <a:ext cx="548640" cy="548640"/>
          </a:xfrm>
          <a:prstGeom prst="ellipse">
            <a:avLst/>
          </a:prstGeom>
          <a:solidFill>
            <a:schemeClr val="accent4"/>
          </a:solidFill>
          <a:ln w="12700">
            <a:solidFill>
              <a:schemeClr val="accent4"/>
            </a:solidFill>
            <a:prstDash val="solid"/>
          </a:ln>
        </p:spPr>
      </p:sp>
      <p:sp>
        <p:nvSpPr>
          <p:cNvPr id="17" name="Text 15"/>
          <p:cNvSpPr txBox="1"/>
          <p:nvPr/>
        </p:nvSpPr>
        <p:spPr>
          <a:xfrm>
            <a:off x="713232" y="4608576"/>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508760" y="4489704"/>
            <a:ext cx="9966960" cy="786384"/>
          </a:xfrm>
          <a:prstGeom prst="rect">
            <a:avLst/>
          </a:prstGeom>
          <a:noFill/>
          <a:ln/>
        </p:spPr>
        <p:txBody>
          <a:bodyPr wrap="square" lIns="0" tIns="0" rIns="0" bIns="0" rtlCol="0" anchor="ctr"/>
          <a:lstStyle/>
          <a:p>
            <a:pPr indent="0" marL="0">
              <a:buNone/>
            </a:pPr>
            <a:r>
              <a:rPr lang="en-US" sz="2100" dirty="0">
                <a:solidFill>
                  <a:schemeClr val="tx1"/>
                </a:solidFill>
              </a:rPr>
              <a:t>Few studies test trust as the common route to purchase intention</a:t>
            </a:r>
            <a:endParaRPr lang="en-US" sz="2100" dirty="0"/>
          </a:p>
        </p:txBody>
      </p:sp>
      <p:sp>
        <p:nvSpPr>
          <p:cNvPr id="19" name="Gap 5"/>
          <p:cNvSpPr/>
          <p:nvPr/>
        </p:nvSpPr>
        <p:spPr>
          <a:xfrm>
            <a:off x="548640" y="5422392"/>
            <a:ext cx="11091672" cy="786384"/>
          </a:xfrm>
          <a:prstGeom prst="rect">
            <a:avLst/>
          </a:prstGeom>
          <a:solidFill>
            <a:schemeClr val="bg2"/>
          </a:solidFill>
          <a:ln w="12700">
            <a:solidFill>
              <a:schemeClr val="bg2"/>
            </a:solidFill>
            <a:prstDash val="solid"/>
          </a:ln>
        </p:spPr>
      </p:sp>
      <p:sp>
        <p:nvSpPr>
          <p:cNvPr id="20" name="Gap number 5"/>
          <p:cNvSpPr/>
          <p:nvPr/>
        </p:nvSpPr>
        <p:spPr>
          <a:xfrm>
            <a:off x="713232" y="5541264"/>
            <a:ext cx="548640" cy="548640"/>
          </a:xfrm>
          <a:prstGeom prst="ellipse">
            <a:avLst/>
          </a:prstGeom>
          <a:solidFill>
            <a:schemeClr val="accent1"/>
          </a:solidFill>
          <a:ln w="12700">
            <a:solidFill>
              <a:schemeClr val="accent1"/>
            </a:solidFill>
            <a:prstDash val="solid"/>
          </a:ln>
        </p:spPr>
      </p:sp>
      <p:sp>
        <p:nvSpPr>
          <p:cNvPr id="21" name="Text 19"/>
          <p:cNvSpPr txBox="1"/>
          <p:nvPr/>
        </p:nvSpPr>
        <p:spPr>
          <a:xfrm>
            <a:off x="713232" y="5541264"/>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2" name="Text 20"/>
          <p:cNvSpPr txBox="1"/>
          <p:nvPr/>
        </p:nvSpPr>
        <p:spPr>
          <a:xfrm>
            <a:off x="1508760" y="5422392"/>
            <a:ext cx="9966960" cy="786384"/>
          </a:xfrm>
          <a:prstGeom prst="rect">
            <a:avLst/>
          </a:prstGeom>
          <a:noFill/>
          <a:ln/>
        </p:spPr>
        <p:txBody>
          <a:bodyPr wrap="square" lIns="0" tIns="0" rIns="0" bIns="0" rtlCol="0" anchor="ctr"/>
          <a:lstStyle/>
          <a:p>
            <a:pPr indent="0" marL="0">
              <a:buNone/>
            </a:pPr>
            <a:r>
              <a:rPr lang="en-US" sz="2100" dirty="0">
                <a:solidFill>
                  <a:schemeClr val="tx1"/>
                </a:solidFill>
              </a:rPr>
              <a:t>Evidence from Indian Gen Z is limited and contradictory</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OBJECTIVES</a:t>
            </a:r>
            <a:endParaRPr lang="en-US" sz="2800" dirty="0"/>
          </a:p>
        </p:txBody>
      </p:sp>
      <p:sp>
        <p:nvSpPr>
          <p:cNvPr id="3" name="Target circle"/>
          <p:cNvSpPr/>
          <p:nvPr/>
        </p:nvSpPr>
        <p:spPr>
          <a:xfrm>
            <a:off x="914400" y="2377440"/>
            <a:ext cx="1828800" cy="1828800"/>
          </a:xfrm>
          <a:prstGeom prst="ellipse">
            <a:avLst/>
          </a:prstGeom>
          <a:solidFill>
            <a:schemeClr val="accent1"/>
          </a:solidFill>
          <a:ln w="12700">
            <a:solidFill>
              <a:schemeClr val="accent1"/>
            </a:solidFill>
            <a:prstDash val="solid"/>
          </a:ln>
        </p:spPr>
      </p:sp>
      <p:pic>
        <p:nvPicPr>
          <p:cNvPr id="4" name="Target icon" descr="preencoded.png">    </p:cNvPr>
          <p:cNvPicPr>
            <a:picLocks noChangeAspect="1"/>
          </p:cNvPicPr>
          <p:nvPr/>
        </p:nvPicPr>
        <p:blipFill>
          <a:blip r:embed="rId1"/>
          <a:stretch>
            <a:fillRect/>
          </a:stretch>
        </p:blipFill>
        <p:spPr>
          <a:xfrm>
            <a:off x="1371600" y="2834640"/>
            <a:ext cx="914400" cy="914400"/>
          </a:xfrm>
          <a:prstGeom prst="rect">
            <a:avLst/>
          </a:prstGeom>
        </p:spPr>
      </p:pic>
      <p:sp>
        <p:nvSpPr>
          <p:cNvPr id="5" name="Objectives box"/>
          <p:cNvSpPr/>
          <p:nvPr/>
        </p:nvSpPr>
        <p:spPr>
          <a:xfrm>
            <a:off x="3154680" y="1691640"/>
            <a:ext cx="8485632" cy="4480560"/>
          </a:xfrm>
          <a:prstGeom prst="rect">
            <a:avLst/>
          </a:prstGeom>
          <a:solidFill>
            <a:schemeClr val="bg2"/>
          </a:solidFill>
          <a:ln w="12700">
            <a:solidFill>
              <a:schemeClr val="bg2"/>
            </a:solidFill>
            <a:prstDash val="solid"/>
          </a:ln>
        </p:spPr>
      </p:sp>
      <p:sp>
        <p:nvSpPr>
          <p:cNvPr id="6" name="Text 3"/>
          <p:cNvSpPr txBox="1"/>
          <p:nvPr/>
        </p:nvSpPr>
        <p:spPr>
          <a:xfrm>
            <a:off x="3383280" y="1920240"/>
            <a:ext cx="8046720" cy="4114800"/>
          </a:xfrm>
          <a:prstGeom prst="rect">
            <a:avLst/>
          </a:prstGeom>
          <a:noFill/>
          <a:ln/>
        </p:spPr>
        <p:txBody>
          <a:bodyPr wrap="square" lIns="25400" tIns="50800" rIns="50800" bIns="25400" rtlCol="0" anchor="t"/>
          <a:lstStyle/>
          <a:p>
            <a:pPr marL="355600" indent="-355600">
              <a:spcAft>
                <a:spcPts val="2200"/>
              </a:spcAft>
              <a:buSzPct val="100000"/>
              <a:buChar char="■"/>
            </a:pPr>
            <a:r>
              <a:rPr lang="en-US" sz="2600" dirty="0">
                <a:solidFill>
                  <a:schemeClr val="tx1"/>
                </a:solidFill>
              </a:rPr>
              <a:t>To examine the influence of perceived authenticity, anthropomorphism, homophily and attractiveness of virtual influencers on Gen Z trust</a:t>
            </a:r>
            <a:endParaRPr lang="en-US" sz="2600" dirty="0"/>
          </a:p>
          <a:p>
            <a:pPr marL="355600" indent="-355600">
              <a:spcAft>
                <a:spcPts val="2200"/>
              </a:spcAft>
              <a:buSzPct val="100000"/>
              <a:buChar char="■"/>
            </a:pPr>
            <a:r>
              <a:rPr lang="en-US" sz="2600" dirty="0">
                <a:solidFill>
                  <a:schemeClr val="tx1"/>
                </a:solidFill>
              </a:rPr>
              <a:t>To examine the effect of trust on Gen Z purchase intention</a:t>
            </a:r>
            <a:endParaRPr lang="en-US" sz="2600" dirty="0"/>
          </a:p>
          <a:p>
            <a:pPr marL="355600" indent="-355600">
              <a:spcAft>
                <a:spcPts val="2200"/>
              </a:spcAft>
              <a:buSzPct val="100000"/>
              <a:buChar char="■"/>
            </a:pPr>
            <a:r>
              <a:rPr lang="en-US" sz="2600" dirty="0">
                <a:solidFill>
                  <a:schemeClr val="tx1"/>
                </a:solidFill>
              </a:rPr>
              <a:t>To analyse the mediating role of trust</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CONCEPTUAL FRAMEWORK</a:t>
            </a:r>
            <a:endParaRPr lang="en-US" sz="2800" dirty="0"/>
          </a:p>
        </p:txBody>
      </p:sp>
      <p:sp>
        <p:nvSpPr>
          <p:cNvPr id="3" name="Text 1"/>
          <p:cNvSpPr txBox="1"/>
          <p:nvPr/>
        </p:nvSpPr>
        <p:spPr>
          <a:xfrm>
            <a:off x="548640" y="1554480"/>
            <a:ext cx="3566160" cy="365760"/>
          </a:xfrm>
          <a:prstGeom prst="rect">
            <a:avLst/>
          </a:prstGeom>
          <a:noFill/>
          <a:ln/>
        </p:spPr>
        <p:txBody>
          <a:bodyPr wrap="square" lIns="0" tIns="0" rIns="0" bIns="0" rtlCol="0" anchor="ctr"/>
          <a:lstStyle/>
          <a:p>
            <a:pPr algn="ctr" indent="0" marL="0">
              <a:buNone/>
            </a:pPr>
            <a:r>
              <a:rPr lang="en-US" sz="1500" b="1" dirty="0">
                <a:solidFill>
                  <a:schemeClr val="accent3"/>
                </a:solidFill>
              </a:rPr>
              <a:t>INDEPENDENT VARIABLES</a:t>
            </a:r>
            <a:endParaRPr lang="en-US" sz="1500" dirty="0"/>
          </a:p>
        </p:txBody>
      </p:sp>
      <p:sp>
        <p:nvSpPr>
          <p:cNvPr id="4" name="Text 2"/>
          <p:cNvSpPr txBox="1"/>
          <p:nvPr/>
        </p:nvSpPr>
        <p:spPr>
          <a:xfrm>
            <a:off x="5623560" y="1554480"/>
            <a:ext cx="2377440" cy="365760"/>
          </a:xfrm>
          <a:prstGeom prst="rect">
            <a:avLst/>
          </a:prstGeom>
          <a:noFill/>
          <a:ln/>
        </p:spPr>
        <p:txBody>
          <a:bodyPr wrap="square" lIns="0" tIns="0" rIns="0" bIns="0" rtlCol="0" anchor="ctr"/>
          <a:lstStyle/>
          <a:p>
            <a:pPr algn="ctr" indent="0" marL="0">
              <a:buNone/>
            </a:pPr>
            <a:r>
              <a:rPr lang="en-US" sz="1500" b="1" dirty="0">
                <a:solidFill>
                  <a:schemeClr val="accent3"/>
                </a:solidFill>
              </a:rPr>
              <a:t>MEDIATOR</a:t>
            </a:r>
            <a:endParaRPr lang="en-US" sz="1500" dirty="0"/>
          </a:p>
        </p:txBody>
      </p:sp>
      <p:sp>
        <p:nvSpPr>
          <p:cNvPr id="5" name="Text 3"/>
          <p:cNvSpPr txBox="1"/>
          <p:nvPr/>
        </p:nvSpPr>
        <p:spPr>
          <a:xfrm>
            <a:off x="8778240" y="1554480"/>
            <a:ext cx="2880360" cy="365760"/>
          </a:xfrm>
          <a:prstGeom prst="rect">
            <a:avLst/>
          </a:prstGeom>
          <a:noFill/>
          <a:ln/>
        </p:spPr>
        <p:txBody>
          <a:bodyPr wrap="square" lIns="0" tIns="0" rIns="0" bIns="0" rtlCol="0" anchor="ctr"/>
          <a:lstStyle/>
          <a:p>
            <a:pPr algn="ctr" indent="0" marL="0">
              <a:buNone/>
            </a:pPr>
            <a:r>
              <a:rPr lang="en-US" sz="1500" b="1" dirty="0">
                <a:solidFill>
                  <a:schemeClr val="accent3"/>
                </a:solidFill>
              </a:rPr>
              <a:t>DEPENDENT VARIABLE</a:t>
            </a:r>
            <a:endParaRPr lang="en-US" sz="1500" dirty="0"/>
          </a:p>
        </p:txBody>
      </p:sp>
      <p:sp>
        <p:nvSpPr>
          <p:cNvPr id="6" name="Perceived Authenticity box"/>
          <p:cNvSpPr/>
          <p:nvPr/>
        </p:nvSpPr>
        <p:spPr>
          <a:xfrm>
            <a:off x="548640" y="2011680"/>
            <a:ext cx="3566160" cy="822960"/>
          </a:xfrm>
          <a:prstGeom prst="roundRect">
            <a:avLst>
              <a:gd name="adj" fmla="val 11111"/>
            </a:avLst>
          </a:prstGeom>
          <a:solidFill>
            <a:schemeClr val="bg2"/>
          </a:solidFill>
          <a:ln w="19050">
            <a:solidFill>
              <a:schemeClr val="tx2"/>
            </a:solidFill>
            <a:prstDash val="solid"/>
          </a:ln>
        </p:spPr>
      </p:sp>
      <p:sp>
        <p:nvSpPr>
          <p:cNvPr id="7" name="Text 5"/>
          <p:cNvSpPr txBox="1"/>
          <p:nvPr/>
        </p:nvSpPr>
        <p:spPr>
          <a:xfrm>
            <a:off x="548640" y="2011680"/>
            <a:ext cx="3566160" cy="822960"/>
          </a:xfrm>
          <a:prstGeom prst="rect">
            <a:avLst/>
          </a:prstGeom>
          <a:noFill/>
          <a:ln/>
        </p:spPr>
        <p:txBody>
          <a:bodyPr wrap="square" rtlCol="0" anchor="ctr"/>
          <a:lstStyle/>
          <a:p>
            <a:pPr algn="ctr" indent="0" marL="0">
              <a:buNone/>
            </a:pPr>
            <a:r>
              <a:rPr lang="en-US" sz="1900" b="1" dirty="0">
                <a:solidFill>
                  <a:schemeClr val="tx2"/>
                </a:solidFill>
              </a:rPr>
              <a:t>Perceived Authenticity</a:t>
            </a:r>
            <a:endParaRPr lang="en-US" sz="1900" dirty="0"/>
          </a:p>
        </p:txBody>
      </p:sp>
      <p:sp>
        <p:nvSpPr>
          <p:cNvPr id="8" name="Arrow H1"/>
          <p:cNvSpPr/>
          <p:nvPr/>
        </p:nvSpPr>
        <p:spPr>
          <a:xfrm>
            <a:off x="4114800" y="2423160"/>
            <a:ext cx="1508760" cy="1508760"/>
          </a:xfrm>
          <a:prstGeom prst="line">
            <a:avLst/>
          </a:prstGeom>
          <a:noFill/>
          <a:ln w="28575">
            <a:solidFill>
              <a:schemeClr val="accent3"/>
            </a:solidFill>
            <a:prstDash val="solid"/>
            <a:tailEnd type="triangle"/>
          </a:ln>
        </p:spPr>
      </p:sp>
      <p:sp>
        <p:nvSpPr>
          <p:cNvPr id="9" name="Label H1"/>
          <p:cNvSpPr/>
          <p:nvPr/>
        </p:nvSpPr>
        <p:spPr>
          <a:xfrm>
            <a:off x="4553712" y="2994660"/>
            <a:ext cx="585216" cy="365760"/>
          </a:xfrm>
          <a:prstGeom prst="ellipse">
            <a:avLst/>
          </a:prstGeom>
          <a:solidFill>
            <a:schemeClr val="bg1"/>
          </a:solidFill>
          <a:ln w="15875">
            <a:solidFill>
              <a:schemeClr val="accent1"/>
            </a:solidFill>
            <a:prstDash val="solid"/>
          </a:ln>
        </p:spPr>
      </p:sp>
      <p:sp>
        <p:nvSpPr>
          <p:cNvPr id="10" name="Text 8"/>
          <p:cNvSpPr txBox="1"/>
          <p:nvPr/>
        </p:nvSpPr>
        <p:spPr>
          <a:xfrm>
            <a:off x="4553712" y="2994660"/>
            <a:ext cx="585216" cy="365760"/>
          </a:xfrm>
          <a:prstGeom prst="rect">
            <a:avLst/>
          </a:prstGeom>
          <a:noFill/>
          <a:ln/>
        </p:spPr>
        <p:txBody>
          <a:bodyPr wrap="square" lIns="0" tIns="0" rIns="0" bIns="0" rtlCol="0" anchor="ctr"/>
          <a:lstStyle/>
          <a:p>
            <a:pPr algn="ctr" indent="0" marL="0">
              <a:buNone/>
            </a:pPr>
            <a:r>
              <a:rPr lang="en-US" sz="1400" b="1" dirty="0">
                <a:solidFill>
                  <a:schemeClr val="accent4"/>
                </a:solidFill>
              </a:rPr>
              <a:t>H1</a:t>
            </a:r>
            <a:endParaRPr lang="en-US" sz="1400" dirty="0"/>
          </a:p>
        </p:txBody>
      </p:sp>
      <p:sp>
        <p:nvSpPr>
          <p:cNvPr id="11" name="Perceived Anthropomorphism box"/>
          <p:cNvSpPr/>
          <p:nvPr/>
        </p:nvSpPr>
        <p:spPr>
          <a:xfrm>
            <a:off x="548640" y="3090672"/>
            <a:ext cx="3566160" cy="822960"/>
          </a:xfrm>
          <a:prstGeom prst="roundRect">
            <a:avLst>
              <a:gd name="adj" fmla="val 11111"/>
            </a:avLst>
          </a:prstGeom>
          <a:solidFill>
            <a:schemeClr val="bg2"/>
          </a:solidFill>
          <a:ln w="19050">
            <a:solidFill>
              <a:schemeClr val="tx2"/>
            </a:solidFill>
            <a:prstDash val="solid"/>
          </a:ln>
        </p:spPr>
      </p:sp>
      <p:sp>
        <p:nvSpPr>
          <p:cNvPr id="12" name="Text 10"/>
          <p:cNvSpPr txBox="1"/>
          <p:nvPr/>
        </p:nvSpPr>
        <p:spPr>
          <a:xfrm>
            <a:off x="548640" y="3090672"/>
            <a:ext cx="3566160" cy="822960"/>
          </a:xfrm>
          <a:prstGeom prst="rect">
            <a:avLst/>
          </a:prstGeom>
          <a:noFill/>
          <a:ln/>
        </p:spPr>
        <p:txBody>
          <a:bodyPr wrap="square" rtlCol="0" anchor="ctr"/>
          <a:lstStyle/>
          <a:p>
            <a:pPr algn="ctr" indent="0" marL="0">
              <a:buNone/>
            </a:pPr>
            <a:r>
              <a:rPr lang="en-US" sz="1900" b="1" dirty="0">
                <a:solidFill>
                  <a:schemeClr val="tx2"/>
                </a:solidFill>
              </a:rPr>
              <a:t>Perceived Anthropomorphism</a:t>
            </a:r>
            <a:endParaRPr lang="en-US" sz="1900" dirty="0"/>
          </a:p>
        </p:txBody>
      </p:sp>
      <p:sp>
        <p:nvSpPr>
          <p:cNvPr id="13" name="Arrow H2"/>
          <p:cNvSpPr/>
          <p:nvPr/>
        </p:nvSpPr>
        <p:spPr>
          <a:xfrm>
            <a:off x="4114800" y="3502152"/>
            <a:ext cx="1508760" cy="429768"/>
          </a:xfrm>
          <a:prstGeom prst="line">
            <a:avLst/>
          </a:prstGeom>
          <a:noFill/>
          <a:ln w="28575">
            <a:solidFill>
              <a:schemeClr val="accent3"/>
            </a:solidFill>
            <a:prstDash val="solid"/>
            <a:tailEnd type="triangle"/>
          </a:ln>
        </p:spPr>
      </p:sp>
      <p:sp>
        <p:nvSpPr>
          <p:cNvPr id="14" name="Label H2"/>
          <p:cNvSpPr/>
          <p:nvPr/>
        </p:nvSpPr>
        <p:spPr>
          <a:xfrm>
            <a:off x="4553712" y="3534156"/>
            <a:ext cx="585216" cy="365760"/>
          </a:xfrm>
          <a:prstGeom prst="ellipse">
            <a:avLst/>
          </a:prstGeom>
          <a:solidFill>
            <a:schemeClr val="bg1"/>
          </a:solidFill>
          <a:ln w="15875">
            <a:solidFill>
              <a:schemeClr val="accent1"/>
            </a:solidFill>
            <a:prstDash val="solid"/>
          </a:ln>
        </p:spPr>
      </p:sp>
      <p:sp>
        <p:nvSpPr>
          <p:cNvPr id="15" name="Text 13"/>
          <p:cNvSpPr txBox="1"/>
          <p:nvPr/>
        </p:nvSpPr>
        <p:spPr>
          <a:xfrm>
            <a:off x="4553712" y="3534156"/>
            <a:ext cx="585216" cy="365760"/>
          </a:xfrm>
          <a:prstGeom prst="rect">
            <a:avLst/>
          </a:prstGeom>
          <a:noFill/>
          <a:ln/>
        </p:spPr>
        <p:txBody>
          <a:bodyPr wrap="square" lIns="0" tIns="0" rIns="0" bIns="0" rtlCol="0" anchor="ctr"/>
          <a:lstStyle/>
          <a:p>
            <a:pPr algn="ctr" indent="0" marL="0">
              <a:buNone/>
            </a:pPr>
            <a:r>
              <a:rPr lang="en-US" sz="1400" b="1" dirty="0">
                <a:solidFill>
                  <a:schemeClr val="accent4"/>
                </a:solidFill>
              </a:rPr>
              <a:t>H2</a:t>
            </a:r>
            <a:endParaRPr lang="en-US" sz="1400" dirty="0"/>
          </a:p>
        </p:txBody>
      </p:sp>
      <p:sp>
        <p:nvSpPr>
          <p:cNvPr id="16" name="Perceived Homophily box"/>
          <p:cNvSpPr/>
          <p:nvPr/>
        </p:nvSpPr>
        <p:spPr>
          <a:xfrm>
            <a:off x="548640" y="4169664"/>
            <a:ext cx="3566160" cy="822960"/>
          </a:xfrm>
          <a:prstGeom prst="roundRect">
            <a:avLst>
              <a:gd name="adj" fmla="val 11111"/>
            </a:avLst>
          </a:prstGeom>
          <a:solidFill>
            <a:schemeClr val="bg2"/>
          </a:solidFill>
          <a:ln w="19050">
            <a:solidFill>
              <a:schemeClr val="tx2"/>
            </a:solidFill>
            <a:prstDash val="solid"/>
          </a:ln>
        </p:spPr>
      </p:sp>
      <p:sp>
        <p:nvSpPr>
          <p:cNvPr id="17" name="Text 15"/>
          <p:cNvSpPr txBox="1"/>
          <p:nvPr/>
        </p:nvSpPr>
        <p:spPr>
          <a:xfrm>
            <a:off x="548640" y="4169664"/>
            <a:ext cx="3566160" cy="822960"/>
          </a:xfrm>
          <a:prstGeom prst="rect">
            <a:avLst/>
          </a:prstGeom>
          <a:noFill/>
          <a:ln/>
        </p:spPr>
        <p:txBody>
          <a:bodyPr wrap="square" rtlCol="0" anchor="ctr"/>
          <a:lstStyle/>
          <a:p>
            <a:pPr algn="ctr" indent="0" marL="0">
              <a:buNone/>
            </a:pPr>
            <a:r>
              <a:rPr lang="en-US" sz="1900" b="1" dirty="0">
                <a:solidFill>
                  <a:schemeClr val="tx2"/>
                </a:solidFill>
              </a:rPr>
              <a:t>Perceived Homophily</a:t>
            </a:r>
            <a:endParaRPr lang="en-US" sz="1900" dirty="0"/>
          </a:p>
        </p:txBody>
      </p:sp>
      <p:sp>
        <p:nvSpPr>
          <p:cNvPr id="18" name="Arrow H3"/>
          <p:cNvSpPr/>
          <p:nvPr/>
        </p:nvSpPr>
        <p:spPr>
          <a:xfrm flipV="1">
            <a:off x="4114800" y="3931920"/>
            <a:ext cx="1508760" cy="649224"/>
          </a:xfrm>
          <a:prstGeom prst="line">
            <a:avLst/>
          </a:prstGeom>
          <a:noFill/>
          <a:ln w="28575">
            <a:solidFill>
              <a:schemeClr val="accent3"/>
            </a:solidFill>
            <a:prstDash val="solid"/>
            <a:tailEnd type="triangle"/>
          </a:ln>
        </p:spPr>
      </p:sp>
      <p:sp>
        <p:nvSpPr>
          <p:cNvPr id="19" name="Label H3"/>
          <p:cNvSpPr/>
          <p:nvPr/>
        </p:nvSpPr>
        <p:spPr>
          <a:xfrm>
            <a:off x="4553712" y="4073652"/>
            <a:ext cx="585216" cy="365760"/>
          </a:xfrm>
          <a:prstGeom prst="ellipse">
            <a:avLst/>
          </a:prstGeom>
          <a:solidFill>
            <a:schemeClr val="bg1"/>
          </a:solidFill>
          <a:ln w="15875">
            <a:solidFill>
              <a:schemeClr val="accent1"/>
            </a:solidFill>
            <a:prstDash val="solid"/>
          </a:ln>
        </p:spPr>
      </p:sp>
      <p:sp>
        <p:nvSpPr>
          <p:cNvPr id="20" name="Text 18"/>
          <p:cNvSpPr txBox="1"/>
          <p:nvPr/>
        </p:nvSpPr>
        <p:spPr>
          <a:xfrm>
            <a:off x="4553712" y="4073652"/>
            <a:ext cx="585216" cy="365760"/>
          </a:xfrm>
          <a:prstGeom prst="rect">
            <a:avLst/>
          </a:prstGeom>
          <a:noFill/>
          <a:ln/>
        </p:spPr>
        <p:txBody>
          <a:bodyPr wrap="square" lIns="0" tIns="0" rIns="0" bIns="0" rtlCol="0" anchor="ctr"/>
          <a:lstStyle/>
          <a:p>
            <a:pPr algn="ctr" indent="0" marL="0">
              <a:buNone/>
            </a:pPr>
            <a:r>
              <a:rPr lang="en-US" sz="1400" b="1" dirty="0">
                <a:solidFill>
                  <a:schemeClr val="accent4"/>
                </a:solidFill>
              </a:rPr>
              <a:t>H3</a:t>
            </a:r>
            <a:endParaRPr lang="en-US" sz="1400" dirty="0"/>
          </a:p>
        </p:txBody>
      </p:sp>
      <p:sp>
        <p:nvSpPr>
          <p:cNvPr id="21" name="Perceived Attractiveness box"/>
          <p:cNvSpPr/>
          <p:nvPr/>
        </p:nvSpPr>
        <p:spPr>
          <a:xfrm>
            <a:off x="548640" y="5248656"/>
            <a:ext cx="3566160" cy="822960"/>
          </a:xfrm>
          <a:prstGeom prst="roundRect">
            <a:avLst>
              <a:gd name="adj" fmla="val 11111"/>
            </a:avLst>
          </a:prstGeom>
          <a:solidFill>
            <a:schemeClr val="bg2"/>
          </a:solidFill>
          <a:ln w="19050">
            <a:solidFill>
              <a:schemeClr val="tx2"/>
            </a:solidFill>
            <a:prstDash val="solid"/>
          </a:ln>
        </p:spPr>
      </p:sp>
      <p:sp>
        <p:nvSpPr>
          <p:cNvPr id="22" name="Text 20"/>
          <p:cNvSpPr txBox="1"/>
          <p:nvPr/>
        </p:nvSpPr>
        <p:spPr>
          <a:xfrm>
            <a:off x="548640" y="5248656"/>
            <a:ext cx="3566160" cy="822960"/>
          </a:xfrm>
          <a:prstGeom prst="rect">
            <a:avLst/>
          </a:prstGeom>
          <a:noFill/>
          <a:ln/>
        </p:spPr>
        <p:txBody>
          <a:bodyPr wrap="square" rtlCol="0" anchor="ctr"/>
          <a:lstStyle/>
          <a:p>
            <a:pPr algn="ctr" indent="0" marL="0">
              <a:buNone/>
            </a:pPr>
            <a:r>
              <a:rPr lang="en-US" sz="1900" b="1" dirty="0">
                <a:solidFill>
                  <a:schemeClr val="tx2"/>
                </a:solidFill>
              </a:rPr>
              <a:t>Perceived Attractiveness</a:t>
            </a:r>
            <a:endParaRPr lang="en-US" sz="1900" dirty="0"/>
          </a:p>
        </p:txBody>
      </p:sp>
      <p:sp>
        <p:nvSpPr>
          <p:cNvPr id="23" name="Arrow H4"/>
          <p:cNvSpPr/>
          <p:nvPr/>
        </p:nvSpPr>
        <p:spPr>
          <a:xfrm flipV="1">
            <a:off x="4114800" y="3931920"/>
            <a:ext cx="1508760" cy="1728216"/>
          </a:xfrm>
          <a:prstGeom prst="line">
            <a:avLst/>
          </a:prstGeom>
          <a:noFill/>
          <a:ln w="28575">
            <a:solidFill>
              <a:schemeClr val="accent3"/>
            </a:solidFill>
            <a:prstDash val="solid"/>
            <a:tailEnd type="triangle"/>
          </a:ln>
        </p:spPr>
      </p:sp>
      <p:sp>
        <p:nvSpPr>
          <p:cNvPr id="24" name="Label H4"/>
          <p:cNvSpPr/>
          <p:nvPr/>
        </p:nvSpPr>
        <p:spPr>
          <a:xfrm>
            <a:off x="4553712" y="4613148"/>
            <a:ext cx="585216" cy="365760"/>
          </a:xfrm>
          <a:prstGeom prst="ellipse">
            <a:avLst/>
          </a:prstGeom>
          <a:solidFill>
            <a:schemeClr val="bg1"/>
          </a:solidFill>
          <a:ln w="15875">
            <a:solidFill>
              <a:schemeClr val="accent1"/>
            </a:solidFill>
            <a:prstDash val="solid"/>
          </a:ln>
        </p:spPr>
      </p:sp>
      <p:sp>
        <p:nvSpPr>
          <p:cNvPr id="25" name="Text 23"/>
          <p:cNvSpPr txBox="1"/>
          <p:nvPr/>
        </p:nvSpPr>
        <p:spPr>
          <a:xfrm>
            <a:off x="4553712" y="4613148"/>
            <a:ext cx="585216" cy="365760"/>
          </a:xfrm>
          <a:prstGeom prst="rect">
            <a:avLst/>
          </a:prstGeom>
          <a:noFill/>
          <a:ln/>
        </p:spPr>
        <p:txBody>
          <a:bodyPr wrap="square" lIns="0" tIns="0" rIns="0" bIns="0" rtlCol="0" anchor="ctr"/>
          <a:lstStyle/>
          <a:p>
            <a:pPr algn="ctr" indent="0" marL="0">
              <a:buNone/>
            </a:pPr>
            <a:r>
              <a:rPr lang="en-US" sz="1400" b="1" dirty="0">
                <a:solidFill>
                  <a:schemeClr val="accent4"/>
                </a:solidFill>
              </a:rPr>
              <a:t>H4</a:t>
            </a:r>
            <a:endParaRPr lang="en-US" sz="1400" dirty="0"/>
          </a:p>
        </p:txBody>
      </p:sp>
      <p:sp>
        <p:nvSpPr>
          <p:cNvPr id="26" name="Trust box"/>
          <p:cNvSpPr/>
          <p:nvPr/>
        </p:nvSpPr>
        <p:spPr>
          <a:xfrm>
            <a:off x="5623560" y="3337560"/>
            <a:ext cx="2377440" cy="1188720"/>
          </a:xfrm>
          <a:prstGeom prst="roundRect">
            <a:avLst>
              <a:gd name="adj" fmla="val 9231"/>
            </a:avLst>
          </a:prstGeom>
          <a:solidFill>
            <a:schemeClr val="accent1"/>
          </a:solidFill>
          <a:ln w="12700">
            <a:solidFill>
              <a:schemeClr val="accent1"/>
            </a:solidFill>
            <a:prstDash val="solid"/>
          </a:ln>
        </p:spPr>
      </p:sp>
      <p:sp>
        <p:nvSpPr>
          <p:cNvPr id="27" name="Text 25"/>
          <p:cNvSpPr txBox="1"/>
          <p:nvPr/>
        </p:nvSpPr>
        <p:spPr>
          <a:xfrm>
            <a:off x="5623560" y="3337560"/>
            <a:ext cx="2377440" cy="1188720"/>
          </a:xfrm>
          <a:prstGeom prst="rect">
            <a:avLst/>
          </a:prstGeom>
          <a:noFill/>
          <a:ln/>
        </p:spPr>
        <p:txBody>
          <a:bodyPr wrap="square" rtlCol="0" anchor="ctr"/>
          <a:lstStyle/>
          <a:p>
            <a:pPr algn="ctr" indent="0" marL="0">
              <a:buNone/>
            </a:pPr>
            <a:r>
              <a:rPr lang="en-US" sz="2600" b="1" dirty="0">
                <a:solidFill>
                  <a:schemeClr val="bg1"/>
                </a:solidFill>
              </a:rPr>
              <a:t>TRUST</a:t>
            </a:r>
            <a:endParaRPr lang="en-US" sz="2600" dirty="0"/>
          </a:p>
        </p:txBody>
      </p:sp>
      <p:sp>
        <p:nvSpPr>
          <p:cNvPr id="28" name="Arrow H5"/>
          <p:cNvSpPr/>
          <p:nvPr/>
        </p:nvSpPr>
        <p:spPr>
          <a:xfrm>
            <a:off x="8001000" y="3931920"/>
            <a:ext cx="777240" cy="0"/>
          </a:xfrm>
          <a:prstGeom prst="line">
            <a:avLst/>
          </a:prstGeom>
          <a:noFill/>
          <a:ln w="38100">
            <a:solidFill>
              <a:schemeClr val="accent3"/>
            </a:solidFill>
            <a:prstDash val="solid"/>
            <a:tailEnd type="triangle"/>
          </a:ln>
        </p:spPr>
      </p:sp>
      <p:sp>
        <p:nvSpPr>
          <p:cNvPr id="29" name="Text 27"/>
          <p:cNvSpPr txBox="1"/>
          <p:nvPr/>
        </p:nvSpPr>
        <p:spPr>
          <a:xfrm>
            <a:off x="8092440" y="3474720"/>
            <a:ext cx="594360" cy="365760"/>
          </a:xfrm>
          <a:prstGeom prst="rect">
            <a:avLst/>
          </a:prstGeom>
          <a:noFill/>
          <a:ln/>
        </p:spPr>
        <p:txBody>
          <a:bodyPr wrap="square" lIns="0" tIns="0" rIns="0" bIns="0" rtlCol="0" anchor="ctr"/>
          <a:lstStyle/>
          <a:p>
            <a:pPr algn="ctr" indent="0" marL="0">
              <a:buNone/>
            </a:pPr>
            <a:r>
              <a:rPr lang="en-US" sz="1400" b="1" dirty="0">
                <a:solidFill>
                  <a:schemeClr val="accent4"/>
                </a:solidFill>
              </a:rPr>
              <a:t>H5</a:t>
            </a:r>
            <a:endParaRPr lang="en-US" sz="1400" dirty="0"/>
          </a:p>
        </p:txBody>
      </p:sp>
      <p:sp>
        <p:nvSpPr>
          <p:cNvPr id="30" name="Purchase intention box"/>
          <p:cNvSpPr/>
          <p:nvPr/>
        </p:nvSpPr>
        <p:spPr>
          <a:xfrm>
            <a:off x="8778240" y="3337560"/>
            <a:ext cx="2880360" cy="1188720"/>
          </a:xfrm>
          <a:prstGeom prst="roundRect">
            <a:avLst>
              <a:gd name="adj" fmla="val 9231"/>
            </a:avLst>
          </a:prstGeom>
          <a:solidFill>
            <a:schemeClr val="accent4"/>
          </a:solidFill>
          <a:ln w="12700">
            <a:solidFill>
              <a:schemeClr val="accent4"/>
            </a:solidFill>
            <a:prstDash val="solid"/>
          </a:ln>
        </p:spPr>
      </p:sp>
      <p:sp>
        <p:nvSpPr>
          <p:cNvPr id="31" name="Text 29"/>
          <p:cNvSpPr txBox="1"/>
          <p:nvPr/>
        </p:nvSpPr>
        <p:spPr>
          <a:xfrm>
            <a:off x="8778240" y="3337560"/>
            <a:ext cx="2880360" cy="1188720"/>
          </a:xfrm>
          <a:prstGeom prst="rect">
            <a:avLst/>
          </a:prstGeom>
          <a:noFill/>
          <a:ln/>
        </p:spPr>
        <p:txBody>
          <a:bodyPr wrap="square" rtlCol="0" anchor="ctr"/>
          <a:lstStyle/>
          <a:p>
            <a:pPr algn="ctr" indent="0" marL="0">
              <a:buNone/>
            </a:pPr>
            <a:r>
              <a:rPr lang="en-US" sz="2200" b="1" dirty="0">
                <a:solidFill>
                  <a:schemeClr val="bg1"/>
                </a:solidFill>
              </a:rPr>
              <a:t>PURCHASE INTENTION</a:t>
            </a:r>
            <a:endParaRPr lang="en-US" sz="2200" dirty="0"/>
          </a:p>
        </p:txBody>
      </p:sp>
      <p:sp>
        <p:nvSpPr>
          <p:cNvPr id="32" name="Text 30"/>
          <p:cNvSpPr txBox="1"/>
          <p:nvPr/>
        </p:nvSpPr>
        <p:spPr>
          <a:xfrm>
            <a:off x="5623560" y="5257800"/>
            <a:ext cx="6035040" cy="457200"/>
          </a:xfrm>
          <a:prstGeom prst="rect">
            <a:avLst/>
          </a:prstGeom>
          <a:noFill/>
          <a:ln/>
        </p:spPr>
        <p:txBody>
          <a:bodyPr wrap="square" lIns="0" tIns="0" rIns="0" bIns="0" rtlCol="0" anchor="ctr"/>
          <a:lstStyle/>
          <a:p>
            <a:pPr indent="0" marL="0">
              <a:buNone/>
            </a:pPr>
            <a:r>
              <a:rPr lang="en-US" sz="1800" b="1" dirty="0">
                <a:solidFill>
                  <a:schemeClr val="accent4"/>
                </a:solidFill>
              </a:rPr>
              <a:t>H6: </a:t>
            </a:r>
            <a:r>
              <a:rPr lang="en-US" sz="1800" dirty="0">
                <a:solidFill>
                  <a:schemeClr val="tx1"/>
                </a:solidFill>
              </a:rPr>
              <a:t>Trust mediates perceptions → purchase intention</a:t>
            </a:r>
            <a:endParaRPr lang="en-US" sz="1800" dirty="0"/>
          </a:p>
        </p:txBody>
      </p:sp>
      <p:sp>
        <p:nvSpPr>
          <p:cNvPr id="33" name="Text 31"/>
          <p:cNvSpPr txBox="1"/>
          <p:nvPr/>
        </p:nvSpPr>
        <p:spPr>
          <a:xfrm>
            <a:off x="5623560" y="5760720"/>
            <a:ext cx="6035040" cy="365760"/>
          </a:xfrm>
          <a:prstGeom prst="rect">
            <a:avLst/>
          </a:prstGeom>
          <a:noFill/>
          <a:ln/>
        </p:spPr>
        <p:txBody>
          <a:bodyPr wrap="square" lIns="0" tIns="0" rIns="0" bIns="0" rtlCol="0" anchor="ctr"/>
          <a:lstStyle/>
          <a:p>
            <a:pPr indent="0" marL="0">
              <a:buNone/>
            </a:pPr>
            <a:r>
              <a:rPr lang="en-US" sz="1400" i="1" dirty="0">
                <a:solidFill>
                  <a:schemeClr val="accent3"/>
                </a:solidFill>
              </a:rPr>
              <a:t>Based on the S-O-R framework (Mehrabian &amp; Russell, 1974)</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HYPOTHESES</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097280"/>
                <a:gridCol w="9994392"/>
              </a:tblGrid>
              <a:tr h="640080">
                <a:tc>
                  <a:txBody>
                    <a:bodyPr/>
                    <a:lstStyle/>
                    <a:p>
                      <a:pPr indent="0" marL="0">
                        <a:buNone/>
                      </a:pPr>
                      <a:r>
                        <a:rPr lang="en-US" sz="2100" b="1" dirty="0">
                          <a:solidFill>
                            <a:schemeClr val="bg1"/>
                          </a:solidFill>
                        </a:rPr>
                        <a:t>No.</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tx2"/>
                    </a:solidFill>
                  </a:tcPr>
                </a:tc>
                <a:tc>
                  <a:txBody>
                    <a:bodyPr/>
                    <a:lstStyle/>
                    <a:p>
                      <a:pPr indent="0" marL="0">
                        <a:buNone/>
                      </a:pPr>
                      <a:r>
                        <a:rPr lang="en-US" sz="2100" b="1" dirty="0">
                          <a:solidFill>
                            <a:schemeClr val="bg1"/>
                          </a:solidFill>
                        </a:rPr>
                        <a:t>Hypothesis</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tx2"/>
                    </a:solidFill>
                  </a:tcPr>
                </a:tc>
              </a:tr>
              <a:tr h="640080">
                <a:tc>
                  <a:txBody>
                    <a:bodyPr/>
                    <a:lstStyle/>
                    <a:p>
                      <a:pPr indent="0" marL="0">
                        <a:buNone/>
                      </a:pPr>
                      <a:r>
                        <a:rPr lang="en-US" sz="2100" b="1" dirty="0">
                          <a:solidFill>
                            <a:schemeClr val="accent4"/>
                          </a:solidFill>
                        </a:rPr>
                        <a:t>H1</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2100" dirty="0">
                          <a:solidFill>
                            <a:schemeClr val="tx1"/>
                          </a:solidFill>
                        </a:rPr>
                        <a:t>Perceived authenticity positively affects trust</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r>
              <a:tr h="640080">
                <a:tc>
                  <a:txBody>
                    <a:bodyPr/>
                    <a:lstStyle/>
                    <a:p>
                      <a:pPr indent="0" marL="0">
                        <a:buNone/>
                      </a:pPr>
                      <a:r>
                        <a:rPr lang="en-US" sz="2100" b="1" dirty="0">
                          <a:solidFill>
                            <a:schemeClr val="accent4"/>
                          </a:solidFill>
                        </a:rPr>
                        <a:t>H2</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2100" dirty="0">
                          <a:solidFill>
                            <a:schemeClr val="tx1"/>
                          </a:solidFill>
                        </a:rPr>
                        <a:t>Perceived anthropomorphism positively affects trust</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r>
              <a:tr h="640080">
                <a:tc>
                  <a:txBody>
                    <a:bodyPr/>
                    <a:lstStyle/>
                    <a:p>
                      <a:pPr indent="0" marL="0">
                        <a:buNone/>
                      </a:pPr>
                      <a:r>
                        <a:rPr lang="en-US" sz="2100" b="1" dirty="0">
                          <a:solidFill>
                            <a:schemeClr val="accent4"/>
                          </a:solidFill>
                        </a:rPr>
                        <a:t>H3</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2100" dirty="0">
                          <a:solidFill>
                            <a:schemeClr val="tx1"/>
                          </a:solidFill>
                        </a:rPr>
                        <a:t>Perceived homophily positively affects trust</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r>
              <a:tr h="640080">
                <a:tc>
                  <a:txBody>
                    <a:bodyPr/>
                    <a:lstStyle/>
                    <a:p>
                      <a:pPr indent="0" marL="0">
                        <a:buNone/>
                      </a:pPr>
                      <a:r>
                        <a:rPr lang="en-US" sz="2100" b="1" dirty="0">
                          <a:solidFill>
                            <a:schemeClr val="accent4"/>
                          </a:solidFill>
                        </a:rPr>
                        <a:t>H4</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2100" dirty="0">
                          <a:solidFill>
                            <a:schemeClr val="tx1"/>
                          </a:solidFill>
                        </a:rPr>
                        <a:t>Perceived attractiveness positively affects trust</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r>
              <a:tr h="640080">
                <a:tc>
                  <a:txBody>
                    <a:bodyPr/>
                    <a:lstStyle/>
                    <a:p>
                      <a:pPr indent="0" marL="0">
                        <a:buNone/>
                      </a:pPr>
                      <a:r>
                        <a:rPr lang="en-US" sz="2100" b="1" dirty="0">
                          <a:solidFill>
                            <a:schemeClr val="accent4"/>
                          </a:solidFill>
                        </a:rPr>
                        <a:t>H5</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2100" dirty="0">
                          <a:solidFill>
                            <a:schemeClr val="tx1"/>
                          </a:solidFill>
                        </a:rPr>
                        <a:t>Trust positively affects purchase intention</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r>
              <a:tr h="640080">
                <a:tc>
                  <a:txBody>
                    <a:bodyPr/>
                    <a:lstStyle/>
                    <a:p>
                      <a:pPr indent="0" marL="0">
                        <a:buNone/>
                      </a:pPr>
                      <a:r>
                        <a:rPr lang="en-US" sz="2100" b="1" dirty="0">
                          <a:solidFill>
                            <a:schemeClr val="accent4"/>
                          </a:solidFill>
                        </a:rPr>
                        <a:t>H6</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2100" dirty="0">
                          <a:solidFill>
                            <a:schemeClr val="tx1"/>
                          </a:solidFill>
                        </a:rPr>
                        <a:t>Trust mediates the effect of the perceptions on purchase intention</a:t>
                      </a:r>
                      <a:endParaRPr lang="en-US" sz="2100" dirty="0"/>
                    </a:p>
                  </a:txBody>
                  <a:tcPr marL="127000" marR="1270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REFERENCES</a:t>
            </a:r>
            <a:endParaRPr lang="en-US" sz="2800" dirty="0"/>
          </a:p>
        </p:txBody>
      </p:sp>
      <p:sp>
        <p:nvSpPr>
          <p:cNvPr id="3" name="Text 1"/>
          <p:cNvSpPr txBox="1"/>
          <p:nvPr/>
        </p:nvSpPr>
        <p:spPr>
          <a:xfrm>
            <a:off x="548640"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1. </a:t>
            </a:r>
            <a:r>
              <a:rPr lang="en-US" sz="1300" dirty="0">
                <a:solidFill>
                  <a:schemeClr val="tx1"/>
                </a:solidFill>
              </a:rPr>
              <a:t>Ajzen, I. (1991). The theory of planned behavior. Organizational Behavior and Human Decision Processes, 50(2), 179–211.</a:t>
            </a:r>
            <a:endParaRPr lang="en-US" sz="1300" dirty="0"/>
          </a:p>
          <a:p>
            <a:pPr indent="0" marL="0">
              <a:spcAft>
                <a:spcPts val="600"/>
              </a:spcAft>
              <a:buNone/>
            </a:pPr>
            <a:r>
              <a:rPr lang="en-US" sz="1300" b="1" dirty="0">
                <a:solidFill>
                  <a:schemeClr val="accent4"/>
                </a:solidFill>
              </a:rPr>
              <a:t>2. </a:t>
            </a:r>
            <a:r>
              <a:rPr lang="en-US" sz="1300" dirty="0">
                <a:solidFill>
                  <a:schemeClr val="tx1"/>
                </a:solidFill>
              </a:rPr>
              <a:t>Allal-Chérif, O., Puertas, R., &amp; Carracedo, P. (2024). Intelligent influencer marketing: How AI-powered virtual influencers outperform human influencers. Technological Forecasting and Social Change, 200, Article 123113.</a:t>
            </a:r>
            <a:endParaRPr lang="en-US" sz="1300" dirty="0"/>
          </a:p>
          <a:p>
            <a:pPr indent="0" marL="0">
              <a:spcAft>
                <a:spcPts val="600"/>
              </a:spcAft>
              <a:buNone/>
            </a:pPr>
            <a:r>
              <a:rPr lang="en-US" sz="1300" b="1" dirty="0">
                <a:solidFill>
                  <a:schemeClr val="accent4"/>
                </a:solidFill>
              </a:rPr>
              <a:t>3. </a:t>
            </a:r>
            <a:r>
              <a:rPr lang="en-US" sz="1300" dirty="0">
                <a:solidFill>
                  <a:schemeClr val="tx1"/>
                </a:solidFill>
              </a:rPr>
              <a:t>Arsenyan, J., &amp; Mirowska, A. (2021). Almost human? A comparative case study on the social media presence of virtual influencers. International Journal of Human-Computer Studies, 155, Article 102694.</a:t>
            </a:r>
            <a:endParaRPr lang="en-US" sz="1300" dirty="0"/>
          </a:p>
          <a:p>
            <a:pPr indent="0" marL="0">
              <a:spcAft>
                <a:spcPts val="600"/>
              </a:spcAft>
              <a:buNone/>
            </a:pPr>
            <a:r>
              <a:rPr lang="en-US" sz="1300" b="1" dirty="0">
                <a:solidFill>
                  <a:schemeClr val="accent4"/>
                </a:solidFill>
              </a:rPr>
              <a:t>4. </a:t>
            </a:r>
            <a:r>
              <a:rPr lang="en-US" sz="1300" dirty="0">
                <a:solidFill>
                  <a:schemeClr val="tx1"/>
                </a:solidFill>
              </a:rPr>
              <a:t>Audrezet, A., de Kerviler, G., &amp; Guidry Moulard, J. (2020). Authenticity under threat: When social media influencers need to go beyond self-presentation. Journal of Business Research, 117, 557–569.</a:t>
            </a:r>
            <a:endParaRPr lang="en-US" sz="1300" dirty="0"/>
          </a:p>
          <a:p>
            <a:pPr indent="0" marL="0">
              <a:spcAft>
                <a:spcPts val="600"/>
              </a:spcAft>
              <a:buNone/>
            </a:pPr>
            <a:r>
              <a:rPr lang="en-US" sz="1300" b="1" dirty="0">
                <a:solidFill>
                  <a:schemeClr val="accent4"/>
                </a:solidFill>
              </a:rPr>
              <a:t>5. </a:t>
            </a:r>
            <a:r>
              <a:rPr lang="en-US" sz="1300" dirty="0">
                <a:solidFill>
                  <a:schemeClr val="tx1"/>
                </a:solidFill>
              </a:rPr>
              <a:t>Bartneck, C., Kulić, D., Croft, E., &amp; Zoghbi, S. (2009). Measurement instruments for the anthropomorphism, animacy, likeability, perceived intelligence, and perceived safety of robots. International Journal of Social Robotics, 1(1), 71–81.</a:t>
            </a:r>
            <a:endParaRPr lang="en-US" sz="1300" dirty="0"/>
          </a:p>
          <a:p>
            <a:pPr indent="0" marL="0">
              <a:spcAft>
                <a:spcPts val="600"/>
              </a:spcAft>
              <a:buNone/>
            </a:pPr>
            <a:r>
              <a:rPr lang="en-US" sz="1300" b="1" dirty="0">
                <a:solidFill>
                  <a:schemeClr val="accent4"/>
                </a:solidFill>
              </a:rPr>
              <a:t>6. </a:t>
            </a:r>
            <a:r>
              <a:rPr lang="en-US" sz="1300" dirty="0">
                <a:solidFill>
                  <a:schemeClr val="tx1"/>
                </a:solidFill>
              </a:rPr>
              <a:t>Belanche, D., Casaló, L. V., &amp; Flavián, M. (2024). Human versus virtual influences, a comparative study. Journal of Business Research, 173, Article 114493.</a:t>
            </a:r>
            <a:endParaRPr lang="en-US" sz="1300" dirty="0"/>
          </a:p>
        </p:txBody>
      </p:sp>
      <p:sp>
        <p:nvSpPr>
          <p:cNvPr id="4" name="Text 2"/>
          <p:cNvSpPr txBox="1"/>
          <p:nvPr/>
        </p:nvSpPr>
        <p:spPr>
          <a:xfrm>
            <a:off x="6227064"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7. </a:t>
            </a:r>
            <a:r>
              <a:rPr lang="en-US" sz="1300" dirty="0">
                <a:solidFill>
                  <a:schemeClr val="tx1"/>
                </a:solidFill>
              </a:rPr>
              <a:t>Byun, K. J., &amp; Ahn, S. J. (2023). A systematic review of virtual influencers: Similarities and differences between human and virtual influencers in interactive advertising. Journal of Interactive Advertising, 23(4), 293–306.</a:t>
            </a:r>
            <a:endParaRPr lang="en-US" sz="1300" dirty="0"/>
          </a:p>
          <a:p>
            <a:pPr indent="0" marL="0">
              <a:spcAft>
                <a:spcPts val="600"/>
              </a:spcAft>
              <a:buNone/>
            </a:pPr>
            <a:r>
              <a:rPr lang="en-US" sz="1300" b="1" dirty="0">
                <a:solidFill>
                  <a:schemeClr val="accent4"/>
                </a:solidFill>
              </a:rPr>
              <a:t>8. </a:t>
            </a:r>
            <a:r>
              <a:rPr lang="en-US" sz="1300" dirty="0">
                <a:solidFill>
                  <a:schemeClr val="tx1"/>
                </a:solidFill>
              </a:rPr>
              <a:t>Campbell, C., &amp; Farrell, J. R. (2020). More than meets the eye: The functional components underlying influencer marketing. Business Horizons, 63(4), 469–479.</a:t>
            </a:r>
            <a:endParaRPr lang="en-US" sz="1300" dirty="0"/>
          </a:p>
          <a:p>
            <a:pPr indent="0" marL="0">
              <a:spcAft>
                <a:spcPts val="600"/>
              </a:spcAft>
              <a:buNone/>
            </a:pPr>
            <a:r>
              <a:rPr lang="en-US" sz="1300" b="1" dirty="0">
                <a:solidFill>
                  <a:schemeClr val="accent4"/>
                </a:solidFill>
              </a:rPr>
              <a:t>9. </a:t>
            </a:r>
            <a:r>
              <a:rPr lang="en-US" sz="1300" dirty="0">
                <a:solidFill>
                  <a:schemeClr val="tx1"/>
                </a:solidFill>
              </a:rPr>
              <a:t>Cascio Rizzo, G. L., Villarroel Ordenes, F., &amp; Berger, J. (2026). What drives virtual influencers' impact? Journal of the Academy of Marketing Science.</a:t>
            </a:r>
            <a:endParaRPr lang="en-US" sz="1300" dirty="0"/>
          </a:p>
          <a:p>
            <a:pPr indent="0" marL="0">
              <a:spcAft>
                <a:spcPts val="600"/>
              </a:spcAft>
              <a:buNone/>
            </a:pPr>
            <a:r>
              <a:rPr lang="en-US" sz="1300" b="1" dirty="0">
                <a:solidFill>
                  <a:schemeClr val="accent4"/>
                </a:solidFill>
              </a:rPr>
              <a:t>10. </a:t>
            </a:r>
            <a:r>
              <a:rPr lang="en-US" sz="1300" dirty="0">
                <a:solidFill>
                  <a:schemeClr val="tx1"/>
                </a:solidFill>
              </a:rPr>
              <a:t>Chaudhuri, A., &amp; Holbrook, M. B. (2001). The chain of effects from brand trust and brand affect to brand performance: The role of brand loyalty. Journal of Marketing, 65(2), 81–93.</a:t>
            </a:r>
            <a:endParaRPr lang="en-US" sz="1300" dirty="0"/>
          </a:p>
          <a:p>
            <a:pPr indent="0" marL="0">
              <a:spcAft>
                <a:spcPts val="600"/>
              </a:spcAft>
              <a:buNone/>
            </a:pPr>
            <a:r>
              <a:rPr lang="en-US" sz="1300" b="1" dirty="0">
                <a:solidFill>
                  <a:schemeClr val="accent4"/>
                </a:solidFill>
              </a:rPr>
              <a:t>11. </a:t>
            </a:r>
            <a:r>
              <a:rPr lang="en-US" sz="1300" dirty="0">
                <a:solidFill>
                  <a:schemeClr val="tx1"/>
                </a:solidFill>
              </a:rPr>
              <a:t>Crolic, C., Thomaz, F., Hadi, R., &amp; Stephen, A. T. (2022). Blame the bot: Anthropomorphism and anger in customer–chatbot interactions. Journal of Marketing, 86(1), 132–148.</a:t>
            </a:r>
            <a:endParaRPr lang="en-US" sz="1300" dirty="0"/>
          </a:p>
          <a:p>
            <a:pPr indent="0" marL="0">
              <a:spcAft>
                <a:spcPts val="600"/>
              </a:spcAft>
              <a:buNone/>
            </a:pPr>
            <a:r>
              <a:rPr lang="en-US" sz="1300" b="1" dirty="0">
                <a:solidFill>
                  <a:schemeClr val="accent4"/>
                </a:solidFill>
              </a:rPr>
              <a:t>12. </a:t>
            </a:r>
            <a:r>
              <a:rPr lang="en-US" sz="1300" dirty="0">
                <a:solidFill>
                  <a:schemeClr val="tx1"/>
                </a:solidFill>
              </a:rPr>
              <a:t>Davlembayeva, D., Chari, S., &amp; Papagiannidis, S. (2025). Virtual influencers in consumer behaviour: A social influence theory perspective. British Journal of Management, 36(1), 202–222.</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REFERENCES (CONTD.)</a:t>
            </a:r>
            <a:endParaRPr lang="en-US" sz="2800" dirty="0"/>
          </a:p>
        </p:txBody>
      </p:sp>
      <p:sp>
        <p:nvSpPr>
          <p:cNvPr id="3" name="Text 1"/>
          <p:cNvSpPr txBox="1"/>
          <p:nvPr/>
        </p:nvSpPr>
        <p:spPr>
          <a:xfrm>
            <a:off x="548640"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13. </a:t>
            </a:r>
            <a:r>
              <a:rPr lang="en-US" sz="1300" dirty="0">
                <a:solidFill>
                  <a:schemeClr val="tx1"/>
                </a:solidFill>
              </a:rPr>
              <a:t>Djafarova, E., &amp; Bowes, T. (2021). 'Instagram made me buy it': Generation Z impulse purchases in fashion industry. Journal of Retailing and Consumer Services, 59, Article 102345.</a:t>
            </a:r>
            <a:endParaRPr lang="en-US" sz="1300" dirty="0"/>
          </a:p>
          <a:p>
            <a:pPr indent="0" marL="0">
              <a:spcAft>
                <a:spcPts val="600"/>
              </a:spcAft>
              <a:buNone/>
            </a:pPr>
            <a:r>
              <a:rPr lang="en-US" sz="1300" b="1" dirty="0">
                <a:solidFill>
                  <a:schemeClr val="accent4"/>
                </a:solidFill>
              </a:rPr>
              <a:t>14. </a:t>
            </a:r>
            <a:r>
              <a:rPr lang="en-US" sz="1300" dirty="0">
                <a:solidFill>
                  <a:schemeClr val="tx1"/>
                </a:solidFill>
              </a:rPr>
              <a:t>Djafarova, E., &amp; Rushworth, C. (2017). Exploring the credibility of online celebrities' Instagram profiles in influencing the purchase decisions of young female users. Computers in Human Behavior, 68, 1–7.</a:t>
            </a:r>
            <a:endParaRPr lang="en-US" sz="1300" dirty="0"/>
          </a:p>
          <a:p>
            <a:pPr indent="0" marL="0">
              <a:spcAft>
                <a:spcPts val="600"/>
              </a:spcAft>
              <a:buNone/>
            </a:pPr>
            <a:r>
              <a:rPr lang="en-US" sz="1300" b="1" dirty="0">
                <a:solidFill>
                  <a:schemeClr val="accent4"/>
                </a:solidFill>
              </a:rPr>
              <a:t>15. </a:t>
            </a:r>
            <a:r>
              <a:rPr lang="en-US" sz="1300" dirty="0">
                <a:solidFill>
                  <a:schemeClr val="tx1"/>
                </a:solidFill>
              </a:rPr>
              <a:t>Epley, N., Waytz, A., &amp; Cacioppo, J. T. (2007). On seeing human: A three-factor theory of anthropomorphism. Psychological Review, 114(4), 864–886.</a:t>
            </a:r>
            <a:endParaRPr lang="en-US" sz="1300" dirty="0"/>
          </a:p>
          <a:p>
            <a:pPr indent="0" marL="0">
              <a:spcAft>
                <a:spcPts val="600"/>
              </a:spcAft>
              <a:buNone/>
            </a:pPr>
            <a:r>
              <a:rPr lang="en-US" sz="1300" b="1" dirty="0">
                <a:solidFill>
                  <a:schemeClr val="accent4"/>
                </a:solidFill>
              </a:rPr>
              <a:t>16. </a:t>
            </a:r>
            <a:r>
              <a:rPr lang="en-US" sz="1300" dirty="0">
                <a:solidFill>
                  <a:schemeClr val="tx1"/>
                </a:solidFill>
              </a:rPr>
              <a:t>Eroglu, S. A., Machleit, K. A., &amp; Davis, L. M. (2001). Atmospheric qualities of online retailing: A conceptual model and implications. Journal of Business Research, 54(2), 177–184.</a:t>
            </a:r>
            <a:endParaRPr lang="en-US" sz="1300" dirty="0"/>
          </a:p>
          <a:p>
            <a:pPr indent="0" marL="0">
              <a:spcAft>
                <a:spcPts val="600"/>
              </a:spcAft>
              <a:buNone/>
            </a:pPr>
            <a:r>
              <a:rPr lang="en-US" sz="1300" b="1" dirty="0">
                <a:solidFill>
                  <a:schemeClr val="accent4"/>
                </a:solidFill>
              </a:rPr>
              <a:t>17. </a:t>
            </a:r>
            <a:r>
              <a:rPr lang="en-US" sz="1300" dirty="0">
                <a:solidFill>
                  <a:schemeClr val="tx1"/>
                </a:solidFill>
              </a:rPr>
              <a:t>Franke, C., Groeppel-Klein, A., &amp; Müller, K. (2023). Consumers' responses to virtual influencers as advertising endorsers: Novel and effective or uncanny and deceiving? Journal of Advertising, 52(4), 523–539.</a:t>
            </a:r>
            <a:endParaRPr lang="en-US" sz="1300" dirty="0"/>
          </a:p>
          <a:p>
            <a:pPr indent="0" marL="0">
              <a:spcAft>
                <a:spcPts val="600"/>
              </a:spcAft>
              <a:buNone/>
            </a:pPr>
            <a:r>
              <a:rPr lang="en-US" sz="1300" b="1" dirty="0">
                <a:solidFill>
                  <a:schemeClr val="accent4"/>
                </a:solidFill>
              </a:rPr>
              <a:t>18. </a:t>
            </a:r>
            <a:r>
              <a:rPr lang="en-US" sz="1300" dirty="0">
                <a:solidFill>
                  <a:schemeClr val="tx1"/>
                </a:solidFill>
              </a:rPr>
              <a:t>George, J. P., Muttungal, P. V., Priya, N., &amp; Davidson, B. G. J. (2026). Credibility, engagement, and purchase: How virtual influencers drive Gen Zs consumer behavior. In A. Saini &amp; V. Garg (Eds.), Industry 5.0: Pioneering business and management transformations (pp. 119–134). Emerald Publishing.</a:t>
            </a:r>
            <a:endParaRPr lang="en-US" sz="1300" dirty="0"/>
          </a:p>
        </p:txBody>
      </p:sp>
      <p:sp>
        <p:nvSpPr>
          <p:cNvPr id="4" name="Text 2"/>
          <p:cNvSpPr txBox="1"/>
          <p:nvPr/>
        </p:nvSpPr>
        <p:spPr>
          <a:xfrm>
            <a:off x="6227064"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19. </a:t>
            </a:r>
            <a:r>
              <a:rPr lang="en-US" sz="1300" dirty="0">
                <a:solidFill>
                  <a:schemeClr val="tx1"/>
                </a:solidFill>
              </a:rPr>
              <a:t>Gerlich, M. (2023). The power of virtual influencers: Impact on consumer behaviour and attitudes in the age of AI. Administrative Sciences, 13(8), Article 178.</a:t>
            </a:r>
            <a:endParaRPr lang="en-US" sz="1300" dirty="0"/>
          </a:p>
          <a:p>
            <a:pPr indent="0" marL="0">
              <a:spcAft>
                <a:spcPts val="600"/>
              </a:spcAft>
              <a:buNone/>
            </a:pPr>
            <a:r>
              <a:rPr lang="en-US" sz="1300" b="1" dirty="0">
                <a:solidFill>
                  <a:schemeClr val="accent4"/>
                </a:solidFill>
              </a:rPr>
              <a:t>20. </a:t>
            </a:r>
            <a:r>
              <a:rPr lang="en-US" sz="1300" dirty="0">
                <a:solidFill>
                  <a:schemeClr val="tx1"/>
                </a:solidFill>
              </a:rPr>
              <a:t>Gerrath, M. H., Olya, H., Shah, Z., &amp; Li, H. (2024). Virtual influencers and pro-environmental causes: The roles of message warmth and trust in experts. Journal of Business Research, 175, Article 114520.</a:t>
            </a:r>
            <a:endParaRPr lang="en-US" sz="1300" dirty="0"/>
          </a:p>
          <a:p>
            <a:pPr indent="0" marL="0">
              <a:spcAft>
                <a:spcPts val="600"/>
              </a:spcAft>
              <a:buNone/>
            </a:pPr>
            <a:r>
              <a:rPr lang="en-US" sz="1300" b="1" dirty="0">
                <a:solidFill>
                  <a:schemeClr val="accent4"/>
                </a:solidFill>
              </a:rPr>
              <a:t>21. </a:t>
            </a:r>
            <a:r>
              <a:rPr lang="en-US" sz="1300" dirty="0">
                <a:solidFill>
                  <a:schemeClr val="tx1"/>
                </a:solidFill>
              </a:rPr>
              <a:t>Gutuleac, R., Baima, G., Rizzo, C., &amp; Bresciani, S. (2024). Will virtual influencers overcome the uncanny valley? The moderating role of social cues. Psychology &amp; Marketing, 41(7), 1419–1431.</a:t>
            </a:r>
            <a:endParaRPr lang="en-US" sz="1300" dirty="0"/>
          </a:p>
          <a:p>
            <a:pPr indent="0" marL="0">
              <a:spcAft>
                <a:spcPts val="600"/>
              </a:spcAft>
              <a:buNone/>
            </a:pPr>
            <a:r>
              <a:rPr lang="en-US" sz="1300" b="1" dirty="0">
                <a:solidFill>
                  <a:schemeClr val="accent4"/>
                </a:solidFill>
              </a:rPr>
              <a:t>22. </a:t>
            </a:r>
            <a:r>
              <a:rPr lang="en-US" sz="1300" dirty="0">
                <a:solidFill>
                  <a:schemeClr val="tx1"/>
                </a:solidFill>
              </a:rPr>
              <a:t>Han, J., &amp; Balabanis, G. (2024). Meta-analysis of social media influencer impact: Key antecedents and theoretical foundations. Psychology &amp; Marketing, 41(2), 394–426.</a:t>
            </a:r>
            <a:endParaRPr lang="en-US" sz="1300" dirty="0"/>
          </a:p>
          <a:p>
            <a:pPr indent="0" marL="0">
              <a:spcAft>
                <a:spcPts val="600"/>
              </a:spcAft>
              <a:buNone/>
            </a:pPr>
            <a:r>
              <a:rPr lang="en-US" sz="1300" b="1" dirty="0">
                <a:solidFill>
                  <a:schemeClr val="accent4"/>
                </a:solidFill>
              </a:rPr>
              <a:t>23. </a:t>
            </a:r>
            <a:r>
              <a:rPr lang="en-US" sz="1300" dirty="0">
                <a:solidFill>
                  <a:schemeClr val="tx1"/>
                </a:solidFill>
              </a:rPr>
              <a:t>Hovland, C. I., &amp; Weiss, W. (1951). The influence of source credibility on communication effectiveness. Public Opinion Quarterly, 15(4), 635–650.</a:t>
            </a:r>
            <a:endParaRPr lang="en-US" sz="1300" dirty="0"/>
          </a:p>
          <a:p>
            <a:pPr indent="0" marL="0">
              <a:spcAft>
                <a:spcPts val="600"/>
              </a:spcAft>
              <a:buNone/>
            </a:pPr>
            <a:r>
              <a:rPr lang="en-US" sz="1300" b="1" dirty="0">
                <a:solidFill>
                  <a:schemeClr val="accent4"/>
                </a:solidFill>
              </a:rPr>
              <a:t>24. </a:t>
            </a:r>
            <a:r>
              <a:rPr lang="en-US" sz="1300" dirty="0">
                <a:solidFill>
                  <a:schemeClr val="tx1"/>
                </a:solidFill>
              </a:rPr>
              <a:t>Hudders, L., De Jans, S., &amp; De Veirman, M. (2021). The commercialization of social media stars: A literature review and conceptual framework on the strategic use of social media influencers. International Journal of Advertising, 40(3), 327–375.</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REFERENCES (CONTD.)</a:t>
            </a:r>
            <a:endParaRPr lang="en-US" sz="2800" dirty="0"/>
          </a:p>
        </p:txBody>
      </p:sp>
      <p:sp>
        <p:nvSpPr>
          <p:cNvPr id="3" name="Text 1"/>
          <p:cNvSpPr txBox="1"/>
          <p:nvPr/>
        </p:nvSpPr>
        <p:spPr>
          <a:xfrm>
            <a:off x="548640"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25. </a:t>
            </a:r>
            <a:r>
              <a:rPr lang="en-US" sz="1300" dirty="0">
                <a:solidFill>
                  <a:schemeClr val="tx1"/>
                </a:solidFill>
              </a:rPr>
              <a:t>Jha, S., Chaudhary, R., &amp; Shukla, B. (2025). Trust dynamics of virtual influencers: Exploring their influence on fashion purchase decisions. Innovative Marketing, 21(3), 226–236.</a:t>
            </a:r>
            <a:endParaRPr lang="en-US" sz="1300" dirty="0"/>
          </a:p>
          <a:p>
            <a:pPr indent="0" marL="0">
              <a:spcAft>
                <a:spcPts val="600"/>
              </a:spcAft>
              <a:buNone/>
            </a:pPr>
            <a:r>
              <a:rPr lang="en-US" sz="1300" b="1" dirty="0">
                <a:solidFill>
                  <a:schemeClr val="accent4"/>
                </a:solidFill>
              </a:rPr>
              <a:t>26. </a:t>
            </a:r>
            <a:r>
              <a:rPr lang="en-US" sz="1300" dirty="0">
                <a:solidFill>
                  <a:schemeClr val="tx1"/>
                </a:solidFill>
              </a:rPr>
              <a:t>Jhawar, A., Kumar, P., &amp; Varshney, S. (2023). The emergence of virtual influencers: A shift in the influencer marketing paradigm. Young Consumers, 24(4), 468–484.</a:t>
            </a:r>
            <a:endParaRPr lang="en-US" sz="1300" dirty="0"/>
          </a:p>
          <a:p>
            <a:pPr indent="0" marL="0">
              <a:spcAft>
                <a:spcPts val="600"/>
              </a:spcAft>
              <a:buNone/>
            </a:pPr>
            <a:r>
              <a:rPr lang="en-US" sz="1300" b="1" dirty="0">
                <a:solidFill>
                  <a:schemeClr val="accent4"/>
                </a:solidFill>
              </a:rPr>
              <a:t>27. </a:t>
            </a:r>
            <a:r>
              <a:rPr lang="en-US" sz="1300" dirty="0">
                <a:solidFill>
                  <a:schemeClr val="tx1"/>
                </a:solidFill>
              </a:rPr>
              <a:t>Kahle, L. R., &amp; Homer, P. M. (1985). Physical attractiveness of the celebrity endorser: A social adaptation perspective. Journal of Consumer Research, 11(4), 954–961.</a:t>
            </a:r>
            <a:endParaRPr lang="en-US" sz="1300" dirty="0"/>
          </a:p>
          <a:p>
            <a:pPr indent="0" marL="0">
              <a:spcAft>
                <a:spcPts val="600"/>
              </a:spcAft>
              <a:buNone/>
            </a:pPr>
            <a:r>
              <a:rPr lang="en-US" sz="1300" b="1" dirty="0">
                <a:solidFill>
                  <a:schemeClr val="accent4"/>
                </a:solidFill>
              </a:rPr>
              <a:t>28. </a:t>
            </a:r>
            <a:r>
              <a:rPr lang="en-US" sz="1300" dirty="0">
                <a:solidFill>
                  <a:schemeClr val="tx1"/>
                </a:solidFill>
              </a:rPr>
              <a:t>Khamis, S., Ang, L., &amp; Welling, R. (2017). Self-branding, 'micro-celebrity' and the rise of social media influencers. Celebrity Studies, 8(2), 191–208.</a:t>
            </a:r>
            <a:endParaRPr lang="en-US" sz="1300" dirty="0"/>
          </a:p>
          <a:p>
            <a:pPr indent="0" marL="0">
              <a:spcAft>
                <a:spcPts val="600"/>
              </a:spcAft>
              <a:buNone/>
            </a:pPr>
            <a:r>
              <a:rPr lang="en-US" sz="1300" b="1" dirty="0">
                <a:solidFill>
                  <a:schemeClr val="accent4"/>
                </a:solidFill>
              </a:rPr>
              <a:t>29. </a:t>
            </a:r>
            <a:r>
              <a:rPr lang="en-US" sz="1300" dirty="0">
                <a:solidFill>
                  <a:schemeClr val="tx1"/>
                </a:solidFill>
              </a:rPr>
              <a:t>Kim, D. Y., &amp; Kim, H.-Y. (2021). Trust me, trust me not: A nuanced view of influencer marketing on social media. Journal of Business Research, 134, 223–232.</a:t>
            </a:r>
            <a:endParaRPr lang="en-US" sz="1300" dirty="0"/>
          </a:p>
          <a:p>
            <a:pPr indent="0" marL="0">
              <a:spcAft>
                <a:spcPts val="600"/>
              </a:spcAft>
              <a:buNone/>
            </a:pPr>
            <a:r>
              <a:rPr lang="en-US" sz="1300" b="1" dirty="0">
                <a:solidFill>
                  <a:schemeClr val="accent4"/>
                </a:solidFill>
              </a:rPr>
              <a:t>30. </a:t>
            </a:r>
            <a:r>
              <a:rPr lang="en-US" sz="1300" dirty="0">
                <a:solidFill>
                  <a:schemeClr val="tx1"/>
                </a:solidFill>
              </a:rPr>
              <a:t>Kim, H., &amp; Park, M. (2023). Virtual influencers' attractiveness effect on purchase intention: A moderated mediation model of the product–endorser fit with the brand. Computers in Human Behavior, 143, Article 107703.</a:t>
            </a:r>
            <a:endParaRPr lang="en-US" sz="1300" dirty="0"/>
          </a:p>
        </p:txBody>
      </p:sp>
      <p:sp>
        <p:nvSpPr>
          <p:cNvPr id="4" name="Text 2"/>
          <p:cNvSpPr txBox="1"/>
          <p:nvPr/>
        </p:nvSpPr>
        <p:spPr>
          <a:xfrm>
            <a:off x="6227064"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31. </a:t>
            </a:r>
            <a:r>
              <a:rPr lang="en-US" sz="1300" dirty="0">
                <a:solidFill>
                  <a:schemeClr val="tx1"/>
                </a:solidFill>
              </a:rPr>
              <a:t>Kim, I., Ki, C. W., Lee, H., &amp; Kim, Y. K. (2024). Virtual influencer marketing: Evaluating the influence of virtual influencers' form realism and behavioral realism on consumer ambivalence and marketing performance. Journal of Business Research, 176, Article 114611.</a:t>
            </a:r>
            <a:endParaRPr lang="en-US" sz="1300" dirty="0"/>
          </a:p>
          <a:p>
            <a:pPr indent="0" marL="0">
              <a:spcAft>
                <a:spcPts val="600"/>
              </a:spcAft>
              <a:buNone/>
            </a:pPr>
            <a:r>
              <a:rPr lang="en-US" sz="1300" b="1" dirty="0">
                <a:solidFill>
                  <a:schemeClr val="accent4"/>
                </a:solidFill>
              </a:rPr>
              <a:t>32. </a:t>
            </a:r>
            <a:r>
              <a:rPr lang="en-US" sz="1300" dirty="0">
                <a:solidFill>
                  <a:schemeClr val="tx1"/>
                </a:solidFill>
              </a:rPr>
              <a:t>Ladhari, R., Massa, E., &amp; Skandrani, H. (2020). YouTube vloggers' popularity and influence: The roles of homophily, emotional attachment, and expertise. Journal of Retailing and Consumer Services, 54, Article 102027.</a:t>
            </a:r>
            <a:endParaRPr lang="en-US" sz="1300" dirty="0"/>
          </a:p>
          <a:p>
            <a:pPr indent="0" marL="0">
              <a:spcAft>
                <a:spcPts val="600"/>
              </a:spcAft>
              <a:buNone/>
            </a:pPr>
            <a:r>
              <a:rPr lang="en-US" sz="1300" b="1" dirty="0">
                <a:solidFill>
                  <a:schemeClr val="accent4"/>
                </a:solidFill>
              </a:rPr>
              <a:t>33. </a:t>
            </a:r>
            <a:r>
              <a:rPr lang="en-US" sz="1300" dirty="0">
                <a:solidFill>
                  <a:schemeClr val="tx1"/>
                </a:solidFill>
              </a:rPr>
              <a:t>Lee, J. A., &amp; Eastin, M. S. (2021). Perceived authenticity of social media influencers: Scale development and validation. Journal of Research in Interactive Marketing, 15(4), 822–841.</a:t>
            </a:r>
            <a:endParaRPr lang="en-US" sz="1300" dirty="0"/>
          </a:p>
          <a:p>
            <a:pPr indent="0" marL="0">
              <a:spcAft>
                <a:spcPts val="600"/>
              </a:spcAft>
              <a:buNone/>
            </a:pPr>
            <a:r>
              <a:rPr lang="en-US" sz="1300" b="1" dirty="0">
                <a:solidFill>
                  <a:schemeClr val="accent4"/>
                </a:solidFill>
              </a:rPr>
              <a:t>34. </a:t>
            </a:r>
            <a:r>
              <a:rPr lang="en-US" sz="1300" dirty="0">
                <a:solidFill>
                  <a:schemeClr val="tx1"/>
                </a:solidFill>
              </a:rPr>
              <a:t>Lee, J., &amp; Kim, H. (2025). The moderating role of homophily and need for uniqueness in the relationship between anthropomorphism of virtual influencer and intention to imitate and word of mouth. International Journal of Human–Computer Interaction, 41(17), 10911–10922.</a:t>
            </a:r>
            <a:endParaRPr lang="en-US" sz="1300" dirty="0"/>
          </a:p>
          <a:p>
            <a:pPr indent="0" marL="0">
              <a:spcAft>
                <a:spcPts val="600"/>
              </a:spcAft>
              <a:buNone/>
            </a:pPr>
            <a:r>
              <a:rPr lang="en-US" sz="1300" b="1" dirty="0">
                <a:solidFill>
                  <a:schemeClr val="accent4"/>
                </a:solidFill>
              </a:rPr>
              <a:t>35. </a:t>
            </a:r>
            <a:r>
              <a:rPr lang="en-US" sz="1300" dirty="0">
                <a:solidFill>
                  <a:schemeClr val="tx1"/>
                </a:solidFill>
              </a:rPr>
              <a:t>Leung, F. F., Gu, F. F., &amp; Palmatier, R. W. (2022). Online influencer marketing. Journal of the Academy of Marketing Science, 50(2), 226–251.</a:t>
            </a:r>
            <a:endParaRPr lang="en-US" sz="1300" dirty="0"/>
          </a:p>
          <a:p>
            <a:pPr indent="0" marL="0">
              <a:spcAft>
                <a:spcPts val="600"/>
              </a:spcAft>
              <a:buNone/>
            </a:pPr>
            <a:r>
              <a:rPr lang="en-US" sz="1300" b="1" dirty="0">
                <a:solidFill>
                  <a:schemeClr val="accent4"/>
                </a:solidFill>
              </a:rPr>
              <a:t>36. </a:t>
            </a:r>
            <a:r>
              <a:rPr lang="en-US" sz="1300" dirty="0">
                <a:solidFill>
                  <a:schemeClr val="tx1"/>
                </a:solidFill>
              </a:rPr>
              <a:t>Lin, Q., Li, Y., Li, L., &amp; Yu, X. (2025). Anthropomorphism effect of virtual influencers on purchase intention in social commerce: A presence perspective. Social Behavior and Personality: An International Journal, 53(2), Article e13953.</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REFERENCES (CONTD.)</a:t>
            </a:r>
            <a:endParaRPr lang="en-US" sz="2800" dirty="0"/>
          </a:p>
        </p:txBody>
      </p:sp>
      <p:sp>
        <p:nvSpPr>
          <p:cNvPr id="3" name="Text 1"/>
          <p:cNvSpPr txBox="1"/>
          <p:nvPr/>
        </p:nvSpPr>
        <p:spPr>
          <a:xfrm>
            <a:off x="548640"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37. </a:t>
            </a:r>
            <a:r>
              <a:rPr lang="en-US" sz="1300" dirty="0">
                <a:solidFill>
                  <a:schemeClr val="tx1"/>
                </a:solidFill>
              </a:rPr>
              <a:t>Lonsdale, N., Aydin, G., &amp; Magtibay, R. (2025). Anthropomorphism and diversity in virtual humans: Their influence on the trust and attitudes of Gen Z consumers. Corporate Communications: An International Journal, 30(5), 888–914.</a:t>
            </a:r>
            <a:endParaRPr lang="en-US" sz="1300" dirty="0"/>
          </a:p>
          <a:p>
            <a:pPr indent="0" marL="0">
              <a:spcAft>
                <a:spcPts val="600"/>
              </a:spcAft>
              <a:buNone/>
            </a:pPr>
            <a:r>
              <a:rPr lang="en-US" sz="1300" b="1" dirty="0">
                <a:solidFill>
                  <a:schemeClr val="accent4"/>
                </a:solidFill>
              </a:rPr>
              <a:t>38. </a:t>
            </a:r>
            <a:r>
              <a:rPr lang="en-US" sz="1300" dirty="0">
                <a:solidFill>
                  <a:schemeClr val="tx1"/>
                </a:solidFill>
              </a:rPr>
              <a:t>Lou, C., &amp; Yuan, S. (2019). Influencer marketing: How message value and credibility affect consumer trust of branded content on social media. Journal of Interactive Advertising, 19(1), 58–73.</a:t>
            </a:r>
            <a:endParaRPr lang="en-US" sz="1300" dirty="0"/>
          </a:p>
          <a:p>
            <a:pPr indent="0" marL="0">
              <a:spcAft>
                <a:spcPts val="600"/>
              </a:spcAft>
              <a:buNone/>
            </a:pPr>
            <a:r>
              <a:rPr lang="en-US" sz="1300" b="1" dirty="0">
                <a:solidFill>
                  <a:schemeClr val="accent4"/>
                </a:solidFill>
              </a:rPr>
              <a:t>39. </a:t>
            </a:r>
            <a:r>
              <a:rPr lang="en-US" sz="1300" dirty="0">
                <a:solidFill>
                  <a:schemeClr val="tx1"/>
                </a:solidFill>
              </a:rPr>
              <a:t>Lou, C., Kiew, S. T. J., Chen, T., Lee, T. Y. M., Ong, J. E. C., &amp; Phua, Z. (2023). Authentically fake? How consumers respond to the influence of virtual influencers. Journal of Advertising, 52(4), 540–557.</a:t>
            </a:r>
            <a:endParaRPr lang="en-US" sz="1300" dirty="0"/>
          </a:p>
          <a:p>
            <a:pPr indent="0" marL="0">
              <a:spcAft>
                <a:spcPts val="600"/>
              </a:spcAft>
              <a:buNone/>
            </a:pPr>
            <a:r>
              <a:rPr lang="en-US" sz="1300" b="1" dirty="0">
                <a:solidFill>
                  <a:schemeClr val="accent4"/>
                </a:solidFill>
              </a:rPr>
              <a:t>40. </a:t>
            </a:r>
            <a:r>
              <a:rPr lang="en-US" sz="1300" dirty="0">
                <a:solidFill>
                  <a:schemeClr val="tx1"/>
                </a:solidFill>
              </a:rPr>
              <a:t>Masuda, H., Han, S. H., &amp; Lee, J. (2022). Impacts of influencer attributes on purchase intentions in social media influencer marketing: Mediating roles of characterizations. Technological Forecasting and Social Change, 174, Article 121246.</a:t>
            </a:r>
            <a:endParaRPr lang="en-US" sz="1300" dirty="0"/>
          </a:p>
          <a:p>
            <a:pPr indent="0" marL="0">
              <a:spcAft>
                <a:spcPts val="600"/>
              </a:spcAft>
              <a:buNone/>
            </a:pPr>
            <a:r>
              <a:rPr lang="en-US" sz="1300" b="1" dirty="0">
                <a:solidFill>
                  <a:schemeClr val="accent4"/>
                </a:solidFill>
              </a:rPr>
              <a:t>41. </a:t>
            </a:r>
            <a:r>
              <a:rPr lang="en-US" sz="1300" dirty="0">
                <a:solidFill>
                  <a:schemeClr val="tx1"/>
                </a:solidFill>
              </a:rPr>
              <a:t>Mayer, R. C., Davis, J. H., &amp; Schoorman, F. D. (1995). An integrative model of organizational trust. Academy of Management Review, 20(3), 709–734.</a:t>
            </a:r>
            <a:endParaRPr lang="en-US" sz="1300" dirty="0"/>
          </a:p>
          <a:p>
            <a:pPr indent="0" marL="0">
              <a:spcAft>
                <a:spcPts val="600"/>
              </a:spcAft>
              <a:buNone/>
            </a:pPr>
            <a:r>
              <a:rPr lang="en-US" sz="1300" b="1" dirty="0">
                <a:solidFill>
                  <a:schemeClr val="accent4"/>
                </a:solidFill>
              </a:rPr>
              <a:t>42. </a:t>
            </a:r>
            <a:r>
              <a:rPr lang="en-US" sz="1300" dirty="0">
                <a:solidFill>
                  <a:schemeClr val="tx1"/>
                </a:solidFill>
              </a:rPr>
              <a:t>McCroskey, J. C., Richmond, V. P., &amp; Daly, J. A. (1975). The development of a measure of perceived homophily in interpersonal communication. Human Communication Research, 1(4), 323–332.</a:t>
            </a:r>
            <a:endParaRPr lang="en-US" sz="1300" dirty="0"/>
          </a:p>
        </p:txBody>
      </p:sp>
      <p:sp>
        <p:nvSpPr>
          <p:cNvPr id="4" name="Text 2"/>
          <p:cNvSpPr txBox="1"/>
          <p:nvPr/>
        </p:nvSpPr>
        <p:spPr>
          <a:xfrm>
            <a:off x="6227064"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43. </a:t>
            </a:r>
            <a:r>
              <a:rPr lang="en-US" sz="1300" dirty="0">
                <a:solidFill>
                  <a:schemeClr val="tx1"/>
                </a:solidFill>
              </a:rPr>
              <a:t>McPherson, M., Smith-Lovin, L., &amp; Cook, J. M. (2001). Birds of a feather: Homophily in social networks. Annual Review of Sociology, 27, 415–444.</a:t>
            </a:r>
            <a:endParaRPr lang="en-US" sz="1300" dirty="0"/>
          </a:p>
          <a:p>
            <a:pPr indent="0" marL="0">
              <a:spcAft>
                <a:spcPts val="600"/>
              </a:spcAft>
              <a:buNone/>
            </a:pPr>
            <a:r>
              <a:rPr lang="en-US" sz="1300" b="1" dirty="0">
                <a:solidFill>
                  <a:schemeClr val="accent4"/>
                </a:solidFill>
              </a:rPr>
              <a:t>44. </a:t>
            </a:r>
            <a:r>
              <a:rPr lang="en-US" sz="1300" dirty="0">
                <a:solidFill>
                  <a:schemeClr val="tx1"/>
                </a:solidFill>
              </a:rPr>
              <a:t>Mehrabian, A., &amp; Russell, J. A. (1974). An approach to environmental psychology. MIT Press.</a:t>
            </a:r>
            <a:endParaRPr lang="en-US" sz="1300" dirty="0"/>
          </a:p>
          <a:p>
            <a:pPr indent="0" marL="0">
              <a:spcAft>
                <a:spcPts val="600"/>
              </a:spcAft>
              <a:buNone/>
            </a:pPr>
            <a:r>
              <a:rPr lang="en-US" sz="1300" b="1" dirty="0">
                <a:solidFill>
                  <a:schemeClr val="accent4"/>
                </a:solidFill>
              </a:rPr>
              <a:t>45. </a:t>
            </a:r>
            <a:r>
              <a:rPr lang="en-US" sz="1300" dirty="0">
                <a:solidFill>
                  <a:schemeClr val="tx1"/>
                </a:solidFill>
              </a:rPr>
              <a:t>Miao, F., Kozlenkova, I. V., Wang, H., Xie, T., &amp; Palmatier, R. W. (2022). An emerging theory of avatar marketing. Journal of Marketing, 86(1), 67–90.</a:t>
            </a:r>
            <a:endParaRPr lang="en-US" sz="1300" dirty="0"/>
          </a:p>
          <a:p>
            <a:pPr indent="0" marL="0">
              <a:spcAft>
                <a:spcPts val="600"/>
              </a:spcAft>
              <a:buNone/>
            </a:pPr>
            <a:r>
              <a:rPr lang="en-US" sz="1300" b="1" dirty="0">
                <a:solidFill>
                  <a:schemeClr val="accent4"/>
                </a:solidFill>
              </a:rPr>
              <a:t>46. </a:t>
            </a:r>
            <a:r>
              <a:rPr lang="en-US" sz="1300" dirty="0">
                <a:solidFill>
                  <a:schemeClr val="tx1"/>
                </a:solidFill>
              </a:rPr>
              <a:t>Morgan, R. M., &amp; Hunt, S. D. (1994). The commitment-trust theory of relationship marketing. Journal of Marketing, 58(3), 20–38.</a:t>
            </a:r>
            <a:endParaRPr lang="en-US" sz="1300" dirty="0"/>
          </a:p>
          <a:p>
            <a:pPr indent="0" marL="0">
              <a:spcAft>
                <a:spcPts val="600"/>
              </a:spcAft>
              <a:buNone/>
            </a:pPr>
            <a:r>
              <a:rPr lang="en-US" sz="1300" b="1" dirty="0">
                <a:solidFill>
                  <a:schemeClr val="accent4"/>
                </a:solidFill>
              </a:rPr>
              <a:t>47. </a:t>
            </a:r>
            <a:r>
              <a:rPr lang="en-US" sz="1300" dirty="0">
                <a:solidFill>
                  <a:schemeClr val="tx1"/>
                </a:solidFill>
              </a:rPr>
              <a:t>Mori, M., MacDorman, K. F., &amp; Kageki, N. (2012). The uncanny valley [From the field]. IEEE Robotics &amp; Automation Magazine, 19(2), 98–100.</a:t>
            </a:r>
            <a:endParaRPr lang="en-US" sz="1300" dirty="0"/>
          </a:p>
          <a:p>
            <a:pPr indent="0" marL="0">
              <a:spcAft>
                <a:spcPts val="600"/>
              </a:spcAft>
              <a:buNone/>
            </a:pPr>
            <a:r>
              <a:rPr lang="en-US" sz="1300" b="1" dirty="0">
                <a:solidFill>
                  <a:schemeClr val="accent4"/>
                </a:solidFill>
              </a:rPr>
              <a:t>48. </a:t>
            </a:r>
            <a:r>
              <a:rPr lang="en-US" sz="1300" dirty="0">
                <a:solidFill>
                  <a:schemeClr val="tx1"/>
                </a:solidFill>
              </a:rPr>
              <a:t>Moulard, J. G., Garrity, C. P., &amp; Rice, D. H. (2015). What makes a human brand authentic? Identifying the antecedents of celebrity authenticity. Psychology &amp; Marketing, 32(2), 173–186.</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REFERENCES (CONTD.)</a:t>
            </a:r>
            <a:endParaRPr lang="en-US" sz="2800" dirty="0"/>
          </a:p>
        </p:txBody>
      </p:sp>
      <p:sp>
        <p:nvSpPr>
          <p:cNvPr id="3" name="Text 1"/>
          <p:cNvSpPr txBox="1"/>
          <p:nvPr/>
        </p:nvSpPr>
        <p:spPr>
          <a:xfrm>
            <a:off x="548640"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49. </a:t>
            </a:r>
            <a:r>
              <a:rPr lang="en-US" sz="1300" dirty="0">
                <a:solidFill>
                  <a:schemeClr val="tx1"/>
                </a:solidFill>
              </a:rPr>
              <a:t>Mouritzen, S. L. T., Penttinen, V., &amp; Pedersen, S. (2024). Virtual influencer marketing: The good, the bad and the unreal. European Journal of Marketing, 58(2).</a:t>
            </a:r>
            <a:endParaRPr lang="en-US" sz="1300" dirty="0"/>
          </a:p>
          <a:p>
            <a:pPr indent="0" marL="0">
              <a:spcAft>
                <a:spcPts val="600"/>
              </a:spcAft>
              <a:buNone/>
            </a:pPr>
            <a:r>
              <a:rPr lang="en-US" sz="1300" b="1" dirty="0">
                <a:solidFill>
                  <a:schemeClr val="accent4"/>
                </a:solidFill>
              </a:rPr>
              <a:t>50. </a:t>
            </a:r>
            <a:r>
              <a:rPr lang="en-US" sz="1300" dirty="0">
                <a:solidFill>
                  <a:schemeClr val="tx1"/>
                </a:solidFill>
              </a:rPr>
              <a:t>Ohanian, R. (1990). Construction and validation of a scale to measure celebrity endorsers' perceived expertise, trustworthiness, and attractiveness. Journal of Advertising, 19(3), 39–52.</a:t>
            </a:r>
            <a:endParaRPr lang="en-US" sz="1300" dirty="0"/>
          </a:p>
          <a:p>
            <a:pPr indent="0" marL="0">
              <a:spcAft>
                <a:spcPts val="600"/>
              </a:spcAft>
              <a:buNone/>
            </a:pPr>
            <a:r>
              <a:rPr lang="en-US" sz="1300" b="1" dirty="0">
                <a:solidFill>
                  <a:schemeClr val="accent4"/>
                </a:solidFill>
              </a:rPr>
              <a:t>51. </a:t>
            </a:r>
            <a:r>
              <a:rPr lang="en-US" sz="1300" dirty="0">
                <a:solidFill>
                  <a:schemeClr val="tx1"/>
                </a:solidFill>
              </a:rPr>
              <a:t>Pan, M., Blut, M., Ghiassaleh, A., &amp; Lee, Z. W. Y. (2025). Influencer marketing effectiveness: A meta-analytic review. Journal of the Academy of Marketing Science, 53(1), 52–78.</a:t>
            </a:r>
            <a:endParaRPr lang="en-US" sz="1300" dirty="0"/>
          </a:p>
          <a:p>
            <a:pPr indent="0" marL="0">
              <a:spcAft>
                <a:spcPts val="600"/>
              </a:spcAft>
              <a:buNone/>
            </a:pPr>
            <a:r>
              <a:rPr lang="en-US" sz="1300" b="1" dirty="0">
                <a:solidFill>
                  <a:schemeClr val="accent4"/>
                </a:solidFill>
              </a:rPr>
              <a:t>52. </a:t>
            </a:r>
            <a:r>
              <a:rPr lang="en-US" sz="1300" dirty="0">
                <a:solidFill>
                  <a:schemeClr val="tx1"/>
                </a:solidFill>
              </a:rPr>
              <a:t>Pöyry, E., Pelkonen, M., Naumanen, E., &amp; Laaksonen, S.-M. (2019). A call for authenticity: Audience responses to social media influencer endorsements in strategic communication. International Journal of Strategic Communication, 13(4), 336–351.</a:t>
            </a:r>
            <a:endParaRPr lang="en-US" sz="1300" dirty="0"/>
          </a:p>
          <a:p>
            <a:pPr indent="0" marL="0">
              <a:spcAft>
                <a:spcPts val="600"/>
              </a:spcAft>
              <a:buNone/>
            </a:pPr>
            <a:r>
              <a:rPr lang="en-US" sz="1300" b="1" dirty="0">
                <a:solidFill>
                  <a:schemeClr val="accent4"/>
                </a:solidFill>
              </a:rPr>
              <a:t>53. </a:t>
            </a:r>
            <a:r>
              <a:rPr lang="en-US" sz="1300" dirty="0">
                <a:solidFill>
                  <a:schemeClr val="tx1"/>
                </a:solidFill>
              </a:rPr>
              <a:t>Reeves, B., &amp; Nass, C. (1996). The media equation: How people treat computers, television, and new media like real people and places. Cambridge University Press.</a:t>
            </a:r>
            <a:endParaRPr lang="en-US" sz="1300" dirty="0"/>
          </a:p>
          <a:p>
            <a:pPr indent="0" marL="0">
              <a:spcAft>
                <a:spcPts val="600"/>
              </a:spcAft>
              <a:buNone/>
            </a:pPr>
            <a:r>
              <a:rPr lang="en-US" sz="1300" b="1" dirty="0">
                <a:solidFill>
                  <a:schemeClr val="accent4"/>
                </a:solidFill>
              </a:rPr>
              <a:t>54. </a:t>
            </a:r>
            <a:r>
              <a:rPr lang="en-US" sz="1300" dirty="0">
                <a:solidFill>
                  <a:schemeClr val="tx1"/>
                </a:solidFill>
              </a:rPr>
              <a:t>Saima, &amp; Khan, M. A. (2021). Effect of social media influencer marketing on consumers' purchase intention and the mediating role of credibility. Journal of Promotion Management, 27(4), 503–523.</a:t>
            </a:r>
            <a:endParaRPr lang="en-US" sz="1300" dirty="0"/>
          </a:p>
        </p:txBody>
      </p:sp>
      <p:sp>
        <p:nvSpPr>
          <p:cNvPr id="4" name="Text 2"/>
          <p:cNvSpPr txBox="1"/>
          <p:nvPr/>
        </p:nvSpPr>
        <p:spPr>
          <a:xfrm>
            <a:off x="6227064"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55. </a:t>
            </a:r>
            <a:r>
              <a:rPr lang="en-US" sz="1300" dirty="0">
                <a:solidFill>
                  <a:schemeClr val="tx1"/>
                </a:solidFill>
              </a:rPr>
              <a:t>Sands, S., Campbell, C. L., Plangger, K., &amp; Ferraro, C. (2022). Unreal influence: Leveraging AI in influencer marketing. European Journal of Marketing, 56(6), 1721–1747.</a:t>
            </a:r>
            <a:endParaRPr lang="en-US" sz="1300" dirty="0"/>
          </a:p>
          <a:p>
            <a:pPr indent="0" marL="0">
              <a:spcAft>
                <a:spcPts val="600"/>
              </a:spcAft>
              <a:buNone/>
            </a:pPr>
            <a:r>
              <a:rPr lang="en-US" sz="1300" b="1" dirty="0">
                <a:solidFill>
                  <a:schemeClr val="accent4"/>
                </a:solidFill>
              </a:rPr>
              <a:t>56. </a:t>
            </a:r>
            <a:r>
              <a:rPr lang="en-US" sz="1300" dirty="0">
                <a:solidFill>
                  <a:schemeClr val="tx1"/>
                </a:solidFill>
              </a:rPr>
              <a:t>Schouten, A. P., Janssen, L., &amp; Verspaget, M. (2020). Celebrity vs. influencer endorsements in advertising: The role of identification, credibility, and product-endorser fit. International Journal of Advertising, 39(2), 258–281.</a:t>
            </a:r>
            <a:endParaRPr lang="en-US" sz="1300" dirty="0"/>
          </a:p>
          <a:p>
            <a:pPr indent="0" marL="0">
              <a:spcAft>
                <a:spcPts val="600"/>
              </a:spcAft>
              <a:buNone/>
            </a:pPr>
            <a:r>
              <a:rPr lang="en-US" sz="1300" b="1" dirty="0">
                <a:solidFill>
                  <a:schemeClr val="accent4"/>
                </a:solidFill>
              </a:rPr>
              <a:t>57. </a:t>
            </a:r>
            <a:r>
              <a:rPr lang="en-US" sz="1300" dirty="0">
                <a:solidFill>
                  <a:schemeClr val="tx1"/>
                </a:solidFill>
              </a:rPr>
              <a:t>Sokolova, K., &amp; Kefi, H. (2020). Instagram and YouTube bloggers promote it, why should I buy? How credibility and parasocial interaction influence purchase intentions. Journal of Retailing and Consumer Services, 53, Article 101742.</a:t>
            </a:r>
            <a:endParaRPr lang="en-US" sz="1300" dirty="0"/>
          </a:p>
          <a:p>
            <a:pPr indent="0" marL="0">
              <a:spcAft>
                <a:spcPts val="600"/>
              </a:spcAft>
              <a:buNone/>
            </a:pPr>
            <a:r>
              <a:rPr lang="en-US" sz="1300" b="1" dirty="0">
                <a:solidFill>
                  <a:schemeClr val="accent4"/>
                </a:solidFill>
              </a:rPr>
              <a:t>58. </a:t>
            </a:r>
            <a:r>
              <a:rPr lang="en-US" sz="1300" dirty="0">
                <a:solidFill>
                  <a:schemeClr val="tx1"/>
                </a:solidFill>
              </a:rPr>
              <a:t>Spears, N., &amp; Singh, S. N. (2004). Measuring attitude toward the brand and purchase intentions. Journal of Current Issues &amp; Research in Advertising, 26(2), 53–66.</a:t>
            </a:r>
            <a:endParaRPr lang="en-US" sz="1300" dirty="0"/>
          </a:p>
          <a:p>
            <a:pPr indent="0" marL="0">
              <a:spcAft>
                <a:spcPts val="600"/>
              </a:spcAft>
              <a:buNone/>
            </a:pPr>
            <a:r>
              <a:rPr lang="en-US" sz="1300" b="1" dirty="0">
                <a:solidFill>
                  <a:schemeClr val="accent4"/>
                </a:solidFill>
              </a:rPr>
              <a:t>59. </a:t>
            </a:r>
            <a:r>
              <a:rPr lang="en-US" sz="1300" dirty="0">
                <a:solidFill>
                  <a:schemeClr val="tx1"/>
                </a:solidFill>
              </a:rPr>
              <a:t>Stein, J.-P., Breves, P. L., &amp; Anders, N. (2024). Parasocial interactions with real and virtual influencers: The role of perceived similarity and human-likeness. New Media &amp; Society, 26(6), 3433–3453.</a:t>
            </a:r>
            <a:endParaRPr lang="en-US" sz="1300" dirty="0"/>
          </a:p>
          <a:p>
            <a:pPr indent="0" marL="0">
              <a:spcAft>
                <a:spcPts val="600"/>
              </a:spcAft>
              <a:buNone/>
            </a:pPr>
            <a:r>
              <a:rPr lang="en-US" sz="1300" b="1" dirty="0">
                <a:solidFill>
                  <a:schemeClr val="accent4"/>
                </a:solidFill>
              </a:rPr>
              <a:t>60. </a:t>
            </a:r>
            <a:r>
              <a:rPr lang="en-US" sz="1300" dirty="0">
                <a:solidFill>
                  <a:schemeClr val="tx1"/>
                </a:solidFill>
              </a:rPr>
              <a:t>Trivedi, J., &amp; Sama, R. (2020). The effect of influencer marketing on consumers' brand admiration and online purchase intentions: An emerging market perspective. Journal of Internet Commerce, 19(1), 103–124.</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731520"/>
          </a:xfrm>
          <a:prstGeom prst="rect">
            <a:avLst/>
          </a:prstGeom>
          <a:noFill/>
          <a:ln/>
        </p:spPr>
        <p:txBody>
          <a:bodyPr wrap="square" lIns="0" tIns="0" rIns="0" bIns="0" rtlCol="0" anchor="ctr"/>
          <a:lstStyle/>
          <a:p>
            <a:pPr algn="l" indent="0" marL="0">
              <a:buNone/>
            </a:pPr>
            <a:r>
              <a:rPr lang="en-US" sz="2800" b="1" dirty="0">
                <a:solidFill>
                  <a:schemeClr val="tx1"/>
                </a:solidFill>
              </a:rPr>
              <a:t>REFERENCES (CONTD.)</a:t>
            </a:r>
            <a:endParaRPr lang="en-US" sz="2800" dirty="0"/>
          </a:p>
        </p:txBody>
      </p:sp>
      <p:sp>
        <p:nvSpPr>
          <p:cNvPr id="3" name="Text 1"/>
          <p:cNvSpPr txBox="1"/>
          <p:nvPr/>
        </p:nvSpPr>
        <p:spPr>
          <a:xfrm>
            <a:off x="548640"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61. </a:t>
            </a:r>
            <a:r>
              <a:rPr lang="en-US" sz="1300" dirty="0">
                <a:solidFill>
                  <a:schemeClr val="tx1"/>
                </a:solidFill>
              </a:rPr>
              <a:t>Volles, B. K., Park, J., Van Kerckhove, A., &amp; Geuens, M. (2024). How and when do virtual influencers positively affect consumer responses to endorsed brands? Journal of Business Research, 183, Article 114863.</a:t>
            </a:r>
            <a:endParaRPr lang="en-US" sz="1300" dirty="0"/>
          </a:p>
          <a:p>
            <a:pPr indent="0" marL="0">
              <a:spcAft>
                <a:spcPts val="600"/>
              </a:spcAft>
              <a:buNone/>
            </a:pPr>
            <a:r>
              <a:rPr lang="en-US" sz="1300" b="1" dirty="0">
                <a:solidFill>
                  <a:schemeClr val="accent4"/>
                </a:solidFill>
              </a:rPr>
              <a:t>62. </a:t>
            </a:r>
            <a:r>
              <a:rPr lang="en-US" sz="1300" dirty="0">
                <a:solidFill>
                  <a:schemeClr val="tx1"/>
                </a:solidFill>
              </a:rPr>
              <a:t>Vrontis, D., Makrides, A., Christofi, M., &amp; Thrassou, A. (2021). Social media influencer marketing: A systematic review, integrative framework and future research agenda. International Journal of Consumer Studies, 45(4), 617–644.</a:t>
            </a:r>
            <a:endParaRPr lang="en-US" sz="1300" dirty="0"/>
          </a:p>
          <a:p>
            <a:pPr indent="0" marL="0">
              <a:spcAft>
                <a:spcPts val="600"/>
              </a:spcAft>
              <a:buNone/>
            </a:pPr>
            <a:r>
              <a:rPr lang="en-US" sz="1300" b="1" dirty="0">
                <a:solidFill>
                  <a:schemeClr val="accent4"/>
                </a:solidFill>
              </a:rPr>
              <a:t>63. </a:t>
            </a:r>
            <a:r>
              <a:rPr lang="en-US" sz="1300" dirty="0">
                <a:solidFill>
                  <a:schemeClr val="tx1"/>
                </a:solidFill>
              </a:rPr>
              <a:t>Waytz, A., Heafner, J., &amp; Epley, N. (2014). The mind in the machine: Anthropomorphism increases trust in an autonomous vehicle. Journal of Experimental Social Psychology, 52, 113–117.</a:t>
            </a:r>
            <a:endParaRPr lang="en-US" sz="1300" dirty="0"/>
          </a:p>
          <a:p>
            <a:pPr indent="0" marL="0">
              <a:spcAft>
                <a:spcPts val="600"/>
              </a:spcAft>
              <a:buNone/>
            </a:pPr>
            <a:r>
              <a:rPr lang="en-US" sz="1300" b="1" dirty="0">
                <a:solidFill>
                  <a:schemeClr val="accent4"/>
                </a:solidFill>
              </a:rPr>
              <a:t>64. </a:t>
            </a:r>
            <a:r>
              <a:rPr lang="en-US" sz="1300" dirty="0">
                <a:solidFill>
                  <a:schemeClr val="tx1"/>
                </a:solidFill>
              </a:rPr>
              <a:t>Weismueller, J., Harrigan, P., Wang, S., &amp; Soutar, G. N. (2020). Influencer endorsements: How advertising disclosure and source credibility affect consumer purchase intention on social media. Australasian Marketing Journal, 28(4), 160–170.</a:t>
            </a:r>
            <a:endParaRPr lang="en-US" sz="1300" dirty="0"/>
          </a:p>
          <a:p>
            <a:pPr indent="0" marL="0">
              <a:spcAft>
                <a:spcPts val="600"/>
              </a:spcAft>
              <a:buNone/>
            </a:pPr>
            <a:r>
              <a:rPr lang="en-US" sz="1300" b="1" dirty="0">
                <a:solidFill>
                  <a:schemeClr val="accent4"/>
                </a:solidFill>
              </a:rPr>
              <a:t>65. </a:t>
            </a:r>
            <a:r>
              <a:rPr lang="en-US" sz="1300" dirty="0">
                <a:solidFill>
                  <a:schemeClr val="tx1"/>
                </a:solidFill>
              </a:rPr>
              <a:t>Yoo, J. W., Park, J., &amp; Park, H. (2025). How can I trust you if you're fake? Understanding human-like virtual influencer credibility and the role of textual social cues. Journal of Research in Interactive Marketing, 19(4), 730–748.</a:t>
            </a:r>
            <a:endParaRPr lang="en-US" sz="1300" dirty="0"/>
          </a:p>
          <a:p>
            <a:pPr indent="0" marL="0">
              <a:spcAft>
                <a:spcPts val="600"/>
              </a:spcAft>
              <a:buNone/>
            </a:pPr>
            <a:r>
              <a:rPr lang="en-US" sz="1300" b="1" dirty="0">
                <a:solidFill>
                  <a:schemeClr val="accent4"/>
                </a:solidFill>
              </a:rPr>
              <a:t>66. </a:t>
            </a:r>
            <a:r>
              <a:rPr lang="en-US" sz="1300" dirty="0">
                <a:solidFill>
                  <a:schemeClr val="tx1"/>
                </a:solidFill>
              </a:rPr>
              <a:t>Yuan, S., &amp; Lou, C. (2020). How social media influencers foster relationships with followers: The roles of source credibility and fairness in parasocial relationship and product interest. Journal of Interactive Advertising, 20(2), 133–147.</a:t>
            </a:r>
            <a:endParaRPr lang="en-US" sz="1300" dirty="0"/>
          </a:p>
        </p:txBody>
      </p:sp>
      <p:sp>
        <p:nvSpPr>
          <p:cNvPr id="4" name="Text 2"/>
          <p:cNvSpPr txBox="1"/>
          <p:nvPr/>
        </p:nvSpPr>
        <p:spPr>
          <a:xfrm>
            <a:off x="6227064" y="1645920"/>
            <a:ext cx="5413248" cy="4754880"/>
          </a:xfrm>
          <a:prstGeom prst="rect">
            <a:avLst/>
          </a:prstGeom>
          <a:noFill/>
          <a:ln/>
        </p:spPr>
        <p:txBody>
          <a:bodyPr wrap="square" lIns="0" tIns="0" rIns="0" bIns="0" rtlCol="0" anchor="t"/>
          <a:lstStyle/>
          <a:p>
            <a:pPr indent="0" marL="0">
              <a:spcAft>
                <a:spcPts val="600"/>
              </a:spcAft>
              <a:buNone/>
            </a:pPr>
            <a:r>
              <a:rPr lang="en-US" sz="1300" b="1" dirty="0">
                <a:solidFill>
                  <a:schemeClr val="accent4"/>
                </a:solidFill>
              </a:rPr>
              <a:t>67. </a:t>
            </a:r>
            <a:r>
              <a:rPr lang="en-US" sz="1300" dirty="0">
                <a:solidFill>
                  <a:schemeClr val="tx1"/>
                </a:solidFill>
              </a:rPr>
              <a:t>Zhou, X., Yan, X., &amp; Jiang, Y. (2024). Making sense? The sensory-specific nature of virtual influencer effectiveness. Journal of Marketing, 88(4), 84–106.</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548640" y="1371600"/>
            <a:ext cx="11091672" cy="1737360"/>
          </a:xfrm>
          <a:prstGeom prst="rect">
            <a:avLst/>
          </a:prstGeom>
          <a:noFill/>
          <a:ln/>
        </p:spPr>
        <p:txBody>
          <a:bodyPr wrap="square" rtlCol="0" anchor="ctr"/>
          <a:lstStyle/>
          <a:p>
            <a:pPr algn="ctr" indent="0" marL="0">
              <a:buNone/>
            </a:pPr>
            <a:r>
              <a:rPr lang="en-US" sz="3800" b="1" dirty="0">
                <a:solidFill>
                  <a:schemeClr val="tx1"/>
                </a:solidFill>
              </a:rPr>
              <a:t>THANK YOU</a:t>
            </a:r>
            <a:endParaRPr lang="en-US" sz="3800" dirty="0"/>
          </a:p>
        </p:txBody>
      </p:sp>
      <p:sp>
        <p:nvSpPr>
          <p:cNvPr id="3" name="Text 1"/>
          <p:cNvSpPr txBox="1"/>
          <p:nvPr/>
        </p:nvSpPr>
        <p:spPr>
          <a:xfrm>
            <a:off x="548640" y="3429000"/>
            <a:ext cx="11091672" cy="502920"/>
          </a:xfrm>
          <a:prstGeom prst="rect">
            <a:avLst/>
          </a:prstGeom>
          <a:noFill/>
          <a:ln/>
        </p:spPr>
        <p:txBody>
          <a:bodyPr wrap="square" rtlCol="0" anchor="ctr"/>
          <a:lstStyle/>
          <a:p>
            <a:pPr algn="ctr" indent="0" marL="0">
              <a:buNone/>
            </a:pPr>
            <a:r>
              <a:rPr lang="en-US" sz="2400" dirty="0">
                <a:solidFill>
                  <a:schemeClr val="accent4"/>
                </a:solidFill>
              </a:rPr>
              <a:t>Questions and suggestions are welcome</a:t>
            </a:r>
            <a:endParaRPr lang="en-US" sz="2400" dirty="0"/>
          </a:p>
        </p:txBody>
      </p:sp>
    </p:spTree>
  </p:cSld>
  <p:clrMapOvr>
    <a:masterClrMapping/>
  </p:clrMapOvr>
</p:sld>
</file>

<file path=ppt/theme/theme1.xml><?xml version="1.0" encoding="utf-8"?>
<a:theme xmlns:a="http://schemas.openxmlformats.org/drawingml/2006/main" name="Virtual Influencers">
  <a:themeElements>
    <a:clrScheme name="Virtual Influencers">
      <a:dk1>
        <a:srgbClr val="404040"/>
      </a:dk1>
      <a:lt1>
        <a:srgbClr val="FFFFFF"/>
      </a:lt1>
      <a:dk2>
        <a:srgbClr val="3F4A51"/>
      </a:dk2>
      <a:lt2>
        <a:srgbClr val="E1ECEC"/>
      </a:lt2>
      <a:accent1>
        <a:srgbClr val="1AACE3"/>
      </a:accent1>
      <a:accent2>
        <a:srgbClr val="3F4A51"/>
      </a:accent2>
      <a:accent3>
        <a:srgbClr val="989FA8"/>
      </a:accent3>
      <a:accent4>
        <a:srgbClr val="1F86B5"/>
      </a:accent4>
      <a:accent5>
        <a:srgbClr val="F2A541"/>
      </a:accent5>
      <a:accent6>
        <a:srgbClr val="5BB98C"/>
      </a:accent6>
      <a:hlink>
        <a:srgbClr val="1F86B5"/>
      </a:hlink>
      <a:folHlink>
        <a:srgbClr val="989FA8"/>
      </a:folHlink>
    </a:clrScheme>
    <a:fontScheme name="Virtual Influencer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Virtual Influencers, Trust and Purchase Intention among Gen Z</dc:title>
  <dc:subject>PptxGenJS Presentation</dc:subject>
  <dc:creator>PptxGenJS</dc:creator>
  <cp:lastModifiedBy>PptxGenJS</cp:lastModifiedBy>
  <cp:revision>1</cp:revision>
  <dcterms:created xsi:type="dcterms:W3CDTF">2026-10-29T15:52:11Z</dcterms:created>
  <dcterms:modified xsi:type="dcterms:W3CDTF">2026-10-29T15:52:11Z</dcterms:modified>
</cp:coreProperties>
</file>
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f09e63e-2196-5ce3-0849-e891f9b8d865}">
          <p14:sldIdLst>
            <p14:sldId id="256"/>
            <p14:sldId id="257"/>
            <p14:sldId id="258"/>
          </p14:sldIdLst>
        </p14:section>
        <p14:section name="Literature Review" id="{ed3ba60d-8abd-1234-3b6e-6189905dcd64}">
          <p14:sldIdLst>
            <p14:sldId id="259"/>
            <p14:sldId id="260"/>
            <p14:sldId id="261"/>
            <p14:sldId id="262"/>
            <p14:sldId id="263"/>
            <p14:sldId id="264"/>
            <p14:sldId id="265"/>
          </p14:sldIdLst>
        </p14:section>
        <p14:section name="Research Design" id="{197add1f-4c5d-ea0e-ecba-1b0ddfa77f25}">
          <p14:sldIdLst>
            <p14:sldId id="266"/>
            <p14:sldId id="267"/>
            <p14:sldId id="268"/>
            <p14:sldId id="269"/>
            <p14:sldId id="270"/>
          </p14:sldIdLst>
        </p14:section>
        <p14:section name="References" id="{a3d8a4d4-dc5b-125c-d894-93aa50b97e58}">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438912" y="457200"/>
            <a:ext cx="3712464" cy="91440"/>
          </a:xfrm>
          <a:prstGeom prst="rect">
            <a:avLst/>
          </a:prstGeom>
          <a:solidFill>
            <a:schemeClr val="tx2"/>
          </a:solidFill>
          <a:ln/>
        </p:spPr>
      </p:sp>
      <p:sp>
        <p:nvSpPr>
          <p:cNvPr id="3" name="Shape 1"/>
          <p:cNvSpPr/>
          <p:nvPr/>
        </p:nvSpPr>
        <p:spPr>
          <a:xfrm>
            <a:off x="4242816" y="457200"/>
            <a:ext cx="3694176" cy="91440"/>
          </a:xfrm>
          <a:prstGeom prst="rect">
            <a:avLst/>
          </a:prstGeom>
          <a:solidFill>
            <a:schemeClr val="accent1"/>
          </a:solidFill>
          <a:ln/>
        </p:spPr>
      </p:sp>
      <p:sp>
        <p:nvSpPr>
          <p:cNvPr id="4" name="Shape 2"/>
          <p:cNvSpPr/>
          <p:nvPr/>
        </p:nvSpPr>
        <p:spPr>
          <a:xfrm>
            <a:off x="8028432" y="457200"/>
            <a:ext cx="3712464" cy="91440"/>
          </a:xfrm>
          <a:prstGeom prst="rect">
            <a:avLst/>
          </a:prstGeom>
          <a:solidFill>
            <a:schemeClr val="accent3"/>
          </a:solidFill>
          <a:ln/>
        </p:spPr>
      </p:sp>
      <p:sp>
        <p:nvSpPr>
          <p:cNvPr id="5" name="Text 3"/>
          <p:cNvSpPr/>
          <p:nvPr>
            <p:ph idx="103" type="title" hasCustomPrompt="1"/>
          </p:nvPr>
        </p:nvSpPr>
        <p:spPr>
          <a:xfrm>
            <a:off x="548640" y="1371600"/>
            <a:ext cx="11091672" cy="1737360"/>
          </a:xfrm>
          <a:prstGeom prst="rect">
            <a:avLst/>
          </a:prstGeom>
          <a:noFill/>
          <a:ln/>
        </p:spPr>
        <p:txBody>
          <a:bodyPr wrap="square" rtlCol="0"/>
          <a:lstStyle>
            <a:lvl1pPr algn="ctr" indent="0" marL="0">
              <a:buNone/>
              <a:defRPr lang="en-US" sz="3400" b="1" dirty="0">
                <a:solidFill>
                  <a:schemeClr val="tx1"/>
                </a:solidFill>
              </a:defRPr>
            </a:lvl1pPr>
          </a:lstStyle>
          <a:p>
            <a:pPr algn="ctr" indent="0" marL="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438912" y="457200"/>
            <a:ext cx="3712464" cy="91440"/>
          </a:xfrm>
          <a:prstGeom prst="rect">
            <a:avLst/>
          </a:prstGeom>
          <a:solidFill>
            <a:schemeClr val="tx2"/>
          </a:solidFill>
          <a:ln/>
        </p:spPr>
      </p:sp>
      <p:sp>
        <p:nvSpPr>
          <p:cNvPr id="3" name="Shape 1"/>
          <p:cNvSpPr/>
          <p:nvPr/>
        </p:nvSpPr>
        <p:spPr>
          <a:xfrm>
            <a:off x="4242816" y="457200"/>
            <a:ext cx="3694176" cy="91440"/>
          </a:xfrm>
          <a:prstGeom prst="rect">
            <a:avLst/>
          </a:prstGeom>
          <a:solidFill>
            <a:schemeClr val="accent1"/>
          </a:solidFill>
          <a:ln/>
        </p:spPr>
      </p:sp>
      <p:sp>
        <p:nvSpPr>
          <p:cNvPr id="4" name="Shape 2"/>
          <p:cNvSpPr/>
          <p:nvPr/>
        </p:nvSpPr>
        <p:spPr>
          <a:xfrm>
            <a:off x="8028432" y="457200"/>
            <a:ext cx="3712464" cy="91440"/>
          </a:xfrm>
          <a:prstGeom prst="rect">
            <a:avLst/>
          </a:prstGeom>
          <a:solidFill>
            <a:schemeClr val="accent3"/>
          </a:solidFill>
          <a:ln/>
        </p:spPr>
      </p:sp>
      <p:sp>
        <p:nvSpPr>
          <p:cNvPr id="5" name="Text 3"/>
          <p:cNvSpPr/>
          <p:nvPr>
            <p:ph idx="103" type="title" hasCustomPrompt="1"/>
          </p:nvPr>
        </p:nvSpPr>
        <p:spPr>
          <a:xfrm>
            <a:off x="548640" y="749808"/>
            <a:ext cx="11091672" cy="658368"/>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3"/>
          <p:cNvSpPr/>
          <p:nvPr>
            <p:ph idx="103" type="title" hasCustomPrompt="1"/>
          </p:nvPr>
        </p:nvSpPr>
        <p:spPr>
          <a:xfrm>
            <a:off x="548640" y="1371600"/>
            <a:ext cx="11091672" cy="1737360"/>
          </a:xfrm>
          <a:prstGeom prst="rect">
            <a:avLst/>
          </a:prstGeom>
          <a:noFill/>
          <a:ln/>
        </p:spPr>
        <p:txBody>
          <a:bodyPr wrap="square" rtlCol="0" anchor="ctr"/>
          <a:lstStyle/>
          <a:p>
            <a:pPr algn="ctr" indent="0" marL="0">
              <a:buNone/>
            </a:pPr>
            <a:r>
              <a:rPr lang="en-US" sz="3400" b="1" dirty="0">
                <a:solidFill>
                  <a:schemeClr val="tx1"/>
                </a:solidFill>
              </a:rPr>
              <a:t>HOW CONSUMER PERCEPTIONS OF VIRTUAL INFLUENCERS SHAPE TRUST AND PURCHASE INTENTION AMONG GEN Z</a:t>
            </a:r>
            <a:endParaRPr lang="en-US" sz="3400" dirty="0"/>
          </a:p>
        </p:txBody>
      </p:sp>
      <p:sp>
        <p:nvSpPr>
          <p:cNvPr id="3" name="Text 1"/>
          <p:cNvSpPr txBox="1"/>
          <p:nvPr/>
        </p:nvSpPr>
        <p:spPr>
          <a:xfrm>
            <a:off x="548640" y="3429000"/>
            <a:ext cx="11091672" cy="457200"/>
          </a:xfrm>
          <a:prstGeom prst="rect">
            <a:avLst/>
          </a:prstGeom>
          <a:noFill/>
          <a:ln/>
        </p:spPr>
        <p:txBody>
          <a:bodyPr wrap="square" rtlCol="0" anchor="ctr"/>
          <a:lstStyle/>
          <a:p>
            <a:pPr algn="ctr" indent="0" marL="0">
              <a:buNone/>
            </a:pPr>
            <a:r>
              <a:rPr lang="en-US" sz="2200" dirty="0">
                <a:solidFill>
                  <a:schemeClr val="accent4"/>
                </a:solidFill>
              </a:rPr>
              <a:t>PROJECT PRESENTATION  |  AREA: MARKETING</a:t>
            </a:r>
            <a:endParaRPr lang="en-US" sz="2200" dirty="0"/>
          </a:p>
        </p:txBody>
      </p:sp>
      <p:sp>
        <p:nvSpPr>
          <p:cNvPr id="4" name="Text 2"/>
          <p:cNvSpPr txBox="1"/>
          <p:nvPr/>
        </p:nvSpPr>
        <p:spPr>
          <a:xfrm>
            <a:off x="548640" y="4663440"/>
            <a:ext cx="4572000" cy="1097280"/>
          </a:xfrm>
          <a:prstGeom prst="rect">
            <a:avLst/>
          </a:prstGeom>
          <a:noFill/>
          <a:ln/>
        </p:spPr>
        <p:txBody>
          <a:bodyPr wrap="square" rtlCol="0" anchor="t"/>
          <a:lstStyle/>
          <a:p>
            <a:pPr indent="0" marL="0">
              <a:buNone/>
            </a:pPr>
            <a:r>
              <a:rPr lang="en-US" sz="1800" dirty="0">
                <a:solidFill>
                  <a:srgbClr val="000000"/>
                </a:solidFill>
              </a:rPr>
              <a:t>Under the guidance of:</a:t>
            </a:r>
            <a:endParaRPr lang="en-US" sz="1800" dirty="0"/>
          </a:p>
          <a:p>
            <a:pPr lvl="1" indent="0" marL="0">
              <a:buNone/>
            </a:pPr>
            <a:r>
              <a:rPr lang="en-US" sz="1800" dirty="0">
                <a:solidFill>
                  <a:srgbClr val="000000"/>
                </a:solidFill>
              </a:rPr>
              <a:t>Dr. Mithra Manmadhan</a:t>
            </a:r>
            <a:endParaRPr lang="en-US" sz="1800" dirty="0"/>
          </a:p>
          <a:p>
            <a:pPr lvl="1" indent="0" marL="0">
              <a:buNone/>
            </a:pPr>
            <a:r>
              <a:rPr lang="en-US" sz="1800" dirty="0">
                <a:solidFill>
                  <a:srgbClr val="000000"/>
                </a:solidFill>
              </a:rPr>
              <a:t>Assistant Professor</a:t>
            </a:r>
            <a:endParaRPr lang="en-US" sz="1800" dirty="0"/>
          </a:p>
        </p:txBody>
      </p:sp>
      <p:sp>
        <p:nvSpPr>
          <p:cNvPr id="5" name="Text 3"/>
          <p:cNvSpPr txBox="1"/>
          <p:nvPr/>
        </p:nvSpPr>
        <p:spPr>
          <a:xfrm>
            <a:off x="8778240" y="4663440"/>
            <a:ext cx="2926080" cy="1097280"/>
          </a:xfrm>
          <a:prstGeom prst="rect">
            <a:avLst/>
          </a:prstGeom>
          <a:noFill/>
          <a:ln/>
        </p:spPr>
        <p:txBody>
          <a:bodyPr wrap="square" rtlCol="0" anchor="t"/>
          <a:lstStyle/>
          <a:p>
            <a:pPr indent="0" marL="0">
              <a:buNone/>
            </a:pPr>
            <a:r>
              <a:rPr lang="en-US" sz="1800" dirty="0">
                <a:solidFill>
                  <a:srgbClr val="000000"/>
                </a:solidFill>
              </a:rPr>
              <a:t>Abhiram JP</a:t>
            </a:r>
            <a:endParaRPr lang="en-US" sz="1800" dirty="0"/>
          </a:p>
          <a:p>
            <a:pPr indent="0" marL="0">
              <a:buNone/>
            </a:pPr>
            <a:r>
              <a:rPr lang="en-US" sz="1800" dirty="0">
                <a:solidFill>
                  <a:srgbClr val="000000"/>
                </a:solidFill>
              </a:rPr>
              <a:t>MBA Batch B</a:t>
            </a:r>
            <a:endParaRPr lang="en-US" sz="1800" dirty="0"/>
          </a:p>
          <a:p>
            <a:pPr indent="0" marL="0">
              <a:buNone/>
            </a:pPr>
            <a:r>
              <a:rPr lang="en-US" sz="1800" dirty="0">
                <a:solidFill>
                  <a:srgbClr val="000000"/>
                </a:solidFill>
              </a:rPr>
              <a:t>TVE25MBA03</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548640" y="749808"/>
            <a:ext cx="11091672" cy="658368"/>
          </a:xfrm>
          <a:prstGeom prst="rect">
            <a:avLst/>
          </a:prstGeom>
          <a:noFill/>
          <a:ln/>
        </p:spPr>
        <p:txBody>
          <a:bodyPr wrap="square" lIns="0" tIns="0" rIns="0" bIns="0" rtlCol="0" anchor="ctr"/>
          <a:lstStyle/>
          <a:p>
            <a:pPr algn="l" indent="0" marL="0">
              <a:buNone/>
            </a:pPr>
            <a:r>
              <a:rPr lang="en-US" sz="2600" b="1" dirty="0">
                <a:solidFill>
                  <a:schemeClr val="tx1"/>
                </a:solidFill>
              </a:rPr>
              <a:t>INTRODUCTION</a:t>
            </a:r>
            <a:endParaRPr lang="en-US" sz="2600" dirty="0"/>
          </a:p>
        </p:txBody>
      </p:sp>
      <p:sp>
        <p:nvSpPr>
          <p:cNvPr id="3" name="Text 1"/>
          <p:cNvSpPr txBox="1"/>
          <p:nvPr/>
        </p:nvSpPr>
        <p:spPr>
          <a:xfrm>
            <a:off x="548640" y="1645920"/>
            <a:ext cx="7223760" cy="4572000"/>
          </a:xfrm>
          <a:prstGeom prst="rect">
            <a:avLst/>
          </a:prstGeom>
          <a:noFill/>
          <a:ln/>
        </p:spPr>
        <p:txBody>
          <a:bodyPr wrap="square" lIns="25400" tIns="50800" rIns="50800" bIns="25400" rtlCol="0" anchor="t"/>
          <a:lstStyle/>
          <a:p>
            <a:pPr marL="228600" indent="-228600">
              <a:spcAft>
                <a:spcPts val="1200"/>
              </a:spcAft>
              <a:buSzPct val="100000"/>
              <a:buChar char="■"/>
            </a:pPr>
            <a:r>
              <a:rPr lang="en-US" sz="1600" dirty="0">
                <a:solidFill>
                  <a:schemeClr val="tx1"/>
                </a:solidFill>
              </a:rPr>
              <a:t>Influencer marketing grew from social media users building personal brands strong enough to rival those of companies. </a:t>
            </a:r>
            <a:r>
              <a:rPr lang="en-US" sz="1600" dirty="0">
                <a:solidFill>
                  <a:schemeClr val="accent4"/>
                </a:solidFill>
              </a:rPr>
              <a:t>(Khamis et al., 2017)</a:t>
            </a:r>
            <a:endParaRPr lang="en-US" sz="1600" dirty="0"/>
          </a:p>
          <a:p>
            <a:pPr marL="228600" indent="-228600">
              <a:spcAft>
                <a:spcPts val="1200"/>
              </a:spcAft>
              <a:buSzPct val="100000"/>
              <a:buChar char="■"/>
            </a:pPr>
            <a:r>
              <a:rPr lang="en-US" sz="1600" dirty="0">
                <a:solidFill>
                  <a:schemeClr val="tx1"/>
                </a:solidFill>
              </a:rPr>
              <a:t>Influencers combine an audience, a persuasive endorser and a skilled content producer in one person. </a:t>
            </a:r>
            <a:r>
              <a:rPr lang="en-US" sz="1600" dirty="0">
                <a:solidFill>
                  <a:schemeClr val="accent4"/>
                </a:solidFill>
              </a:rPr>
              <a:t>(Campbell &amp; Farrell, 2020)</a:t>
            </a:r>
            <a:endParaRPr lang="en-US" sz="1600" dirty="0"/>
          </a:p>
          <a:p>
            <a:pPr marL="228600" indent="-228600">
              <a:spcAft>
                <a:spcPts val="1200"/>
              </a:spcAft>
              <a:buSzPct val="100000"/>
              <a:buChar char="■"/>
            </a:pPr>
            <a:r>
              <a:rPr lang="en-US" sz="1600" dirty="0">
                <a:solidFill>
                  <a:schemeClr val="tx1"/>
                </a:solidFill>
              </a:rPr>
              <a:t>Virtual influencers are computer-generated characters that post, endorse brands and interact with followers just as human creators do.</a:t>
            </a:r>
            <a:endParaRPr lang="en-US" sz="1600" dirty="0"/>
          </a:p>
          <a:p>
            <a:pPr marL="228600" indent="-228600">
              <a:spcAft>
                <a:spcPts val="1200"/>
              </a:spcAft>
              <a:buSzPct val="100000"/>
              <a:buChar char="■"/>
            </a:pPr>
            <a:r>
              <a:rPr lang="en-US" sz="1600" dirty="0">
                <a:solidFill>
                  <a:schemeClr val="tx1"/>
                </a:solidFill>
              </a:rPr>
              <a:t>They offer brands customisation, flexibility, ownership and automation. </a:t>
            </a:r>
            <a:r>
              <a:rPr lang="en-US" sz="1600" dirty="0">
                <a:solidFill>
                  <a:schemeClr val="accent4"/>
                </a:solidFill>
              </a:rPr>
              <a:t>(Mouritzen et al., 2024)</a:t>
            </a:r>
            <a:endParaRPr lang="en-US" sz="1600" dirty="0"/>
          </a:p>
          <a:p>
            <a:pPr marL="228600" indent="-228600">
              <a:spcAft>
                <a:spcPts val="1200"/>
              </a:spcAft>
              <a:buSzPct val="100000"/>
              <a:buChar char="■"/>
            </a:pPr>
            <a:r>
              <a:rPr lang="en-US" sz="1600" dirty="0">
                <a:solidFill>
                  <a:schemeClr val="tx1"/>
                </a:solidFill>
              </a:rPr>
              <a:t>Their arrival marks a shift in the influencer marketing paradigm, particularly for young consumers. </a:t>
            </a:r>
            <a:r>
              <a:rPr lang="en-US" sz="1600" dirty="0">
                <a:solidFill>
                  <a:schemeClr val="accent4"/>
                </a:solidFill>
              </a:rPr>
              <a:t>(Jhawar et al., 2023)</a:t>
            </a:r>
            <a:endParaRPr lang="en-US" sz="1600" dirty="0"/>
          </a:p>
        </p:txBody>
      </p:sp>
      <p:sp>
        <p:nvSpPr>
          <p:cNvPr id="4" name="Virtual influencer panel"/>
          <p:cNvSpPr/>
          <p:nvPr/>
        </p:nvSpPr>
        <p:spPr>
          <a:xfrm>
            <a:off x="8138160" y="1691640"/>
            <a:ext cx="3520440" cy="4480560"/>
          </a:xfrm>
          <a:prstGeom prst="rect">
            <a:avLst/>
          </a:prstGeom>
          <a:solidFill>
            <a:schemeClr val="bg2"/>
          </a:solidFill>
          <a:ln w="12700">
            <a:solidFill>
              <a:schemeClr val="bg2"/>
            </a:solidFill>
            <a:prstDash val="solid"/>
          </a:ln>
        </p:spPr>
      </p:sp>
      <p:sp>
        <p:nvSpPr>
          <p:cNvPr id="5" name="Robot circle"/>
          <p:cNvSpPr/>
          <p:nvPr/>
        </p:nvSpPr>
        <p:spPr>
          <a:xfrm>
            <a:off x="9217152" y="1965960"/>
            <a:ext cx="1371600" cy="1371600"/>
          </a:xfrm>
          <a:prstGeom prst="ellipse">
            <a:avLst/>
          </a:prstGeom>
          <a:solidFill>
            <a:schemeClr val="accent1"/>
          </a:solidFill>
          <a:ln w="12700">
            <a:solidFill>
              <a:schemeClr val="accent1"/>
            </a:solidFill>
            <a:prstDash val="solid"/>
          </a:ln>
        </p:spPr>
      </p:sp>
      <p:pic>
        <p:nvPicPr>
          <p:cNvPr id="6" name="Robot icon" descr="preencoded.png">    </p:cNvPr>
          <p:cNvPicPr>
            <a:picLocks noChangeAspect="1"/>
          </p:cNvPicPr>
          <p:nvPr/>
        </p:nvPicPr>
        <p:blipFill>
          <a:blip r:embed="rId1"/>
          <a:stretch>
            <a:fillRect/>
          </a:stretch>
        </p:blipFill>
        <p:spPr>
          <a:xfrm>
            <a:off x="9560052" y="2308860"/>
            <a:ext cx="685800" cy="685800"/>
          </a:xfrm>
          <a:prstGeom prst="rect">
            <a:avLst/>
          </a:prstGeom>
        </p:spPr>
      </p:pic>
      <p:sp>
        <p:nvSpPr>
          <p:cNvPr id="7" name="Text 4"/>
          <p:cNvSpPr txBox="1"/>
          <p:nvPr/>
        </p:nvSpPr>
        <p:spPr>
          <a:xfrm>
            <a:off x="8321040" y="3611880"/>
            <a:ext cx="3154680" cy="1463040"/>
          </a:xfrm>
          <a:prstGeom prst="rect">
            <a:avLst/>
          </a:prstGeom>
          <a:noFill/>
          <a:ln/>
        </p:spPr>
        <p:txBody>
          <a:bodyPr wrap="square" rtlCol="0" anchor="t"/>
          <a:lstStyle/>
          <a:p>
            <a:pPr algn="ctr" indent="0" marL="0">
              <a:spcAft>
                <a:spcPts val="1000"/>
              </a:spcAft>
              <a:buNone/>
            </a:pPr>
            <a:r>
              <a:rPr lang="en-US" sz="1600" b="1" dirty="0">
                <a:solidFill>
                  <a:schemeClr val="tx2"/>
                </a:solidFill>
              </a:rPr>
              <a:t>Computer-generated</a:t>
            </a:r>
            <a:endParaRPr lang="en-US" sz="1600" dirty="0"/>
          </a:p>
          <a:p>
            <a:pPr algn="ctr" indent="0" marL="0">
              <a:spcAft>
                <a:spcPts val="1000"/>
              </a:spcAft>
              <a:buNone/>
            </a:pPr>
            <a:r>
              <a:rPr lang="en-US" sz="1600" b="1" dirty="0">
                <a:solidFill>
                  <a:schemeClr val="tx2"/>
                </a:solidFill>
              </a:rPr>
              <a:t>Owned by brands</a:t>
            </a:r>
            <a:endParaRPr lang="en-US" sz="1600" dirty="0"/>
          </a:p>
          <a:p>
            <a:pPr algn="ctr" indent="0" marL="0">
              <a:spcAft>
                <a:spcPts val="1000"/>
              </a:spcAft>
              <a:buNone/>
            </a:pPr>
            <a:r>
              <a:rPr lang="en-US" sz="1600" b="1" dirty="0">
                <a:solidFill>
                  <a:schemeClr val="tx2"/>
                </a:solidFill>
              </a:rPr>
              <a:t>Always on, fully controllable</a:t>
            </a:r>
            <a:endParaRPr lang="en-US" sz="1600" dirty="0"/>
          </a:p>
        </p:txBody>
      </p:sp>
      <p:sp>
        <p:nvSpPr>
          <p:cNvPr id="8" name="Text 5"/>
          <p:cNvSpPr txBox="1"/>
          <p:nvPr/>
        </p:nvSpPr>
        <p:spPr>
          <a:xfrm>
            <a:off x="8321040" y="5120640"/>
            <a:ext cx="3154680" cy="868680"/>
          </a:xfrm>
          <a:prstGeom prst="rect">
            <a:avLst/>
          </a:prstGeom>
          <a:noFill/>
          <a:ln/>
        </p:spPr>
        <p:txBody>
          <a:bodyPr wrap="square" rtlCol="0" anchor="ctr"/>
          <a:lstStyle/>
          <a:p>
            <a:pPr algn="ctr" indent="0" marL="0">
              <a:buNone/>
            </a:pPr>
            <a:r>
              <a:rPr lang="en-US" sz="1400" i="1" dirty="0">
                <a:solidFill>
                  <a:schemeClr val="accent4"/>
                </a:solidFill>
              </a:rPr>
              <a:t>But can a digital character earn a consumer's trust?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548640" y="749808"/>
            <a:ext cx="11091672" cy="658368"/>
          </a:xfrm>
          <a:prstGeom prst="rect">
            <a:avLst/>
          </a:prstGeom>
          <a:noFill/>
          <a:ln/>
        </p:spPr>
        <p:txBody>
          <a:bodyPr wrap="square" lIns="0" tIns="0" rIns="0" bIns="0" rtlCol="0" anchor="ctr"/>
          <a:lstStyle/>
          <a:p>
            <a:pPr algn="l" indent="0" marL="0">
              <a:buNone/>
            </a:pPr>
            <a:r>
              <a:rPr lang="en-US" sz="2600" b="1" dirty="0">
                <a:solidFill>
                  <a:schemeClr val="tx1"/>
                </a:solidFill>
              </a:rPr>
              <a:t>PROBLEM STATEMENT</a:t>
            </a:r>
            <a:endParaRPr lang="en-US" sz="2600" dirty="0"/>
          </a:p>
        </p:txBody>
      </p:sp>
      <p:sp>
        <p:nvSpPr>
          <p:cNvPr id="3" name="Problem box"/>
          <p:cNvSpPr/>
          <p:nvPr/>
        </p:nvSpPr>
        <p:spPr>
          <a:xfrm>
            <a:off x="548640" y="1600200"/>
            <a:ext cx="11091672" cy="2514600"/>
          </a:xfrm>
          <a:prstGeom prst="rect">
            <a:avLst/>
          </a:prstGeom>
          <a:solidFill>
            <a:schemeClr val="bg2"/>
          </a:solidFill>
          <a:ln w="12700">
            <a:solidFill>
              <a:schemeClr val="bg2"/>
            </a:solidFill>
            <a:prstDash val="solid"/>
          </a:ln>
        </p:spPr>
      </p:sp>
      <p:sp>
        <p:nvSpPr>
          <p:cNvPr id="4" name="Text 2"/>
          <p:cNvSpPr txBox="1"/>
          <p:nvPr/>
        </p:nvSpPr>
        <p:spPr>
          <a:xfrm>
            <a:off x="685800" y="1691640"/>
            <a:ext cx="10835640" cy="2331720"/>
          </a:xfrm>
          <a:prstGeom prst="rect">
            <a:avLst/>
          </a:prstGeom>
          <a:noFill/>
          <a:ln/>
        </p:spPr>
        <p:txBody>
          <a:bodyPr wrap="square" rtlCol="0" anchor="ctr"/>
          <a:lstStyle/>
          <a:p>
            <a:pPr indent="0" marL="0">
              <a:spcAft>
                <a:spcPts val="1200"/>
              </a:spcAft>
              <a:buNone/>
            </a:pPr>
            <a:r>
              <a:rPr lang="en-US" sz="1800" dirty="0">
                <a:solidFill>
                  <a:schemeClr val="tx1"/>
                </a:solidFill>
              </a:rPr>
              <a:t>Brands increasingly use virtual influencers to reach young consumers, yet evidence on whether they actually drive purchases is mixed. Because they are artificial, virtual influencers carry an inherent trust deficit, and it is unclear which consumer perceptions build trust and, through it, purchase intention.</a:t>
            </a:r>
            <a:endParaRPr lang="en-US" sz="1800" dirty="0"/>
          </a:p>
          <a:p>
            <a:pPr indent="0" marL="0">
              <a:buNone/>
            </a:pPr>
            <a:r>
              <a:rPr lang="en-US" sz="1800" dirty="0">
                <a:solidFill>
                  <a:schemeClr val="tx1"/>
                </a:solidFill>
              </a:rPr>
              <a:t>This study examines how Gen Z consumers' perceptions of virtual influencers (authenticity, anthropomorphism, homophily and attractiveness) shape their trust and purchase intention, with trust as the mediating mechanism.</a:t>
            </a:r>
            <a:endParaRPr lang="en-US" sz="1800" dirty="0"/>
          </a:p>
        </p:txBody>
      </p:sp>
      <p:sp>
        <p:nvSpPr>
          <p:cNvPr id="5" name="Trust deficit circle"/>
          <p:cNvSpPr/>
          <p:nvPr/>
        </p:nvSpPr>
        <p:spPr>
          <a:xfrm>
            <a:off x="548640" y="4526280"/>
            <a:ext cx="731520" cy="731520"/>
          </a:xfrm>
          <a:prstGeom prst="ellipse">
            <a:avLst/>
          </a:prstGeom>
          <a:solidFill>
            <a:schemeClr val="tx2"/>
          </a:solidFill>
          <a:ln w="12700">
            <a:solidFill>
              <a:schemeClr val="tx2"/>
            </a:solidFill>
            <a:prstDash val="solid"/>
          </a:ln>
        </p:spPr>
      </p:sp>
      <p:pic>
        <p:nvPicPr>
          <p:cNvPr id="6" name="Trust deficit icon" descr="preencoded.png">    </p:cNvPr>
          <p:cNvPicPr>
            <a:picLocks noChangeAspect="1"/>
          </p:cNvPicPr>
          <p:nvPr/>
        </p:nvPicPr>
        <p:blipFill>
          <a:blip r:embed="rId1"/>
          <a:stretch>
            <a:fillRect/>
          </a:stretch>
        </p:blipFill>
        <p:spPr>
          <a:xfrm>
            <a:off x="731520" y="4709160"/>
            <a:ext cx="365760" cy="365760"/>
          </a:xfrm>
          <a:prstGeom prst="rect">
            <a:avLst/>
          </a:prstGeom>
        </p:spPr>
      </p:pic>
      <p:sp>
        <p:nvSpPr>
          <p:cNvPr id="7" name="Text 4"/>
          <p:cNvSpPr txBox="1"/>
          <p:nvPr/>
        </p:nvSpPr>
        <p:spPr>
          <a:xfrm>
            <a:off x="1417320" y="4434840"/>
            <a:ext cx="2651760" cy="1188720"/>
          </a:xfrm>
          <a:prstGeom prst="rect">
            <a:avLst/>
          </a:prstGeom>
          <a:noFill/>
          <a:ln/>
        </p:spPr>
        <p:txBody>
          <a:bodyPr wrap="square" lIns="0" tIns="0" rIns="0" bIns="0" rtlCol="0" anchor="t"/>
          <a:lstStyle/>
          <a:p>
            <a:pPr indent="0" marL="0">
              <a:buNone/>
            </a:pPr>
            <a:r>
              <a:rPr lang="en-US" sz="1600" b="1" dirty="0">
                <a:solidFill>
                  <a:schemeClr val="tx1"/>
                </a:solidFill>
              </a:rPr>
              <a:t>Trust deficit</a:t>
            </a:r>
            <a:endParaRPr lang="en-US" sz="1600" dirty="0"/>
          </a:p>
          <a:p>
            <a:pPr indent="0" marL="0">
              <a:buNone/>
            </a:pPr>
            <a:r>
              <a:rPr lang="en-US" sz="1300" dirty="0">
                <a:solidFill>
                  <a:schemeClr val="tx2"/>
                </a:solidFill>
              </a:rPr>
              <a:t>Virtual influencers are generally trusted less than human ones</a:t>
            </a:r>
            <a:endParaRPr lang="en-US" sz="1600" dirty="0"/>
          </a:p>
        </p:txBody>
      </p:sp>
      <p:sp>
        <p:nvSpPr>
          <p:cNvPr id="8" name="Mixed evidence circle"/>
          <p:cNvSpPr/>
          <p:nvPr/>
        </p:nvSpPr>
        <p:spPr>
          <a:xfrm>
            <a:off x="4325112" y="4526280"/>
            <a:ext cx="731520" cy="731520"/>
          </a:xfrm>
          <a:prstGeom prst="ellipse">
            <a:avLst/>
          </a:prstGeom>
          <a:solidFill>
            <a:schemeClr val="accent1"/>
          </a:solidFill>
          <a:ln w="12700">
            <a:solidFill>
              <a:schemeClr val="accent1"/>
            </a:solidFill>
            <a:prstDash val="solid"/>
          </a:ln>
        </p:spPr>
      </p:sp>
      <p:pic>
        <p:nvPicPr>
          <p:cNvPr id="9" name="Mixed evidence icon" descr="preencoded.png">    </p:cNvPr>
          <p:cNvPicPr>
            <a:picLocks noChangeAspect="1"/>
          </p:cNvPicPr>
          <p:nvPr/>
        </p:nvPicPr>
        <p:blipFill>
          <a:blip r:embed="rId2"/>
          <a:stretch>
            <a:fillRect/>
          </a:stretch>
        </p:blipFill>
        <p:spPr>
          <a:xfrm>
            <a:off x="4507992" y="4709160"/>
            <a:ext cx="365760" cy="365760"/>
          </a:xfrm>
          <a:prstGeom prst="rect">
            <a:avLst/>
          </a:prstGeom>
        </p:spPr>
      </p:pic>
      <p:sp>
        <p:nvSpPr>
          <p:cNvPr id="10" name="Text 6"/>
          <p:cNvSpPr txBox="1"/>
          <p:nvPr/>
        </p:nvSpPr>
        <p:spPr>
          <a:xfrm>
            <a:off x="5193792" y="4434840"/>
            <a:ext cx="2651760" cy="1188720"/>
          </a:xfrm>
          <a:prstGeom prst="rect">
            <a:avLst/>
          </a:prstGeom>
          <a:noFill/>
          <a:ln/>
        </p:spPr>
        <p:txBody>
          <a:bodyPr wrap="square" lIns="0" tIns="0" rIns="0" bIns="0" rtlCol="0" anchor="t"/>
          <a:lstStyle/>
          <a:p>
            <a:pPr indent="0" marL="0">
              <a:buNone/>
            </a:pPr>
            <a:r>
              <a:rPr lang="en-US" sz="1600" b="1" dirty="0">
                <a:solidFill>
                  <a:schemeClr val="tx1"/>
                </a:solidFill>
              </a:rPr>
              <a:t>Mixed evidence</a:t>
            </a:r>
            <a:endParaRPr lang="en-US" sz="1600" dirty="0"/>
          </a:p>
          <a:p>
            <a:pPr indent="0" marL="0">
              <a:buNone/>
            </a:pPr>
            <a:r>
              <a:rPr lang="en-US" sz="1300" dirty="0">
                <a:solidFill>
                  <a:schemeClr val="tx2"/>
                </a:solidFill>
              </a:rPr>
              <a:t>Studies disagree on whether they raise purchase intention</a:t>
            </a:r>
            <a:endParaRPr lang="en-US" sz="1600" dirty="0"/>
          </a:p>
        </p:txBody>
      </p:sp>
      <p:sp>
        <p:nvSpPr>
          <p:cNvPr id="11" name="Thin Indian evidence circle"/>
          <p:cNvSpPr/>
          <p:nvPr/>
        </p:nvSpPr>
        <p:spPr>
          <a:xfrm>
            <a:off x="8101584" y="4526280"/>
            <a:ext cx="731520" cy="731520"/>
          </a:xfrm>
          <a:prstGeom prst="ellipse">
            <a:avLst/>
          </a:prstGeom>
          <a:solidFill>
            <a:schemeClr val="accent3"/>
          </a:solidFill>
          <a:ln w="12700">
            <a:solidFill>
              <a:schemeClr val="accent3"/>
            </a:solidFill>
            <a:prstDash val="solid"/>
          </a:ln>
        </p:spPr>
      </p:sp>
      <p:pic>
        <p:nvPicPr>
          <p:cNvPr id="12" name="Thin Indian evidence icon" descr="preencoded.png">    </p:cNvPr>
          <p:cNvPicPr>
            <a:picLocks noChangeAspect="1"/>
          </p:cNvPicPr>
          <p:nvPr/>
        </p:nvPicPr>
        <p:blipFill>
          <a:blip r:embed="rId3"/>
          <a:stretch>
            <a:fillRect/>
          </a:stretch>
        </p:blipFill>
        <p:spPr>
          <a:xfrm>
            <a:off x="8284464" y="4709160"/>
            <a:ext cx="365760" cy="365760"/>
          </a:xfrm>
          <a:prstGeom prst="rect">
            <a:avLst/>
          </a:prstGeom>
        </p:spPr>
      </p:pic>
      <p:sp>
        <p:nvSpPr>
          <p:cNvPr id="13" name="Text 8"/>
          <p:cNvSpPr txBox="1"/>
          <p:nvPr/>
        </p:nvSpPr>
        <p:spPr>
          <a:xfrm>
            <a:off x="8970264" y="4434840"/>
            <a:ext cx="2651760" cy="1188720"/>
          </a:xfrm>
          <a:prstGeom prst="rect">
            <a:avLst/>
          </a:prstGeom>
          <a:noFill/>
          <a:ln/>
        </p:spPr>
        <p:txBody>
          <a:bodyPr wrap="square" lIns="0" tIns="0" rIns="0" bIns="0" rtlCol="0" anchor="t"/>
          <a:lstStyle/>
          <a:p>
            <a:pPr indent="0" marL="0">
              <a:buNone/>
            </a:pPr>
            <a:r>
              <a:rPr lang="en-US" sz="1600" b="1" dirty="0">
                <a:solidFill>
                  <a:schemeClr val="tx1"/>
                </a:solidFill>
              </a:rPr>
              <a:t>Thin Indian evidence</a:t>
            </a:r>
            <a:endParaRPr lang="en-US" sz="1600" dirty="0"/>
          </a:p>
          <a:p>
            <a:pPr indent="0" marL="0">
              <a:buNone/>
            </a:pPr>
            <a:r>
              <a:rPr lang="en-US" sz="1300" dirty="0">
                <a:solidFill>
                  <a:schemeClr val="tx2"/>
                </a:solidFill>
              </a:rPr>
              <a:t>Little and contradictory evidence from Indian Gen Z consumers</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548640" y="749808"/>
            <a:ext cx="11091672" cy="658368"/>
          </a:xfrm>
          <a:prstGeom prst="rect">
            <a:avLst/>
          </a:prstGeom>
          <a:noFill/>
          <a:ln/>
        </p:spPr>
        <p:txBody>
          <a:bodyPr wrap="square" lIns="0" tIns="0" rIns="0" bIns="0" rtlCol="0" anchor="ctr"/>
          <a:lstStyle/>
          <a:p>
            <a:pPr algn="l" indent="0" marL="0">
              <a:buNone/>
            </a:pPr>
            <a:r>
              <a:rPr lang="en-US" sz="2600" b="1" dirty="0">
                <a:solidFill>
                  <a:schemeClr val="tx1"/>
                </a:solidFill>
              </a:rPr>
              <a:t>LITERATURE REVIEW – THE RISE OF VIRTUAL INFLUENCERS</a:t>
            </a:r>
            <a:endParaRPr lang="en-US" sz="2600" dirty="0"/>
          </a:p>
        </p:txBody>
      </p:sp>
      <p:sp>
        <p:nvSpPr>
          <p:cNvPr id="3" name="Text 1"/>
          <p:cNvSpPr txBox="1"/>
          <p:nvPr/>
        </p:nvSpPr>
        <p:spPr>
          <a:xfrm>
            <a:off x="548640" y="1600200"/>
            <a:ext cx="11091672" cy="4754880"/>
          </a:xfrm>
          <a:prstGeom prst="rect">
            <a:avLst/>
          </a:prstGeom>
          <a:noFill/>
          <a:ln/>
        </p:spPr>
        <p:txBody>
          <a:bodyPr wrap="square" lIns="25400" tIns="50800" rIns="50800" bIns="25400" rtlCol="0" anchor="t"/>
          <a:lstStyle/>
          <a:p>
            <a:pPr marL="228600" indent="-228600">
              <a:spcAft>
                <a:spcPts val="1000"/>
              </a:spcAft>
              <a:buSzPct val="100000"/>
              <a:buChar char="■"/>
            </a:pPr>
            <a:r>
              <a:rPr lang="en-US" sz="1500" dirty="0">
                <a:solidFill>
                  <a:schemeClr val="tx1"/>
                </a:solidFill>
              </a:rPr>
              <a:t>Young consumers see online celebrities as more credible and relatable than traditional stars. </a:t>
            </a:r>
            <a:r>
              <a:rPr lang="en-US" sz="1500" dirty="0">
                <a:solidFill>
                  <a:schemeClr val="accent4"/>
                </a:solidFill>
              </a:rPr>
              <a:t>(Djafarova &amp; Rushworth, 2017)</a:t>
            </a:r>
            <a:endParaRPr lang="en-US" sz="1500" dirty="0"/>
          </a:p>
          <a:p>
            <a:pPr marL="228600" indent="-228600">
              <a:spcAft>
                <a:spcPts val="1000"/>
              </a:spcAft>
              <a:buSzPct val="100000"/>
              <a:buChar char="■"/>
            </a:pPr>
            <a:r>
              <a:rPr lang="en-US" sz="1500" dirty="0">
                <a:solidFill>
                  <a:schemeClr val="tx1"/>
                </a:solidFill>
              </a:rPr>
              <a:t>Reviews organise the field as a chain from influencer characteristics, through audience responses, to purchase behaviour. </a:t>
            </a:r>
            <a:r>
              <a:rPr lang="en-US" sz="1500" dirty="0">
                <a:solidFill>
                  <a:schemeClr val="accent4"/>
                </a:solidFill>
              </a:rPr>
              <a:t>(Vrontis et al., 2021)</a:t>
            </a:r>
            <a:endParaRPr lang="en-US" sz="1500" dirty="0"/>
          </a:p>
          <a:p>
            <a:pPr marL="228600" indent="-228600">
              <a:spcAft>
                <a:spcPts val="1000"/>
              </a:spcAft>
              <a:buSzPct val="100000"/>
              <a:buChar char="■"/>
            </a:pPr>
            <a:r>
              <a:rPr lang="en-US" sz="1500" dirty="0">
                <a:solidFill>
                  <a:schemeClr val="tx1"/>
                </a:solidFill>
              </a:rPr>
              <a:t>Source credibility is the most robust explanation of influencer impact; social identification and the informational and hedonic value of posts drive attitudes and purchase intention (1,531 effect sizes, 251 papers). </a:t>
            </a:r>
            <a:r>
              <a:rPr lang="en-US" sz="1500" dirty="0">
                <a:solidFill>
                  <a:schemeClr val="accent4"/>
                </a:solidFill>
              </a:rPr>
              <a:t>(Han &amp; Balabanis, 2024; Pan et al., 2025)</a:t>
            </a:r>
            <a:endParaRPr lang="en-US" sz="1500" dirty="0"/>
          </a:p>
          <a:p>
            <a:pPr marL="228600" indent="-228600">
              <a:spcAft>
                <a:spcPts val="1000"/>
              </a:spcAft>
              <a:buSzPct val="100000"/>
              <a:buChar char="■"/>
            </a:pPr>
            <a:r>
              <a:rPr lang="en-US" sz="1500" dirty="0">
                <a:solidFill>
                  <a:schemeClr val="tx1"/>
                </a:solidFill>
              </a:rPr>
              <a:t>Avatars can be classified by how real they look and behave, and perform best when the two are aligned. </a:t>
            </a:r>
            <a:r>
              <a:rPr lang="en-US" sz="1500" dirty="0">
                <a:solidFill>
                  <a:schemeClr val="accent4"/>
                </a:solidFill>
              </a:rPr>
              <a:t>(Miao et al., 2022)</a:t>
            </a:r>
            <a:endParaRPr lang="en-US" sz="1500" dirty="0"/>
          </a:p>
          <a:p>
            <a:pPr marL="228600" indent="-228600">
              <a:spcAft>
                <a:spcPts val="1000"/>
              </a:spcAft>
              <a:buSzPct val="100000"/>
              <a:buChar char="■"/>
            </a:pPr>
            <a:r>
              <a:rPr lang="en-US" sz="1500" dirty="0">
                <a:solidFill>
                  <a:schemeClr val="tx1"/>
                </a:solidFill>
              </a:rPr>
              <a:t>Human and virtual influencers share many qualities as message sources, but a few key differences limit what virtual influencers can achieve. </a:t>
            </a:r>
            <a:r>
              <a:rPr lang="en-US" sz="1500" dirty="0">
                <a:solidFill>
                  <a:schemeClr val="accent4"/>
                </a:solidFill>
              </a:rPr>
              <a:t>(Byun &amp; Ahn, 2023)</a:t>
            </a:r>
            <a:endParaRPr lang="en-US" sz="1500" dirty="0"/>
          </a:p>
          <a:p>
            <a:pPr marL="228600" indent="-228600">
              <a:spcAft>
                <a:spcPts val="1000"/>
              </a:spcAft>
              <a:buSzPct val="100000"/>
              <a:buChar char="■"/>
            </a:pPr>
            <a:r>
              <a:rPr lang="en-US" sz="1500" dirty="0">
                <a:solidFill>
                  <a:schemeClr val="tx1"/>
                </a:solidFill>
              </a:rPr>
              <a:t>The central weakness remains trust: effectiveness depends on whether followers are willing to trust them at all. </a:t>
            </a:r>
            <a:r>
              <a:rPr lang="en-US" sz="1500" dirty="0">
                <a:solidFill>
                  <a:schemeClr val="accent4"/>
                </a:solidFill>
              </a:rPr>
              <a:t>(Sands et al., 2022; Cascio Rizzo et al., 2026)</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548640" y="749808"/>
            <a:ext cx="11091672" cy="658368"/>
          </a:xfrm>
          <a:prstGeom prst="rect">
            <a:avLst/>
          </a:prstGeom>
          <a:noFill/>
          <a:ln/>
        </p:spPr>
        <p:txBody>
          <a:bodyPr wrap="square" lIns="0" tIns="0" rIns="0" bIns="0" rtlCol="0" anchor="ctr"/>
          <a:lstStyle/>
          <a:p>
            <a:pPr algn="l" indent="0" marL="0">
              <a:buNone/>
            </a:pPr>
            <a:r>
              <a:rPr lang="en-US" sz="2600" b="1" dirty="0">
                <a:solidFill>
                  <a:schemeClr val="tx1"/>
                </a:solidFill>
              </a:rPr>
              <a:t>LITERATURE REVIEW – DO VIRTUAL INFLUENCERS SELL?</a:t>
            </a:r>
            <a:endParaRPr lang="en-US" sz="2600" dirty="0"/>
          </a:p>
        </p:txBody>
      </p:sp>
      <p:sp>
        <p:nvSpPr>
          <p:cNvPr id="3" name="Supportive evidence card"/>
          <p:cNvSpPr/>
          <p:nvPr/>
        </p:nvSpPr>
        <p:spPr>
          <a:xfrm>
            <a:off x="548640" y="1600200"/>
            <a:ext cx="5413248" cy="3886200"/>
          </a:xfrm>
          <a:prstGeom prst="rect">
            <a:avLst/>
          </a:prstGeom>
          <a:solidFill>
            <a:schemeClr val="bg2"/>
          </a:solidFill>
          <a:ln w="12700">
            <a:solidFill>
              <a:schemeClr val="bg2"/>
            </a:solidFill>
            <a:prstDash val="solid"/>
          </a:ln>
        </p:spPr>
      </p:sp>
      <p:sp>
        <p:nvSpPr>
          <p:cNvPr id="4" name="Supportive evidence circle"/>
          <p:cNvSpPr/>
          <p:nvPr/>
        </p:nvSpPr>
        <p:spPr>
          <a:xfrm>
            <a:off x="777240" y="1783080"/>
            <a:ext cx="548640" cy="548640"/>
          </a:xfrm>
          <a:prstGeom prst="ellipse">
            <a:avLst/>
          </a:prstGeom>
          <a:solidFill>
            <a:schemeClr val="accent6"/>
          </a:solidFill>
          <a:ln w="12700">
            <a:solidFill>
              <a:schemeClr val="accent6"/>
            </a:solidFill>
            <a:prstDash val="solid"/>
          </a:ln>
        </p:spPr>
      </p:sp>
      <p:pic>
        <p:nvPicPr>
          <p:cNvPr id="5" name="Supportive evidence icon" descr="preencoded.png">    </p:cNvPr>
          <p:cNvPicPr>
            <a:picLocks noChangeAspect="1"/>
          </p:cNvPicPr>
          <p:nvPr/>
        </p:nvPicPr>
        <p:blipFill>
          <a:blip r:embed="rId1"/>
          <a:stretch>
            <a:fillRect/>
          </a:stretch>
        </p:blipFill>
        <p:spPr>
          <a:xfrm>
            <a:off x="914400" y="1920240"/>
            <a:ext cx="274320" cy="274320"/>
          </a:xfrm>
          <a:prstGeom prst="rect">
            <a:avLst/>
          </a:prstGeom>
        </p:spPr>
      </p:pic>
      <p:sp>
        <p:nvSpPr>
          <p:cNvPr id="6" name="Text 3"/>
          <p:cNvSpPr txBox="1"/>
          <p:nvPr/>
        </p:nvSpPr>
        <p:spPr>
          <a:xfrm>
            <a:off x="1463040" y="1783080"/>
            <a:ext cx="4297680" cy="548640"/>
          </a:xfrm>
          <a:prstGeom prst="rect">
            <a:avLst/>
          </a:prstGeom>
          <a:noFill/>
          <a:ln/>
        </p:spPr>
        <p:txBody>
          <a:bodyPr wrap="square" lIns="0" tIns="0" rIns="0" bIns="0" rtlCol="0" anchor="ctr"/>
          <a:lstStyle/>
          <a:p>
            <a:pPr indent="0" marL="0">
              <a:buNone/>
            </a:pPr>
            <a:r>
              <a:rPr lang="en-US" sz="1800" b="1" dirty="0">
                <a:solidFill>
                  <a:schemeClr val="tx1"/>
                </a:solidFill>
              </a:rPr>
              <a:t>Supportive evidence</a:t>
            </a:r>
            <a:endParaRPr lang="en-US" sz="1800" dirty="0"/>
          </a:p>
        </p:txBody>
      </p:sp>
      <p:sp>
        <p:nvSpPr>
          <p:cNvPr id="7" name="Text 4"/>
          <p:cNvSpPr txBox="1"/>
          <p:nvPr/>
        </p:nvSpPr>
        <p:spPr>
          <a:xfrm>
            <a:off x="731520" y="2514600"/>
            <a:ext cx="5074920" cy="2880360"/>
          </a:xfrm>
          <a:prstGeom prst="rect">
            <a:avLst/>
          </a:prstGeom>
          <a:noFill/>
          <a:ln/>
        </p:spPr>
        <p:txBody>
          <a:bodyPr wrap="square" lIns="25400" tIns="50800" rIns="50800" bIns="25400" rtlCol="0" anchor="t"/>
          <a:lstStyle/>
          <a:p>
            <a:pPr marL="228600" indent="-228600">
              <a:spcAft>
                <a:spcPts val="900"/>
              </a:spcAft>
              <a:buSzPct val="100000"/>
              <a:buChar char="■"/>
            </a:pPr>
            <a:r>
              <a:rPr lang="en-US" sz="1400" dirty="0">
                <a:solidFill>
                  <a:schemeClr val="tx1"/>
                </a:solidFill>
              </a:rPr>
              <a:t>Survey of 357 consumers: virtual influencers rated trustworthy and credible, linked to higher purchase intention. </a:t>
            </a:r>
            <a:r>
              <a:rPr lang="en-US" sz="1400" dirty="0">
                <a:solidFill>
                  <a:schemeClr val="accent4"/>
                </a:solidFill>
              </a:rPr>
              <a:t>(Gerlich, 2023)</a:t>
            </a:r>
            <a:endParaRPr lang="en-US" sz="1400" dirty="0"/>
          </a:p>
          <a:p>
            <a:pPr marL="228600" indent="-228600">
              <a:spcAft>
                <a:spcPts val="900"/>
              </a:spcAft>
              <a:buSzPct val="100000"/>
              <a:buChar char="■"/>
            </a:pPr>
            <a:r>
              <a:rPr lang="en-US" sz="1400" dirty="0">
                <a:solidFill>
                  <a:schemeClr val="tx1"/>
                </a:solidFill>
              </a:rPr>
              <a:t>Virtual and human influencers produce similar intentions to adopt a recommendation; virtual influencers seen as more useful. </a:t>
            </a:r>
            <a:r>
              <a:rPr lang="en-US" sz="1400" dirty="0">
                <a:solidFill>
                  <a:schemeClr val="accent4"/>
                </a:solidFill>
              </a:rPr>
              <a:t>(Belanche et al., 2024)</a:t>
            </a:r>
            <a:endParaRPr lang="en-US" sz="1400" dirty="0"/>
          </a:p>
          <a:p>
            <a:pPr marL="228600" indent="-228600">
              <a:spcAft>
                <a:spcPts val="900"/>
              </a:spcAft>
              <a:buSzPct val="100000"/>
              <a:buChar char="■"/>
            </a:pPr>
            <a:r>
              <a:rPr lang="en-US" sz="1400" dirty="0">
                <a:solidFill>
                  <a:schemeClr val="tx1"/>
                </a:solidFill>
              </a:rPr>
              <a:t>Being non-human can be an advantage; their stories matter more than their looks. </a:t>
            </a:r>
            <a:r>
              <a:rPr lang="en-US" sz="1400" dirty="0">
                <a:solidFill>
                  <a:schemeClr val="accent4"/>
                </a:solidFill>
              </a:rPr>
              <a:t>(Allal-Chérif et al., 2024)</a:t>
            </a:r>
            <a:endParaRPr lang="en-US" sz="1400" dirty="0"/>
          </a:p>
        </p:txBody>
      </p:sp>
      <p:sp>
        <p:nvSpPr>
          <p:cNvPr id="8" name="Limiting evidence card"/>
          <p:cNvSpPr/>
          <p:nvPr/>
        </p:nvSpPr>
        <p:spPr>
          <a:xfrm>
            <a:off x="6227064" y="1600200"/>
            <a:ext cx="5413248" cy="3886200"/>
          </a:xfrm>
          <a:prstGeom prst="rect">
            <a:avLst/>
          </a:prstGeom>
          <a:solidFill>
            <a:schemeClr val="bg2"/>
          </a:solidFill>
          <a:ln w="12700">
            <a:solidFill>
              <a:schemeClr val="bg2"/>
            </a:solidFill>
            <a:prstDash val="solid"/>
          </a:ln>
        </p:spPr>
      </p:sp>
      <p:sp>
        <p:nvSpPr>
          <p:cNvPr id="9" name="Limiting evidence circle"/>
          <p:cNvSpPr/>
          <p:nvPr/>
        </p:nvSpPr>
        <p:spPr>
          <a:xfrm>
            <a:off x="6455664" y="1783080"/>
            <a:ext cx="548640" cy="548640"/>
          </a:xfrm>
          <a:prstGeom prst="ellipse">
            <a:avLst/>
          </a:prstGeom>
          <a:solidFill>
            <a:schemeClr val="accent5"/>
          </a:solidFill>
          <a:ln w="12700">
            <a:solidFill>
              <a:schemeClr val="accent5"/>
            </a:solidFill>
            <a:prstDash val="solid"/>
          </a:ln>
        </p:spPr>
      </p:sp>
      <p:pic>
        <p:nvPicPr>
          <p:cNvPr id="10" name="Limiting evidence icon" descr="preencoded.png">    </p:cNvPr>
          <p:cNvPicPr>
            <a:picLocks noChangeAspect="1"/>
          </p:cNvPicPr>
          <p:nvPr/>
        </p:nvPicPr>
        <p:blipFill>
          <a:blip r:embed="rId2"/>
          <a:stretch>
            <a:fillRect/>
          </a:stretch>
        </p:blipFill>
        <p:spPr>
          <a:xfrm>
            <a:off x="6592824" y="1920240"/>
            <a:ext cx="274320" cy="274320"/>
          </a:xfrm>
          <a:prstGeom prst="rect">
            <a:avLst/>
          </a:prstGeom>
        </p:spPr>
      </p:pic>
      <p:sp>
        <p:nvSpPr>
          <p:cNvPr id="11" name="Text 7"/>
          <p:cNvSpPr txBox="1"/>
          <p:nvPr/>
        </p:nvSpPr>
        <p:spPr>
          <a:xfrm>
            <a:off x="7141464" y="1783080"/>
            <a:ext cx="4297680" cy="548640"/>
          </a:xfrm>
          <a:prstGeom prst="rect">
            <a:avLst/>
          </a:prstGeom>
          <a:noFill/>
          <a:ln/>
        </p:spPr>
        <p:txBody>
          <a:bodyPr wrap="square" lIns="0" tIns="0" rIns="0" bIns="0" rtlCol="0" anchor="ctr"/>
          <a:lstStyle/>
          <a:p>
            <a:pPr indent="0" marL="0">
              <a:buNone/>
            </a:pPr>
            <a:r>
              <a:rPr lang="en-US" sz="1800" b="1" dirty="0">
                <a:solidFill>
                  <a:schemeClr val="tx1"/>
                </a:solidFill>
              </a:rPr>
              <a:t>Limiting evidence</a:t>
            </a:r>
            <a:endParaRPr lang="en-US" sz="1800" dirty="0"/>
          </a:p>
        </p:txBody>
      </p:sp>
      <p:sp>
        <p:nvSpPr>
          <p:cNvPr id="12" name="Text 8"/>
          <p:cNvSpPr txBox="1"/>
          <p:nvPr/>
        </p:nvSpPr>
        <p:spPr>
          <a:xfrm>
            <a:off x="6409944" y="2514600"/>
            <a:ext cx="5074920" cy="2880360"/>
          </a:xfrm>
          <a:prstGeom prst="rect">
            <a:avLst/>
          </a:prstGeom>
          <a:noFill/>
          <a:ln/>
        </p:spPr>
        <p:txBody>
          <a:bodyPr wrap="square" lIns="25400" tIns="50800" rIns="50800" bIns="25400" rtlCol="0" anchor="t"/>
          <a:lstStyle/>
          <a:p>
            <a:pPr marL="228600" indent="-228600">
              <a:spcAft>
                <a:spcPts val="900"/>
              </a:spcAft>
              <a:buSzPct val="100000"/>
              <a:buChar char="■"/>
            </a:pPr>
            <a:r>
              <a:rPr lang="en-US" sz="1400" dirty="0">
                <a:solidFill>
                  <a:schemeClr val="tx1"/>
                </a:solidFill>
              </a:rPr>
              <a:t>Strengthen brand image and awareness but do little for purchase intention: limited authenticity, low similarity, weak parasocial bonds. </a:t>
            </a:r>
            <a:r>
              <a:rPr lang="en-US" sz="1400" dirty="0">
                <a:solidFill>
                  <a:schemeClr val="accent4"/>
                </a:solidFill>
              </a:rPr>
              <a:t>(Lou et al., 2023)</a:t>
            </a:r>
            <a:endParaRPr lang="en-US" sz="1400" dirty="0"/>
          </a:p>
          <a:p>
            <a:pPr marL="228600" indent="-228600">
              <a:spcAft>
                <a:spcPts val="900"/>
              </a:spcAft>
              <a:buSzPct val="100000"/>
              <a:buChar char="■"/>
            </a:pPr>
            <a:r>
              <a:rPr lang="en-US" sz="1400" dirty="0">
                <a:solidFill>
                  <a:schemeClr val="tx1"/>
                </a:solidFill>
              </a:rPr>
              <a:t>Lose out when the product depends on sensory experience such as taste or touch. </a:t>
            </a:r>
            <a:r>
              <a:rPr lang="en-US" sz="1400" dirty="0">
                <a:solidFill>
                  <a:schemeClr val="accent4"/>
                </a:solidFill>
              </a:rPr>
              <a:t>(Zhou et al., 2024)</a:t>
            </a:r>
            <a:endParaRPr lang="en-US" sz="1400" dirty="0"/>
          </a:p>
          <a:p>
            <a:pPr marL="228600" indent="-228600">
              <a:spcAft>
                <a:spcPts val="900"/>
              </a:spcAft>
              <a:buSzPct val="100000"/>
              <a:buChar char="■"/>
            </a:pPr>
            <a:r>
              <a:rPr lang="en-US" sz="1400" dirty="0">
                <a:solidFill>
                  <a:schemeClr val="tx1"/>
                </a:solidFill>
              </a:rPr>
              <a:t>Seen either as novel and effective or as uncanny and deceptive. </a:t>
            </a:r>
            <a:r>
              <a:rPr lang="en-US" sz="1400" dirty="0">
                <a:solidFill>
                  <a:schemeClr val="accent4"/>
                </a:solidFill>
              </a:rPr>
              <a:t>(Franke et al., 2023)</a:t>
            </a:r>
            <a:endParaRPr lang="en-US" sz="1400" dirty="0"/>
          </a:p>
        </p:txBody>
      </p:sp>
      <p:sp>
        <p:nvSpPr>
          <p:cNvPr id="13" name="Text 9"/>
          <p:cNvSpPr txBox="1"/>
          <p:nvPr/>
        </p:nvSpPr>
        <p:spPr>
          <a:xfrm>
            <a:off x="548640" y="5669280"/>
            <a:ext cx="11091672" cy="685800"/>
          </a:xfrm>
          <a:prstGeom prst="rect">
            <a:avLst/>
          </a:prstGeom>
          <a:noFill/>
          <a:ln/>
        </p:spPr>
        <p:txBody>
          <a:bodyPr wrap="square" lIns="0" tIns="0" rIns="0" bIns="0" rtlCol="0" anchor="ctr"/>
          <a:lstStyle/>
          <a:p>
            <a:pPr indent="0" marL="0">
              <a:buNone/>
            </a:pPr>
            <a:r>
              <a:rPr lang="en-US" sz="1400" b="1" dirty="0">
                <a:solidFill>
                  <a:schemeClr val="accent4"/>
                </a:solidFill>
              </a:rPr>
              <a:t>Takeaway: </a:t>
            </a:r>
            <a:r>
              <a:rPr lang="en-US" sz="1400" dirty="0">
                <a:solidFill>
                  <a:schemeClr val="tx1"/>
                </a:solidFill>
              </a:rPr>
              <a:t>Purchase intention emerges only when several social-influence processes operate together (Davlembayeva et al., 2025). The effect depends less on virtual status than on how consumers perceive the influencer.</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548640" y="749808"/>
            <a:ext cx="11091672" cy="658368"/>
          </a:xfrm>
          <a:prstGeom prst="rect">
            <a:avLst/>
          </a:prstGeom>
          <a:noFill/>
          <a:ln/>
        </p:spPr>
        <p:txBody>
          <a:bodyPr wrap="square" lIns="0" tIns="0" rIns="0" bIns="0" rtlCol="0" anchor="ctr"/>
          <a:lstStyle/>
          <a:p>
            <a:pPr algn="l" indent="0" marL="0">
              <a:buNone/>
            </a:pPr>
            <a:r>
              <a:rPr lang="en-US" sz="2600" b="1" dirty="0">
                <a:solidFill>
                  <a:schemeClr val="tx1"/>
                </a:solidFill>
              </a:rPr>
              <a:t>LITERATURE REVIEW – THEORETICAL FOUNDATION</a:t>
            </a:r>
            <a:endParaRPr lang="en-US" sz="2600" dirty="0"/>
          </a:p>
        </p:txBody>
      </p:sp>
      <p:sp>
        <p:nvSpPr>
          <p:cNvPr id="3" name="STIMULUS box"/>
          <p:cNvSpPr/>
          <p:nvPr/>
        </p:nvSpPr>
        <p:spPr>
          <a:xfrm>
            <a:off x="548640" y="1645920"/>
            <a:ext cx="3246120" cy="1051560"/>
          </a:xfrm>
          <a:prstGeom prst="rect">
            <a:avLst/>
          </a:prstGeom>
          <a:solidFill>
            <a:schemeClr val="tx2"/>
          </a:solidFill>
          <a:ln w="12700">
            <a:solidFill>
              <a:schemeClr val="tx2"/>
            </a:solidFill>
            <a:prstDash val="solid"/>
          </a:ln>
        </p:spPr>
      </p:sp>
      <p:sp>
        <p:nvSpPr>
          <p:cNvPr id="4" name="Text 2"/>
          <p:cNvSpPr txBox="1"/>
          <p:nvPr/>
        </p:nvSpPr>
        <p:spPr>
          <a:xfrm>
            <a:off x="548640" y="1645920"/>
            <a:ext cx="3246120" cy="1051560"/>
          </a:xfrm>
          <a:prstGeom prst="rect">
            <a:avLst/>
          </a:prstGeom>
          <a:noFill/>
          <a:ln/>
        </p:spPr>
        <p:txBody>
          <a:bodyPr wrap="square" rtlCol="0" anchor="ctr"/>
          <a:lstStyle/>
          <a:p>
            <a:pPr algn="ctr" indent="0" marL="0">
              <a:buNone/>
            </a:pPr>
            <a:r>
              <a:rPr lang="en-US" sz="1800" b="1" dirty="0">
                <a:solidFill>
                  <a:schemeClr val="bg1"/>
                </a:solidFill>
              </a:rPr>
              <a:t>STIMULUS</a:t>
            </a:r>
            <a:endParaRPr lang="en-US" sz="1800" dirty="0"/>
          </a:p>
          <a:p>
            <a:pPr algn="ctr" indent="0" marL="0">
              <a:buNone/>
            </a:pPr>
            <a:r>
              <a:rPr lang="en-US" sz="1400" dirty="0">
                <a:solidFill>
                  <a:schemeClr val="bg1"/>
                </a:solidFill>
              </a:rPr>
              <a:t>Perceptions of the virtual influencer</a:t>
            </a:r>
            <a:endParaRPr lang="en-US" sz="1800" dirty="0"/>
          </a:p>
        </p:txBody>
      </p:sp>
      <p:sp>
        <p:nvSpPr>
          <p:cNvPr id="5" name="SOR arrow 0"/>
          <p:cNvSpPr/>
          <p:nvPr/>
        </p:nvSpPr>
        <p:spPr>
          <a:xfrm>
            <a:off x="3840480" y="2171700"/>
            <a:ext cx="594360" cy="0"/>
          </a:xfrm>
          <a:prstGeom prst="line">
            <a:avLst/>
          </a:prstGeom>
          <a:noFill/>
          <a:ln w="31750">
            <a:solidFill>
              <a:schemeClr val="accent3"/>
            </a:solidFill>
            <a:prstDash val="solid"/>
            <a:tailEnd type="triangle"/>
          </a:ln>
        </p:spPr>
      </p:sp>
      <p:sp>
        <p:nvSpPr>
          <p:cNvPr id="6" name="ORGANISM box"/>
          <p:cNvSpPr/>
          <p:nvPr/>
        </p:nvSpPr>
        <p:spPr>
          <a:xfrm>
            <a:off x="4480560" y="1645920"/>
            <a:ext cx="3246120" cy="1051560"/>
          </a:xfrm>
          <a:prstGeom prst="rect">
            <a:avLst/>
          </a:prstGeom>
          <a:solidFill>
            <a:schemeClr val="accent1"/>
          </a:solidFill>
          <a:ln w="12700">
            <a:solidFill>
              <a:schemeClr val="accent1"/>
            </a:solidFill>
            <a:prstDash val="solid"/>
          </a:ln>
        </p:spPr>
      </p:sp>
      <p:sp>
        <p:nvSpPr>
          <p:cNvPr id="7" name="Text 5"/>
          <p:cNvSpPr txBox="1"/>
          <p:nvPr/>
        </p:nvSpPr>
        <p:spPr>
          <a:xfrm>
            <a:off x="4480560" y="1645920"/>
            <a:ext cx="3246120" cy="1051560"/>
          </a:xfrm>
          <a:prstGeom prst="rect">
            <a:avLst/>
          </a:prstGeom>
          <a:noFill/>
          <a:ln/>
        </p:spPr>
        <p:txBody>
          <a:bodyPr wrap="square" rtlCol="0" anchor="ctr"/>
          <a:lstStyle/>
          <a:p>
            <a:pPr algn="ctr" indent="0" marL="0">
              <a:buNone/>
            </a:pPr>
            <a:r>
              <a:rPr lang="en-US" sz="1800" b="1" dirty="0">
                <a:solidFill>
                  <a:schemeClr val="bg1"/>
                </a:solidFill>
              </a:rPr>
              <a:t>ORGANISM</a:t>
            </a:r>
            <a:endParaRPr lang="en-US" sz="1800" dirty="0"/>
          </a:p>
          <a:p>
            <a:pPr algn="ctr" indent="0" marL="0">
              <a:buNone/>
            </a:pPr>
            <a:r>
              <a:rPr lang="en-US" sz="1400" dirty="0">
                <a:solidFill>
                  <a:schemeClr val="bg1"/>
                </a:solidFill>
              </a:rPr>
              <a:t>Trust (internal state)</a:t>
            </a:r>
            <a:endParaRPr lang="en-US" sz="1800" dirty="0"/>
          </a:p>
        </p:txBody>
      </p:sp>
      <p:sp>
        <p:nvSpPr>
          <p:cNvPr id="8" name="SOR arrow 1"/>
          <p:cNvSpPr/>
          <p:nvPr/>
        </p:nvSpPr>
        <p:spPr>
          <a:xfrm>
            <a:off x="7772400" y="2171700"/>
            <a:ext cx="594360" cy="0"/>
          </a:xfrm>
          <a:prstGeom prst="line">
            <a:avLst/>
          </a:prstGeom>
          <a:noFill/>
          <a:ln w="31750">
            <a:solidFill>
              <a:schemeClr val="accent3"/>
            </a:solidFill>
            <a:prstDash val="solid"/>
            <a:tailEnd type="triangle"/>
          </a:ln>
        </p:spPr>
      </p:sp>
      <p:sp>
        <p:nvSpPr>
          <p:cNvPr id="9" name="RESPONSE box"/>
          <p:cNvSpPr/>
          <p:nvPr/>
        </p:nvSpPr>
        <p:spPr>
          <a:xfrm>
            <a:off x="8412480" y="1645920"/>
            <a:ext cx="3246120" cy="1051560"/>
          </a:xfrm>
          <a:prstGeom prst="rect">
            <a:avLst/>
          </a:prstGeom>
          <a:solidFill>
            <a:schemeClr val="accent4"/>
          </a:solidFill>
          <a:ln w="12700">
            <a:solidFill>
              <a:schemeClr val="accent4"/>
            </a:solidFill>
            <a:prstDash val="solid"/>
          </a:ln>
        </p:spPr>
      </p:sp>
      <p:sp>
        <p:nvSpPr>
          <p:cNvPr id="10" name="Text 8"/>
          <p:cNvSpPr txBox="1"/>
          <p:nvPr/>
        </p:nvSpPr>
        <p:spPr>
          <a:xfrm>
            <a:off x="8412480" y="1645920"/>
            <a:ext cx="3246120" cy="1051560"/>
          </a:xfrm>
          <a:prstGeom prst="rect">
            <a:avLst/>
          </a:prstGeom>
          <a:noFill/>
          <a:ln/>
        </p:spPr>
        <p:txBody>
          <a:bodyPr wrap="square" rtlCol="0" anchor="ctr"/>
          <a:lstStyle/>
          <a:p>
            <a:pPr algn="ctr" indent="0" marL="0">
              <a:buNone/>
            </a:pPr>
            <a:r>
              <a:rPr lang="en-US" sz="1800" b="1" dirty="0">
                <a:solidFill>
                  <a:schemeClr val="bg1"/>
                </a:solidFill>
              </a:rPr>
              <a:t>RESPONSE</a:t>
            </a:r>
            <a:endParaRPr lang="en-US" sz="1800" dirty="0"/>
          </a:p>
          <a:p>
            <a:pPr algn="ctr" indent="0" marL="0">
              <a:buNone/>
            </a:pPr>
            <a:r>
              <a:rPr lang="en-US" sz="1400" dirty="0">
                <a:solidFill>
                  <a:schemeClr val="bg1"/>
                </a:solidFill>
              </a:rPr>
              <a:t>Purchase intention</a:t>
            </a:r>
            <a:endParaRPr lang="en-US" sz="1800" dirty="0"/>
          </a:p>
        </p:txBody>
      </p:sp>
      <p:sp>
        <p:nvSpPr>
          <p:cNvPr id="11" name="Text 9"/>
          <p:cNvSpPr txBox="1"/>
          <p:nvPr/>
        </p:nvSpPr>
        <p:spPr>
          <a:xfrm>
            <a:off x="548640" y="2788920"/>
            <a:ext cx="11091672" cy="411480"/>
          </a:xfrm>
          <a:prstGeom prst="rect">
            <a:avLst/>
          </a:prstGeom>
          <a:noFill/>
          <a:ln/>
        </p:spPr>
        <p:txBody>
          <a:bodyPr wrap="square" rtlCol="0" anchor="ctr"/>
          <a:lstStyle/>
          <a:p>
            <a:pPr algn="ctr" indent="0" marL="0">
              <a:buNone/>
            </a:pPr>
            <a:r>
              <a:rPr lang="en-US" sz="1200" i="1" dirty="0">
                <a:solidFill>
                  <a:schemeClr val="tx2"/>
                </a:solidFill>
              </a:rPr>
              <a:t>Stimulus–Organism–Response framework (Mehrabian &amp; Russell, 1974); used to explain how online cues affect shoppers' inner states and purchases (Eroglu et al., 2001)</a:t>
            </a:r>
            <a:endParaRPr lang="en-US" sz="1200" dirty="0"/>
          </a:p>
        </p:txBody>
      </p:sp>
      <p:sp>
        <p:nvSpPr>
          <p:cNvPr id="12" name="Source credibility card"/>
          <p:cNvSpPr/>
          <p:nvPr/>
        </p:nvSpPr>
        <p:spPr>
          <a:xfrm>
            <a:off x="548640" y="3429000"/>
            <a:ext cx="2057400" cy="2468880"/>
          </a:xfrm>
          <a:prstGeom prst="rect">
            <a:avLst/>
          </a:prstGeom>
          <a:solidFill>
            <a:schemeClr val="bg2"/>
          </a:solidFill>
          <a:ln w="12700">
            <a:solidFill>
              <a:schemeClr val="bg2"/>
            </a:solidFill>
            <a:prstDash val="solid"/>
          </a:ln>
        </p:spPr>
      </p:sp>
      <p:sp>
        <p:nvSpPr>
          <p:cNvPr id="13" name="Text 11"/>
          <p:cNvSpPr txBox="1"/>
          <p:nvPr/>
        </p:nvSpPr>
        <p:spPr>
          <a:xfrm>
            <a:off x="658368" y="3566160"/>
            <a:ext cx="1837944" cy="2240280"/>
          </a:xfrm>
          <a:prstGeom prst="rect">
            <a:avLst/>
          </a:prstGeom>
          <a:noFill/>
          <a:ln/>
        </p:spPr>
        <p:txBody>
          <a:bodyPr wrap="square" lIns="0" tIns="0" rIns="0" bIns="0" rtlCol="0" anchor="t"/>
          <a:lstStyle/>
          <a:p>
            <a:pPr indent="0" marL="0">
              <a:buNone/>
            </a:pPr>
            <a:r>
              <a:rPr lang="en-US" sz="1500" b="1" dirty="0">
                <a:solidFill>
                  <a:schemeClr val="tx1"/>
                </a:solidFill>
              </a:rPr>
              <a:t>Source credibility</a:t>
            </a:r>
            <a:endParaRPr lang="en-US" sz="1500" dirty="0"/>
          </a:p>
          <a:p>
            <a:pPr indent="0" marL="0">
              <a:spcAft>
                <a:spcPts val="800"/>
              </a:spcAft>
              <a:buNone/>
            </a:pPr>
            <a:r>
              <a:rPr lang="en-US" sz="1100" dirty="0">
                <a:solidFill>
                  <a:schemeClr val="accent4"/>
                </a:solidFill>
              </a:rPr>
              <a:t>Hovland &amp; Weiss, 1951; Ohanian, 1990</a:t>
            </a:r>
            <a:endParaRPr lang="en-US" sz="1500" dirty="0"/>
          </a:p>
          <a:p>
            <a:pPr indent="0" marL="0">
              <a:buNone/>
            </a:pPr>
            <a:r>
              <a:rPr lang="en-US" sz="1300" dirty="0">
                <a:solidFill>
                  <a:schemeClr val="tx2"/>
                </a:solidFill>
              </a:rPr>
              <a:t>Audiences discount distrusted sources; trustworthiness, expertise and attractiveness</a:t>
            </a:r>
            <a:endParaRPr lang="en-US" sz="1500" dirty="0"/>
          </a:p>
        </p:txBody>
      </p:sp>
      <p:sp>
        <p:nvSpPr>
          <p:cNvPr id="14" name="Anthropomorphism card"/>
          <p:cNvSpPr/>
          <p:nvPr/>
        </p:nvSpPr>
        <p:spPr>
          <a:xfrm>
            <a:off x="2807208" y="3429000"/>
            <a:ext cx="2057400" cy="2468880"/>
          </a:xfrm>
          <a:prstGeom prst="rect">
            <a:avLst/>
          </a:prstGeom>
          <a:solidFill>
            <a:schemeClr val="bg2"/>
          </a:solidFill>
          <a:ln w="12700">
            <a:solidFill>
              <a:schemeClr val="bg2"/>
            </a:solidFill>
            <a:prstDash val="solid"/>
          </a:ln>
        </p:spPr>
      </p:sp>
      <p:sp>
        <p:nvSpPr>
          <p:cNvPr id="15" name="Text 13"/>
          <p:cNvSpPr txBox="1"/>
          <p:nvPr/>
        </p:nvSpPr>
        <p:spPr>
          <a:xfrm>
            <a:off x="2916936" y="3566160"/>
            <a:ext cx="1837944" cy="2240280"/>
          </a:xfrm>
          <a:prstGeom prst="rect">
            <a:avLst/>
          </a:prstGeom>
          <a:noFill/>
          <a:ln/>
        </p:spPr>
        <p:txBody>
          <a:bodyPr wrap="square" lIns="0" tIns="0" rIns="0" bIns="0" rtlCol="0" anchor="t"/>
          <a:lstStyle/>
          <a:p>
            <a:pPr indent="0" marL="0">
              <a:buNone/>
            </a:pPr>
            <a:r>
              <a:rPr lang="en-US" sz="1500" b="1" dirty="0">
                <a:solidFill>
                  <a:schemeClr val="tx1"/>
                </a:solidFill>
              </a:rPr>
              <a:t>Anthropomorphism</a:t>
            </a:r>
            <a:endParaRPr lang="en-US" sz="1500" dirty="0"/>
          </a:p>
          <a:p>
            <a:pPr indent="0" marL="0">
              <a:spcAft>
                <a:spcPts val="800"/>
              </a:spcAft>
              <a:buNone/>
            </a:pPr>
            <a:r>
              <a:rPr lang="en-US" sz="1100" dirty="0">
                <a:solidFill>
                  <a:schemeClr val="accent4"/>
                </a:solidFill>
              </a:rPr>
              <a:t>Epley et al., 2007</a:t>
            </a:r>
            <a:endParaRPr lang="en-US" sz="1500" dirty="0"/>
          </a:p>
          <a:p>
            <a:pPr indent="0" marL="0">
              <a:buNone/>
            </a:pPr>
            <a:r>
              <a:rPr lang="en-US" sz="1300" dirty="0">
                <a:solidFill>
                  <a:schemeClr val="tx2"/>
                </a:solidFill>
              </a:rPr>
              <a:t>When people attribute a human mind to non-human agents</a:t>
            </a:r>
            <a:endParaRPr lang="en-US" sz="1500" dirty="0"/>
          </a:p>
        </p:txBody>
      </p:sp>
      <p:sp>
        <p:nvSpPr>
          <p:cNvPr id="16" name="Media equation card"/>
          <p:cNvSpPr/>
          <p:nvPr/>
        </p:nvSpPr>
        <p:spPr>
          <a:xfrm>
            <a:off x="5065776" y="3429000"/>
            <a:ext cx="2057400" cy="2468880"/>
          </a:xfrm>
          <a:prstGeom prst="rect">
            <a:avLst/>
          </a:prstGeom>
          <a:solidFill>
            <a:schemeClr val="bg2"/>
          </a:solidFill>
          <a:ln w="12700">
            <a:solidFill>
              <a:schemeClr val="bg2"/>
            </a:solidFill>
            <a:prstDash val="solid"/>
          </a:ln>
        </p:spPr>
      </p:sp>
      <p:sp>
        <p:nvSpPr>
          <p:cNvPr id="17" name="Text 15"/>
          <p:cNvSpPr txBox="1"/>
          <p:nvPr/>
        </p:nvSpPr>
        <p:spPr>
          <a:xfrm>
            <a:off x="5175504" y="3566160"/>
            <a:ext cx="1837944" cy="2240280"/>
          </a:xfrm>
          <a:prstGeom prst="rect">
            <a:avLst/>
          </a:prstGeom>
          <a:noFill/>
          <a:ln/>
        </p:spPr>
        <p:txBody>
          <a:bodyPr wrap="square" lIns="0" tIns="0" rIns="0" bIns="0" rtlCol="0" anchor="t"/>
          <a:lstStyle/>
          <a:p>
            <a:pPr indent="0" marL="0">
              <a:buNone/>
            </a:pPr>
            <a:r>
              <a:rPr lang="en-US" sz="1500" b="1" dirty="0">
                <a:solidFill>
                  <a:schemeClr val="tx1"/>
                </a:solidFill>
              </a:rPr>
              <a:t>Media equation</a:t>
            </a:r>
            <a:endParaRPr lang="en-US" sz="1500" dirty="0"/>
          </a:p>
          <a:p>
            <a:pPr indent="0" marL="0">
              <a:spcAft>
                <a:spcPts val="800"/>
              </a:spcAft>
              <a:buNone/>
            </a:pPr>
            <a:r>
              <a:rPr lang="en-US" sz="1100" dirty="0">
                <a:solidFill>
                  <a:schemeClr val="accent4"/>
                </a:solidFill>
              </a:rPr>
              <a:t>Reeves &amp; Nass, 1996</a:t>
            </a:r>
            <a:endParaRPr lang="en-US" sz="1500" dirty="0"/>
          </a:p>
          <a:p>
            <a:pPr indent="0" marL="0">
              <a:buNone/>
            </a:pPr>
            <a:r>
              <a:rPr lang="en-US" sz="1300" dirty="0">
                <a:solidFill>
                  <a:schemeClr val="tx2"/>
                </a:solidFill>
              </a:rPr>
              <a:t>People respond socially to media and machines</a:t>
            </a:r>
            <a:endParaRPr lang="en-US" sz="1500" dirty="0"/>
          </a:p>
        </p:txBody>
      </p:sp>
      <p:sp>
        <p:nvSpPr>
          <p:cNvPr id="18" name="Uncanny valley card"/>
          <p:cNvSpPr/>
          <p:nvPr/>
        </p:nvSpPr>
        <p:spPr>
          <a:xfrm>
            <a:off x="7324344" y="3429000"/>
            <a:ext cx="2057400" cy="2468880"/>
          </a:xfrm>
          <a:prstGeom prst="rect">
            <a:avLst/>
          </a:prstGeom>
          <a:solidFill>
            <a:schemeClr val="bg2"/>
          </a:solidFill>
          <a:ln w="12700">
            <a:solidFill>
              <a:schemeClr val="bg2"/>
            </a:solidFill>
            <a:prstDash val="solid"/>
          </a:ln>
        </p:spPr>
      </p:sp>
      <p:sp>
        <p:nvSpPr>
          <p:cNvPr id="19" name="Text 17"/>
          <p:cNvSpPr txBox="1"/>
          <p:nvPr/>
        </p:nvSpPr>
        <p:spPr>
          <a:xfrm>
            <a:off x="7434072" y="3566160"/>
            <a:ext cx="1837944" cy="2240280"/>
          </a:xfrm>
          <a:prstGeom prst="rect">
            <a:avLst/>
          </a:prstGeom>
          <a:noFill/>
          <a:ln/>
        </p:spPr>
        <p:txBody>
          <a:bodyPr wrap="square" lIns="0" tIns="0" rIns="0" bIns="0" rtlCol="0" anchor="t"/>
          <a:lstStyle/>
          <a:p>
            <a:pPr indent="0" marL="0">
              <a:buNone/>
            </a:pPr>
            <a:r>
              <a:rPr lang="en-US" sz="1500" b="1" dirty="0">
                <a:solidFill>
                  <a:schemeClr val="tx1"/>
                </a:solidFill>
              </a:rPr>
              <a:t>Uncanny valley</a:t>
            </a:r>
            <a:endParaRPr lang="en-US" sz="1500" dirty="0"/>
          </a:p>
          <a:p>
            <a:pPr indent="0" marL="0">
              <a:spcAft>
                <a:spcPts val="800"/>
              </a:spcAft>
              <a:buNone/>
            </a:pPr>
            <a:r>
              <a:rPr lang="en-US" sz="1100" dirty="0">
                <a:solidFill>
                  <a:schemeClr val="accent4"/>
                </a:solidFill>
              </a:rPr>
              <a:t>Mori et al., 2012</a:t>
            </a:r>
            <a:endParaRPr lang="en-US" sz="1500" dirty="0"/>
          </a:p>
          <a:p>
            <a:pPr indent="0" marL="0">
              <a:buNone/>
            </a:pPr>
            <a:r>
              <a:rPr lang="en-US" sz="1300" dirty="0">
                <a:solidFill>
                  <a:schemeClr val="tx2"/>
                </a:solidFill>
              </a:rPr>
              <a:t>Near-human entities can provoke unease rather than affinity</a:t>
            </a:r>
            <a:endParaRPr lang="en-US" sz="1500" dirty="0"/>
          </a:p>
        </p:txBody>
      </p:sp>
      <p:sp>
        <p:nvSpPr>
          <p:cNvPr id="20" name="Homophily card"/>
          <p:cNvSpPr/>
          <p:nvPr/>
        </p:nvSpPr>
        <p:spPr>
          <a:xfrm>
            <a:off x="9582912" y="3429000"/>
            <a:ext cx="2057400" cy="2468880"/>
          </a:xfrm>
          <a:prstGeom prst="rect">
            <a:avLst/>
          </a:prstGeom>
          <a:solidFill>
            <a:schemeClr val="bg2"/>
          </a:solidFill>
          <a:ln w="12700">
            <a:solidFill>
              <a:schemeClr val="bg2"/>
            </a:solidFill>
            <a:prstDash val="solid"/>
          </a:ln>
        </p:spPr>
      </p:sp>
      <p:sp>
        <p:nvSpPr>
          <p:cNvPr id="21" name="Text 19"/>
          <p:cNvSpPr txBox="1"/>
          <p:nvPr/>
        </p:nvSpPr>
        <p:spPr>
          <a:xfrm>
            <a:off x="9692640" y="3566160"/>
            <a:ext cx="1837944" cy="2240280"/>
          </a:xfrm>
          <a:prstGeom prst="rect">
            <a:avLst/>
          </a:prstGeom>
          <a:noFill/>
          <a:ln/>
        </p:spPr>
        <p:txBody>
          <a:bodyPr wrap="square" lIns="0" tIns="0" rIns="0" bIns="0" rtlCol="0" anchor="t"/>
          <a:lstStyle/>
          <a:p>
            <a:pPr indent="0" marL="0">
              <a:buNone/>
            </a:pPr>
            <a:r>
              <a:rPr lang="en-US" sz="1500" b="1" dirty="0">
                <a:solidFill>
                  <a:schemeClr val="tx1"/>
                </a:solidFill>
              </a:rPr>
              <a:t>Homophily</a:t>
            </a:r>
            <a:endParaRPr lang="en-US" sz="1500" dirty="0"/>
          </a:p>
          <a:p>
            <a:pPr indent="0" marL="0">
              <a:spcAft>
                <a:spcPts val="800"/>
              </a:spcAft>
              <a:buNone/>
            </a:pPr>
            <a:r>
              <a:rPr lang="en-US" sz="1100" dirty="0">
                <a:solidFill>
                  <a:schemeClr val="accent4"/>
                </a:solidFill>
              </a:rPr>
              <a:t>McPherson et al., 2001</a:t>
            </a:r>
            <a:endParaRPr lang="en-US" sz="1500" dirty="0"/>
          </a:p>
          <a:p>
            <a:pPr indent="0" marL="0">
              <a:buNone/>
            </a:pPr>
            <a:r>
              <a:rPr lang="en-US" sz="1300" dirty="0">
                <a:solidFill>
                  <a:schemeClr val="tx2"/>
                </a:solidFill>
              </a:rPr>
              <a:t>Similarity draws people together</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548640" y="749808"/>
            <a:ext cx="11091672" cy="658368"/>
          </a:xfrm>
          <a:prstGeom prst="rect">
            <a:avLst/>
          </a:prstGeom>
          <a:noFill/>
          <a:ln/>
        </p:spPr>
        <p:txBody>
          <a:bodyPr wrap="square" lIns="0" tIns="0" rIns="0" bIns="0" rtlCol="0" anchor="ctr"/>
          <a:lstStyle/>
          <a:p>
            <a:pPr algn="l" indent="0" marL="0">
              <a:buNone/>
            </a:pPr>
            <a:r>
              <a:rPr lang="en-US" sz="2600" b="1" dirty="0">
                <a:solidFill>
                  <a:schemeClr val="tx1"/>
                </a:solidFill>
              </a:rPr>
              <a:t>LITERATURE REVIEW – ANTHROPOMORPHISM &amp; AUTHENTICITY</a:t>
            </a:r>
            <a:endParaRPr lang="en-US" sz="2600" dirty="0"/>
          </a:p>
        </p:txBody>
      </p:sp>
      <p:sp>
        <p:nvSpPr>
          <p:cNvPr id="3" name="Perceived Anthropomorphism card"/>
          <p:cNvSpPr/>
          <p:nvPr/>
        </p:nvSpPr>
        <p:spPr>
          <a:xfrm>
            <a:off x="548640" y="1600200"/>
            <a:ext cx="5413248" cy="4709160"/>
          </a:xfrm>
          <a:prstGeom prst="rect">
            <a:avLst/>
          </a:prstGeom>
          <a:solidFill>
            <a:schemeClr val="bg2"/>
          </a:solidFill>
          <a:ln w="12700">
            <a:solidFill>
              <a:schemeClr val="bg2"/>
            </a:solidFill>
            <a:prstDash val="solid"/>
          </a:ln>
        </p:spPr>
      </p:sp>
      <p:sp>
        <p:nvSpPr>
          <p:cNvPr id="4" name="Perceived Anthropomorphism circle"/>
          <p:cNvSpPr/>
          <p:nvPr/>
        </p:nvSpPr>
        <p:spPr>
          <a:xfrm>
            <a:off x="777240" y="1783080"/>
            <a:ext cx="640080" cy="640080"/>
          </a:xfrm>
          <a:prstGeom prst="ellipse">
            <a:avLst/>
          </a:prstGeom>
          <a:solidFill>
            <a:schemeClr val="accent1"/>
          </a:solidFill>
          <a:ln w="12700">
            <a:solidFill>
              <a:schemeClr val="accent1"/>
            </a:solidFill>
            <a:prstDash val="solid"/>
          </a:ln>
        </p:spPr>
      </p:sp>
      <p:pic>
        <p:nvPicPr>
          <p:cNvPr id="5" name="Perceived Anthropomorphism icon" descr="preencoded.png">    </p:cNvPr>
          <p:cNvPicPr>
            <a:picLocks noChangeAspect="1"/>
          </p:cNvPicPr>
          <p:nvPr/>
        </p:nvPicPr>
        <p:blipFill>
          <a:blip r:embed="rId1"/>
          <a:stretch>
            <a:fillRect/>
          </a:stretch>
        </p:blipFill>
        <p:spPr>
          <a:xfrm>
            <a:off x="937260" y="1943100"/>
            <a:ext cx="320040" cy="320040"/>
          </a:xfrm>
          <a:prstGeom prst="rect">
            <a:avLst/>
          </a:prstGeom>
        </p:spPr>
      </p:pic>
      <p:sp>
        <p:nvSpPr>
          <p:cNvPr id="6" name="Text 3"/>
          <p:cNvSpPr txBox="1"/>
          <p:nvPr/>
        </p:nvSpPr>
        <p:spPr>
          <a:xfrm>
            <a:off x="1554480" y="1783080"/>
            <a:ext cx="4206240" cy="640080"/>
          </a:xfrm>
          <a:prstGeom prst="rect">
            <a:avLst/>
          </a:prstGeom>
          <a:noFill/>
          <a:ln/>
        </p:spPr>
        <p:txBody>
          <a:bodyPr wrap="square" lIns="0" tIns="0" rIns="0" bIns="0" rtlCol="0" anchor="ctr"/>
          <a:lstStyle/>
          <a:p>
            <a:pPr indent="0" marL="0">
              <a:buNone/>
            </a:pPr>
            <a:r>
              <a:rPr lang="en-US" sz="1800" b="1" dirty="0">
                <a:solidFill>
                  <a:schemeClr val="tx1"/>
                </a:solidFill>
              </a:rPr>
              <a:t>Perceived Anthropomorphism</a:t>
            </a:r>
            <a:endParaRPr lang="en-US" sz="1800" dirty="0"/>
          </a:p>
          <a:p>
            <a:pPr indent="0" marL="0">
              <a:buNone/>
            </a:pPr>
            <a:r>
              <a:rPr lang="en-US" sz="1200" dirty="0">
                <a:solidFill>
                  <a:schemeClr val="accent4"/>
                </a:solidFill>
              </a:rPr>
              <a:t>Independent variable</a:t>
            </a:r>
            <a:endParaRPr lang="en-US" sz="1800" dirty="0"/>
          </a:p>
        </p:txBody>
      </p:sp>
      <p:sp>
        <p:nvSpPr>
          <p:cNvPr id="7" name="Text 4"/>
          <p:cNvSpPr txBox="1"/>
          <p:nvPr/>
        </p:nvSpPr>
        <p:spPr>
          <a:xfrm>
            <a:off x="731520" y="2606040"/>
            <a:ext cx="5074920" cy="3611880"/>
          </a:xfrm>
          <a:prstGeom prst="rect">
            <a:avLst/>
          </a:prstGeom>
          <a:noFill/>
          <a:ln/>
        </p:spPr>
        <p:txBody>
          <a:bodyPr wrap="square" lIns="25400" tIns="50800" rIns="50800" bIns="25400" rtlCol="0" anchor="t"/>
          <a:lstStyle/>
          <a:p>
            <a:pPr marL="228600" indent="-228600">
              <a:spcAft>
                <a:spcPts val="1000"/>
              </a:spcAft>
              <a:buSzPct val="100000"/>
              <a:buChar char="■"/>
            </a:pPr>
            <a:r>
              <a:rPr lang="en-US" sz="1400" dirty="0">
                <a:solidFill>
                  <a:schemeClr val="tx1"/>
                </a:solidFill>
              </a:rPr>
              <a:t>Extent to which a virtual influencer is seen as having humanlike qualities, mind and lifelikeness. </a:t>
            </a:r>
            <a:r>
              <a:rPr lang="en-US" sz="1400" dirty="0">
                <a:solidFill>
                  <a:schemeClr val="accent4"/>
                </a:solidFill>
              </a:rPr>
              <a:t>(Epley et al., 2007; Bartneck et al., 2009)</a:t>
            </a:r>
            <a:endParaRPr lang="en-US" sz="1400" dirty="0"/>
          </a:p>
          <a:p>
            <a:pPr marL="228600" indent="-228600">
              <a:spcAft>
                <a:spcPts val="1000"/>
              </a:spcAft>
              <a:buSzPct val="100000"/>
              <a:buChar char="■"/>
            </a:pPr>
            <a:r>
              <a:rPr lang="en-US" sz="1400" dirty="0">
                <a:solidFill>
                  <a:schemeClr val="tx1"/>
                </a:solidFill>
              </a:rPr>
              <a:t>Humanlike cues raise trust; photos with real people make virtual influencers seem more human, raising trust and choice. </a:t>
            </a:r>
            <a:r>
              <a:rPr lang="en-US" sz="1400" dirty="0">
                <a:solidFill>
                  <a:schemeClr val="accent4"/>
                </a:solidFill>
              </a:rPr>
              <a:t>(Waytz et al., 2014; Cascio Rizzo et al., 2026)</a:t>
            </a:r>
            <a:endParaRPr lang="en-US" sz="1400" dirty="0"/>
          </a:p>
          <a:p>
            <a:pPr marL="228600" indent="-228600">
              <a:spcAft>
                <a:spcPts val="1000"/>
              </a:spcAft>
              <a:buSzPct val="100000"/>
              <a:buChar char="■"/>
            </a:pPr>
            <a:r>
              <a:rPr lang="en-US" sz="1400" dirty="0">
                <a:solidFill>
                  <a:schemeClr val="tx1"/>
                </a:solidFill>
              </a:rPr>
              <a:t>Raised social presence and purchase intention; did not reduce Gen Z trust. </a:t>
            </a:r>
            <a:r>
              <a:rPr lang="en-US" sz="1400" dirty="0">
                <a:solidFill>
                  <a:schemeClr val="accent4"/>
                </a:solidFill>
              </a:rPr>
              <a:t>(Lin et al., 2025; Lonsdale et al., 2025)</a:t>
            </a:r>
            <a:endParaRPr lang="en-US" sz="1400" dirty="0"/>
          </a:p>
          <a:p>
            <a:pPr marL="228600" indent="-228600">
              <a:spcAft>
                <a:spcPts val="1000"/>
              </a:spcAft>
              <a:buSzPct val="100000"/>
              <a:buChar char="■"/>
            </a:pPr>
            <a:r>
              <a:rPr lang="en-US" sz="1400" dirty="0">
                <a:solidFill>
                  <a:schemeClr val="tx1"/>
                </a:solidFill>
              </a:rPr>
              <a:t>But very humanlike designs can feel uncanny or eerie: a powerful but non-linear driver. </a:t>
            </a:r>
            <a:r>
              <a:rPr lang="en-US" sz="1400" dirty="0">
                <a:solidFill>
                  <a:schemeClr val="accent4"/>
                </a:solidFill>
              </a:rPr>
              <a:t>(Gutuleac et al., 2024; Kim et al., 2024)</a:t>
            </a:r>
            <a:endParaRPr lang="en-US" sz="1400" dirty="0"/>
          </a:p>
        </p:txBody>
      </p:sp>
      <p:sp>
        <p:nvSpPr>
          <p:cNvPr id="8" name="Perceived Authenticity card"/>
          <p:cNvSpPr/>
          <p:nvPr/>
        </p:nvSpPr>
        <p:spPr>
          <a:xfrm>
            <a:off x="6227064" y="1600200"/>
            <a:ext cx="5413248" cy="4709160"/>
          </a:xfrm>
          <a:prstGeom prst="rect">
            <a:avLst/>
          </a:prstGeom>
          <a:solidFill>
            <a:schemeClr val="bg2"/>
          </a:solidFill>
          <a:ln w="12700">
            <a:solidFill>
              <a:schemeClr val="bg2"/>
            </a:solidFill>
            <a:prstDash val="solid"/>
          </a:ln>
        </p:spPr>
      </p:sp>
      <p:sp>
        <p:nvSpPr>
          <p:cNvPr id="9" name="Perceived Authenticity circle"/>
          <p:cNvSpPr/>
          <p:nvPr/>
        </p:nvSpPr>
        <p:spPr>
          <a:xfrm>
            <a:off x="6455664" y="1783080"/>
            <a:ext cx="640080" cy="640080"/>
          </a:xfrm>
          <a:prstGeom prst="ellipse">
            <a:avLst/>
          </a:prstGeom>
          <a:solidFill>
            <a:schemeClr val="accent4"/>
          </a:solidFill>
          <a:ln w="12700">
            <a:solidFill>
              <a:schemeClr val="accent4"/>
            </a:solidFill>
            <a:prstDash val="solid"/>
          </a:ln>
        </p:spPr>
      </p:sp>
      <p:pic>
        <p:nvPicPr>
          <p:cNvPr id="10" name="Perceived Authenticity icon" descr="preencoded.png">    </p:cNvPr>
          <p:cNvPicPr>
            <a:picLocks noChangeAspect="1"/>
          </p:cNvPicPr>
          <p:nvPr/>
        </p:nvPicPr>
        <p:blipFill>
          <a:blip r:embed="rId2"/>
          <a:stretch>
            <a:fillRect/>
          </a:stretch>
        </p:blipFill>
        <p:spPr>
          <a:xfrm>
            <a:off x="6615684" y="1943100"/>
            <a:ext cx="320040" cy="320040"/>
          </a:xfrm>
          <a:prstGeom prst="rect">
            <a:avLst/>
          </a:prstGeom>
        </p:spPr>
      </p:pic>
      <p:sp>
        <p:nvSpPr>
          <p:cNvPr id="11" name="Text 7"/>
          <p:cNvSpPr txBox="1"/>
          <p:nvPr/>
        </p:nvSpPr>
        <p:spPr>
          <a:xfrm>
            <a:off x="7232904" y="1783080"/>
            <a:ext cx="4206240" cy="640080"/>
          </a:xfrm>
          <a:prstGeom prst="rect">
            <a:avLst/>
          </a:prstGeom>
          <a:noFill/>
          <a:ln/>
        </p:spPr>
        <p:txBody>
          <a:bodyPr wrap="square" lIns="0" tIns="0" rIns="0" bIns="0" rtlCol="0" anchor="ctr"/>
          <a:lstStyle/>
          <a:p>
            <a:pPr indent="0" marL="0">
              <a:buNone/>
            </a:pPr>
            <a:r>
              <a:rPr lang="en-US" sz="1800" b="1" dirty="0">
                <a:solidFill>
                  <a:schemeClr val="tx1"/>
                </a:solidFill>
              </a:rPr>
              <a:t>Perceived Authenticity</a:t>
            </a:r>
            <a:endParaRPr lang="en-US" sz="1800" dirty="0"/>
          </a:p>
          <a:p>
            <a:pPr indent="0" marL="0">
              <a:buNone/>
            </a:pPr>
            <a:r>
              <a:rPr lang="en-US" sz="1200" dirty="0">
                <a:solidFill>
                  <a:schemeClr val="accent4"/>
                </a:solidFill>
              </a:rPr>
              <a:t>Independent variable</a:t>
            </a:r>
            <a:endParaRPr lang="en-US" sz="1800" dirty="0"/>
          </a:p>
        </p:txBody>
      </p:sp>
      <p:sp>
        <p:nvSpPr>
          <p:cNvPr id="12" name="Text 8"/>
          <p:cNvSpPr txBox="1"/>
          <p:nvPr/>
        </p:nvSpPr>
        <p:spPr>
          <a:xfrm>
            <a:off x="6409944" y="2606040"/>
            <a:ext cx="5074920" cy="3611880"/>
          </a:xfrm>
          <a:prstGeom prst="rect">
            <a:avLst/>
          </a:prstGeom>
          <a:noFill/>
          <a:ln/>
        </p:spPr>
        <p:txBody>
          <a:bodyPr wrap="square" lIns="25400" tIns="50800" rIns="50800" bIns="25400" rtlCol="0" anchor="t"/>
          <a:lstStyle/>
          <a:p>
            <a:pPr marL="228600" indent="-228600">
              <a:spcAft>
                <a:spcPts val="1000"/>
              </a:spcAft>
              <a:buSzPct val="100000"/>
              <a:buChar char="■"/>
            </a:pPr>
            <a:r>
              <a:rPr lang="en-US" sz="1400" dirty="0">
                <a:solidFill>
                  <a:schemeClr val="tx1"/>
                </a:solidFill>
              </a:rPr>
              <a:t>Belief that the influencer is sincere and endorsements reflect real opinions. </a:t>
            </a:r>
            <a:r>
              <a:rPr lang="en-US" sz="1400" dirty="0">
                <a:solidFill>
                  <a:schemeClr val="accent4"/>
                </a:solidFill>
              </a:rPr>
              <a:t>(Lee &amp; Eastin, 2021)</a:t>
            </a:r>
            <a:endParaRPr lang="en-US" sz="1400" dirty="0"/>
          </a:p>
          <a:p>
            <a:pPr marL="228600" indent="-228600">
              <a:spcAft>
                <a:spcPts val="1000"/>
              </a:spcAft>
              <a:buSzPct val="100000"/>
              <a:buChar char="■"/>
            </a:pPr>
            <a:r>
              <a:rPr lang="en-US" sz="1400" dirty="0">
                <a:solidFill>
                  <a:schemeClr val="tx1"/>
                </a:solidFill>
              </a:rPr>
              <a:t>Built through consistent, distinctive behaviour, passion and transparency. </a:t>
            </a:r>
            <a:r>
              <a:rPr lang="en-US" sz="1400" dirty="0">
                <a:solidFill>
                  <a:schemeClr val="accent4"/>
                </a:solidFill>
              </a:rPr>
              <a:t>(Moulard et al., 2015; Audrezet et al., 2020)</a:t>
            </a:r>
            <a:endParaRPr lang="en-US" sz="1400" dirty="0"/>
          </a:p>
          <a:p>
            <a:pPr marL="228600" indent="-228600">
              <a:spcAft>
                <a:spcPts val="1000"/>
              </a:spcAft>
              <a:buSzPct val="100000"/>
              <a:buChar char="■"/>
            </a:pPr>
            <a:r>
              <a:rPr lang="en-US" sz="1400" dirty="0">
                <a:solidFill>
                  <a:schemeClr val="tx1"/>
                </a:solidFill>
              </a:rPr>
              <a:t>Predicts purchase intention more strongly than attractiveness and builds trust. </a:t>
            </a:r>
            <a:r>
              <a:rPr lang="en-US" sz="1400" dirty="0">
                <a:solidFill>
                  <a:schemeClr val="accent4"/>
                </a:solidFill>
              </a:rPr>
              <a:t>(Pöyry et al., 2019; Kim &amp; Kim, 2021)</a:t>
            </a:r>
            <a:endParaRPr lang="en-US" sz="1400" dirty="0"/>
          </a:p>
          <a:p>
            <a:pPr marL="228600" indent="-228600">
              <a:spcAft>
                <a:spcPts val="1000"/>
              </a:spcAft>
              <a:buSzPct val="100000"/>
              <a:buChar char="■"/>
            </a:pPr>
            <a:r>
              <a:rPr lang="en-US" sz="1400" dirty="0">
                <a:solidFill>
                  <a:schemeClr val="tx1"/>
                </a:solidFill>
              </a:rPr>
              <a:t>Contested for virtual influencers: limited authenticity weakens purchase intention, yet compelling narratives can make them seem more authentic than humans. </a:t>
            </a:r>
            <a:r>
              <a:rPr lang="en-US" sz="1400" dirty="0">
                <a:solidFill>
                  <a:schemeClr val="accent4"/>
                </a:solidFill>
              </a:rPr>
              <a:t>(Lou et al., 2023; Allal-Chérif et al., 2024)</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548640" y="749808"/>
            <a:ext cx="11091672" cy="658368"/>
          </a:xfrm>
          <a:prstGeom prst="rect">
            <a:avLst/>
          </a:prstGeom>
          <a:noFill/>
          <a:ln/>
        </p:spPr>
        <p:txBody>
          <a:bodyPr wrap="square" lIns="0" tIns="0" rIns="0" bIns="0" rtlCol="0" anchor="ctr"/>
          <a:lstStyle/>
          <a:p>
            <a:pPr algn="l" indent="0" marL="0">
              <a:buNone/>
            </a:pPr>
            <a:r>
              <a:rPr lang="en-US" sz="2600" b="1" dirty="0">
                <a:solidFill>
                  <a:schemeClr val="tx1"/>
                </a:solidFill>
              </a:rPr>
              <a:t>LITERATURE REVIEW – HOMOPHILY &amp; ATTRACTIVENESS</a:t>
            </a:r>
            <a:endParaRPr lang="en-US" sz="2600" dirty="0"/>
          </a:p>
        </p:txBody>
      </p:sp>
      <p:sp>
        <p:nvSpPr>
          <p:cNvPr id="3" name="Perceived Homophily card"/>
          <p:cNvSpPr/>
          <p:nvPr/>
        </p:nvSpPr>
        <p:spPr>
          <a:xfrm>
            <a:off x="548640" y="1600200"/>
            <a:ext cx="5413248" cy="4709160"/>
          </a:xfrm>
          <a:prstGeom prst="rect">
            <a:avLst/>
          </a:prstGeom>
          <a:solidFill>
            <a:schemeClr val="bg2"/>
          </a:solidFill>
          <a:ln w="12700">
            <a:solidFill>
              <a:schemeClr val="bg2"/>
            </a:solidFill>
            <a:prstDash val="solid"/>
          </a:ln>
        </p:spPr>
      </p:sp>
      <p:sp>
        <p:nvSpPr>
          <p:cNvPr id="4" name="Perceived Homophily circle"/>
          <p:cNvSpPr/>
          <p:nvPr/>
        </p:nvSpPr>
        <p:spPr>
          <a:xfrm>
            <a:off x="777240" y="1783080"/>
            <a:ext cx="640080" cy="640080"/>
          </a:xfrm>
          <a:prstGeom prst="ellipse">
            <a:avLst/>
          </a:prstGeom>
          <a:solidFill>
            <a:schemeClr val="accent1"/>
          </a:solidFill>
          <a:ln w="12700">
            <a:solidFill>
              <a:schemeClr val="accent1"/>
            </a:solidFill>
            <a:prstDash val="solid"/>
          </a:ln>
        </p:spPr>
      </p:sp>
      <p:pic>
        <p:nvPicPr>
          <p:cNvPr id="5" name="Perceived Homophily icon" descr="preencoded.png">    </p:cNvPr>
          <p:cNvPicPr>
            <a:picLocks noChangeAspect="1"/>
          </p:cNvPicPr>
          <p:nvPr/>
        </p:nvPicPr>
        <p:blipFill>
          <a:blip r:embed="rId1"/>
          <a:stretch>
            <a:fillRect/>
          </a:stretch>
        </p:blipFill>
        <p:spPr>
          <a:xfrm>
            <a:off x="937260" y="1943100"/>
            <a:ext cx="320040" cy="320040"/>
          </a:xfrm>
          <a:prstGeom prst="rect">
            <a:avLst/>
          </a:prstGeom>
        </p:spPr>
      </p:pic>
      <p:sp>
        <p:nvSpPr>
          <p:cNvPr id="6" name="Text 3"/>
          <p:cNvSpPr txBox="1"/>
          <p:nvPr/>
        </p:nvSpPr>
        <p:spPr>
          <a:xfrm>
            <a:off x="1554480" y="1783080"/>
            <a:ext cx="4206240" cy="640080"/>
          </a:xfrm>
          <a:prstGeom prst="rect">
            <a:avLst/>
          </a:prstGeom>
          <a:noFill/>
          <a:ln/>
        </p:spPr>
        <p:txBody>
          <a:bodyPr wrap="square" lIns="0" tIns="0" rIns="0" bIns="0" rtlCol="0" anchor="ctr"/>
          <a:lstStyle/>
          <a:p>
            <a:pPr indent="0" marL="0">
              <a:buNone/>
            </a:pPr>
            <a:r>
              <a:rPr lang="en-US" sz="1800" b="1" dirty="0">
                <a:solidFill>
                  <a:schemeClr val="tx1"/>
                </a:solidFill>
              </a:rPr>
              <a:t>Perceived Homophily</a:t>
            </a:r>
            <a:endParaRPr lang="en-US" sz="1800" dirty="0"/>
          </a:p>
          <a:p>
            <a:pPr indent="0" marL="0">
              <a:buNone/>
            </a:pPr>
            <a:r>
              <a:rPr lang="en-US" sz="1200" dirty="0">
                <a:solidFill>
                  <a:schemeClr val="accent4"/>
                </a:solidFill>
              </a:rPr>
              <a:t>Independent variable</a:t>
            </a:r>
            <a:endParaRPr lang="en-US" sz="1800" dirty="0"/>
          </a:p>
        </p:txBody>
      </p:sp>
      <p:sp>
        <p:nvSpPr>
          <p:cNvPr id="7" name="Text 4"/>
          <p:cNvSpPr txBox="1"/>
          <p:nvPr/>
        </p:nvSpPr>
        <p:spPr>
          <a:xfrm>
            <a:off x="731520" y="2606040"/>
            <a:ext cx="5074920" cy="3611880"/>
          </a:xfrm>
          <a:prstGeom prst="rect">
            <a:avLst/>
          </a:prstGeom>
          <a:noFill/>
          <a:ln/>
        </p:spPr>
        <p:txBody>
          <a:bodyPr wrap="square" lIns="25400" tIns="50800" rIns="50800" bIns="25400" rtlCol="0" anchor="t"/>
          <a:lstStyle/>
          <a:p>
            <a:pPr marL="228600" indent="-228600">
              <a:spcAft>
                <a:spcPts val="1000"/>
              </a:spcAft>
              <a:buSzPct val="100000"/>
              <a:buChar char="■"/>
            </a:pPr>
            <a:r>
              <a:rPr lang="en-US" sz="1400" dirty="0">
                <a:solidFill>
                  <a:schemeClr val="tx1"/>
                </a:solidFill>
              </a:rPr>
              <a:t>Degree to which consumers feel similar to an influencer in attitudes, values, background or appearance. </a:t>
            </a:r>
            <a:r>
              <a:rPr lang="en-US" sz="1400" dirty="0">
                <a:solidFill>
                  <a:schemeClr val="accent4"/>
                </a:solidFill>
              </a:rPr>
              <a:t>(McCroskey et al., 1975)</a:t>
            </a:r>
            <a:endParaRPr lang="en-US" sz="1400" dirty="0"/>
          </a:p>
          <a:p>
            <a:pPr marL="228600" indent="-228600">
              <a:spcAft>
                <a:spcPts val="1000"/>
              </a:spcAft>
              <a:buSzPct val="100000"/>
              <a:buChar char="■"/>
            </a:pPr>
            <a:r>
              <a:rPr lang="en-US" sz="1400" dirty="0">
                <a:solidFill>
                  <a:schemeClr val="tx1"/>
                </a:solidFill>
              </a:rPr>
              <a:t>Similarity raises popularity, trust in branded posts and purchase intention. </a:t>
            </a:r>
            <a:r>
              <a:rPr lang="en-US" sz="1400" dirty="0">
                <a:solidFill>
                  <a:schemeClr val="accent4"/>
                </a:solidFill>
              </a:rPr>
              <a:t>(Ladhari et al., 2020; Lou &amp; Yuan, 2019)</a:t>
            </a:r>
            <a:endParaRPr lang="en-US" sz="1400" dirty="0"/>
          </a:p>
          <a:p>
            <a:pPr marL="228600" indent="-228600">
              <a:spcAft>
                <a:spcPts val="1000"/>
              </a:spcAft>
              <a:buSzPct val="100000"/>
              <a:buChar char="■"/>
            </a:pPr>
            <a:r>
              <a:rPr lang="en-US" sz="1400" dirty="0">
                <a:solidFill>
                  <a:schemeClr val="tx1"/>
                </a:solidFill>
              </a:rPr>
              <a:t>A weak point for virtual influencers: viewers feel less similar to them and identify less. </a:t>
            </a:r>
            <a:r>
              <a:rPr lang="en-US" sz="1400" dirty="0">
                <a:solidFill>
                  <a:schemeClr val="accent4"/>
                </a:solidFill>
              </a:rPr>
              <a:t>(Stein et al., 2024; Belanche et al., 2024)</a:t>
            </a:r>
            <a:endParaRPr lang="en-US" sz="1400" dirty="0"/>
          </a:p>
          <a:p>
            <a:pPr marL="228600" indent="-228600">
              <a:spcAft>
                <a:spcPts val="1000"/>
              </a:spcAft>
              <a:buSzPct val="100000"/>
              <a:buChar char="■"/>
            </a:pPr>
            <a:r>
              <a:rPr lang="en-US" sz="1400" dirty="0">
                <a:solidFill>
                  <a:schemeClr val="tx1"/>
                </a:solidFill>
              </a:rPr>
              <a:t>Strengthens the bond anthropomorphism creates; social cues can raise homophily and credibility. </a:t>
            </a:r>
            <a:r>
              <a:rPr lang="en-US" sz="1400" dirty="0">
                <a:solidFill>
                  <a:schemeClr val="accent4"/>
                </a:solidFill>
              </a:rPr>
              <a:t>(Lee &amp; Kim, 2025; Yoo et al., 2025)</a:t>
            </a:r>
            <a:endParaRPr lang="en-US" sz="1400" dirty="0"/>
          </a:p>
        </p:txBody>
      </p:sp>
      <p:sp>
        <p:nvSpPr>
          <p:cNvPr id="8" name="Perceived Attractiveness card"/>
          <p:cNvSpPr/>
          <p:nvPr/>
        </p:nvSpPr>
        <p:spPr>
          <a:xfrm>
            <a:off x="6227064" y="1600200"/>
            <a:ext cx="5413248" cy="4709160"/>
          </a:xfrm>
          <a:prstGeom prst="rect">
            <a:avLst/>
          </a:prstGeom>
          <a:solidFill>
            <a:schemeClr val="bg2"/>
          </a:solidFill>
          <a:ln w="12700">
            <a:solidFill>
              <a:schemeClr val="bg2"/>
            </a:solidFill>
            <a:prstDash val="solid"/>
          </a:ln>
        </p:spPr>
      </p:sp>
      <p:sp>
        <p:nvSpPr>
          <p:cNvPr id="9" name="Perceived Attractiveness circle"/>
          <p:cNvSpPr/>
          <p:nvPr/>
        </p:nvSpPr>
        <p:spPr>
          <a:xfrm>
            <a:off x="6455664" y="1783080"/>
            <a:ext cx="640080" cy="640080"/>
          </a:xfrm>
          <a:prstGeom prst="ellipse">
            <a:avLst/>
          </a:prstGeom>
          <a:solidFill>
            <a:schemeClr val="accent4"/>
          </a:solidFill>
          <a:ln w="12700">
            <a:solidFill>
              <a:schemeClr val="accent4"/>
            </a:solidFill>
            <a:prstDash val="solid"/>
          </a:ln>
        </p:spPr>
      </p:sp>
      <p:pic>
        <p:nvPicPr>
          <p:cNvPr id="10" name="Perceived Attractiveness icon" descr="preencoded.png">    </p:cNvPr>
          <p:cNvPicPr>
            <a:picLocks noChangeAspect="1"/>
          </p:cNvPicPr>
          <p:nvPr/>
        </p:nvPicPr>
        <p:blipFill>
          <a:blip r:embed="rId2"/>
          <a:stretch>
            <a:fillRect/>
          </a:stretch>
        </p:blipFill>
        <p:spPr>
          <a:xfrm>
            <a:off x="6615684" y="1943100"/>
            <a:ext cx="320040" cy="320040"/>
          </a:xfrm>
          <a:prstGeom prst="rect">
            <a:avLst/>
          </a:prstGeom>
        </p:spPr>
      </p:pic>
      <p:sp>
        <p:nvSpPr>
          <p:cNvPr id="11" name="Text 7"/>
          <p:cNvSpPr txBox="1"/>
          <p:nvPr/>
        </p:nvSpPr>
        <p:spPr>
          <a:xfrm>
            <a:off x="7232904" y="1783080"/>
            <a:ext cx="4206240" cy="640080"/>
          </a:xfrm>
          <a:prstGeom prst="rect">
            <a:avLst/>
          </a:prstGeom>
          <a:noFill/>
          <a:ln/>
        </p:spPr>
        <p:txBody>
          <a:bodyPr wrap="square" lIns="0" tIns="0" rIns="0" bIns="0" rtlCol="0" anchor="ctr"/>
          <a:lstStyle/>
          <a:p>
            <a:pPr indent="0" marL="0">
              <a:buNone/>
            </a:pPr>
            <a:r>
              <a:rPr lang="en-US" sz="1800" b="1" dirty="0">
                <a:solidFill>
                  <a:schemeClr val="tx1"/>
                </a:solidFill>
              </a:rPr>
              <a:t>Perceived Attractiveness</a:t>
            </a:r>
            <a:endParaRPr lang="en-US" sz="1800" dirty="0"/>
          </a:p>
          <a:p>
            <a:pPr indent="0" marL="0">
              <a:buNone/>
            </a:pPr>
            <a:r>
              <a:rPr lang="en-US" sz="1200" dirty="0">
                <a:solidFill>
                  <a:schemeClr val="accent4"/>
                </a:solidFill>
              </a:rPr>
              <a:t>Independent variable</a:t>
            </a:r>
            <a:endParaRPr lang="en-US" sz="1800" dirty="0"/>
          </a:p>
        </p:txBody>
      </p:sp>
      <p:sp>
        <p:nvSpPr>
          <p:cNvPr id="12" name="Text 8"/>
          <p:cNvSpPr txBox="1"/>
          <p:nvPr/>
        </p:nvSpPr>
        <p:spPr>
          <a:xfrm>
            <a:off x="6409944" y="2606040"/>
            <a:ext cx="5074920" cy="3611880"/>
          </a:xfrm>
          <a:prstGeom prst="rect">
            <a:avLst/>
          </a:prstGeom>
          <a:noFill/>
          <a:ln/>
        </p:spPr>
        <p:txBody>
          <a:bodyPr wrap="square" lIns="25400" tIns="50800" rIns="50800" bIns="25400" rtlCol="0" anchor="t"/>
          <a:lstStyle/>
          <a:p>
            <a:pPr marL="228600" indent="-228600">
              <a:spcAft>
                <a:spcPts val="1000"/>
              </a:spcAft>
              <a:buSzPct val="100000"/>
              <a:buChar char="■"/>
            </a:pPr>
            <a:r>
              <a:rPr lang="en-US" sz="1400" dirty="0">
                <a:solidFill>
                  <a:schemeClr val="tx1"/>
                </a:solidFill>
              </a:rPr>
              <a:t>How physically appealing, stylish and elegant an influencer appears; a classic dimension of endorser credibility. </a:t>
            </a:r>
            <a:r>
              <a:rPr lang="en-US" sz="1400" dirty="0">
                <a:solidFill>
                  <a:schemeClr val="accent4"/>
                </a:solidFill>
              </a:rPr>
              <a:t>(Ohanian, 1990)</a:t>
            </a:r>
            <a:endParaRPr lang="en-US" sz="1400" dirty="0"/>
          </a:p>
          <a:p>
            <a:pPr marL="228600" indent="-228600">
              <a:spcAft>
                <a:spcPts val="1000"/>
              </a:spcAft>
              <a:buSzPct val="100000"/>
              <a:buChar char="■"/>
            </a:pPr>
            <a:r>
              <a:rPr lang="en-US" sz="1400" dirty="0">
                <a:solidFill>
                  <a:schemeClr val="tx1"/>
                </a:solidFill>
              </a:rPr>
              <a:t>Improves brand attitudes, trust and purchase intention. </a:t>
            </a:r>
            <a:r>
              <a:rPr lang="en-US" sz="1400" dirty="0">
                <a:solidFill>
                  <a:schemeClr val="accent4"/>
                </a:solidFill>
              </a:rPr>
              <a:t>(Kahle &amp; Homer, 1985; Weismueller et al., 2020; Lou &amp; Yuan, 2019)</a:t>
            </a:r>
            <a:endParaRPr lang="en-US" sz="1400" dirty="0"/>
          </a:p>
          <a:p>
            <a:pPr marL="228600" indent="-228600">
              <a:spcAft>
                <a:spcPts val="1000"/>
              </a:spcAft>
              <a:buSzPct val="100000"/>
              <a:buChar char="■"/>
            </a:pPr>
            <a:r>
              <a:rPr lang="en-US" sz="1400" dirty="0">
                <a:solidFill>
                  <a:schemeClr val="tx1"/>
                </a:solidFill>
              </a:rPr>
              <a:t>Less consistent against other traits: authenticity and expertise can outweigh it. </a:t>
            </a:r>
            <a:r>
              <a:rPr lang="en-US" sz="1400" dirty="0">
                <a:solidFill>
                  <a:schemeClr val="accent4"/>
                </a:solidFill>
              </a:rPr>
              <a:t>(Pöyry et al., 2019; Trivedi &amp; Sama, 2020)</a:t>
            </a:r>
            <a:endParaRPr lang="en-US" sz="1400" dirty="0"/>
          </a:p>
          <a:p>
            <a:pPr marL="228600" indent="-228600">
              <a:spcAft>
                <a:spcPts val="1000"/>
              </a:spcAft>
              <a:buSzPct val="100000"/>
              <a:buChar char="■"/>
            </a:pPr>
            <a:r>
              <a:rPr lang="en-US" sz="1400" dirty="0">
                <a:solidFill>
                  <a:schemeClr val="tx1"/>
                </a:solidFill>
              </a:rPr>
              <a:t>For virtual influencers it works indirectly, through mimetic desire or credibility. </a:t>
            </a:r>
            <a:r>
              <a:rPr lang="en-US" sz="1400" dirty="0">
                <a:solidFill>
                  <a:schemeClr val="accent4"/>
                </a:solidFill>
              </a:rPr>
              <a:t>(Kim &amp; Park, 2023; Yoo et al., 2025)</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548640" y="749808"/>
            <a:ext cx="11091672" cy="658368"/>
          </a:xfrm>
          <a:prstGeom prst="rect">
            <a:avLst/>
          </a:prstGeom>
          <a:noFill/>
          <a:ln/>
        </p:spPr>
        <p:txBody>
          <a:bodyPr wrap="square" lIns="0" tIns="0" rIns="0" bIns="0" rtlCol="0" anchor="ctr"/>
          <a:lstStyle/>
          <a:p>
            <a:pPr algn="l" indent="0" marL="0">
              <a:buNone/>
            </a:pPr>
            <a:r>
              <a:rPr lang="en-US" sz="2600" b="1" dirty="0">
                <a:solidFill>
                  <a:schemeClr val="tx1"/>
                </a:solidFill>
              </a:rPr>
              <a:t>LITERATURE REVIEW – TRUST AS THE MEDIATOR</a:t>
            </a:r>
            <a:endParaRPr lang="en-US" sz="2600" dirty="0"/>
          </a:p>
        </p:txBody>
      </p:sp>
      <p:sp>
        <p:nvSpPr>
          <p:cNvPr id="3" name="Text 1"/>
          <p:cNvSpPr txBox="1"/>
          <p:nvPr/>
        </p:nvSpPr>
        <p:spPr>
          <a:xfrm>
            <a:off x="548640" y="1600200"/>
            <a:ext cx="7589520" cy="4754880"/>
          </a:xfrm>
          <a:prstGeom prst="rect">
            <a:avLst/>
          </a:prstGeom>
          <a:noFill/>
          <a:ln/>
        </p:spPr>
        <p:txBody>
          <a:bodyPr wrap="square" lIns="25400" tIns="50800" rIns="50800" bIns="25400" rtlCol="0" anchor="t"/>
          <a:lstStyle/>
          <a:p>
            <a:pPr marL="228600" indent="-228600">
              <a:spcAft>
                <a:spcPts val="900"/>
              </a:spcAft>
              <a:buSzPct val="100000"/>
              <a:buChar char="■"/>
            </a:pPr>
            <a:r>
              <a:rPr lang="en-US" sz="1400" dirty="0">
                <a:solidFill>
                  <a:schemeClr val="tx1"/>
                </a:solidFill>
              </a:rPr>
              <a:t>Trust is a willingness to rely on another party based on beliefs about its ability, benevolence and integrity. </a:t>
            </a:r>
            <a:r>
              <a:rPr lang="en-US" sz="1400" dirty="0">
                <a:solidFill>
                  <a:schemeClr val="accent4"/>
                </a:solidFill>
              </a:rPr>
              <a:t>(Mayer et al., 1995)</a:t>
            </a:r>
            <a:endParaRPr lang="en-US" sz="1400" dirty="0"/>
          </a:p>
          <a:p>
            <a:pPr marL="228600" indent="-228600">
              <a:spcAft>
                <a:spcPts val="900"/>
              </a:spcAft>
              <a:buSzPct val="100000"/>
              <a:buChar char="■"/>
            </a:pPr>
            <a:r>
              <a:rPr lang="en-US" sz="1400" dirty="0">
                <a:solidFill>
                  <a:schemeClr val="tx1"/>
                </a:solidFill>
              </a:rPr>
              <a:t>It carries the effects of a marketer's actions through to outcomes, and brand trust drives loyalty and performance. </a:t>
            </a:r>
            <a:r>
              <a:rPr lang="en-US" sz="1400" dirty="0">
                <a:solidFill>
                  <a:schemeClr val="accent4"/>
                </a:solidFill>
              </a:rPr>
              <a:t>(Morgan &amp; Hunt, 1994; Chaudhuri &amp; Holbrook, 2001)</a:t>
            </a:r>
            <a:endParaRPr lang="en-US" sz="1400" dirty="0"/>
          </a:p>
          <a:p>
            <a:pPr marL="228600" indent="-228600">
              <a:spcAft>
                <a:spcPts val="900"/>
              </a:spcAft>
              <a:buSzPct val="100000"/>
              <a:buChar char="■"/>
            </a:pPr>
            <a:r>
              <a:rPr lang="en-US" sz="1400" dirty="0">
                <a:solidFill>
                  <a:schemeClr val="tx1"/>
                </a:solidFill>
              </a:rPr>
              <a:t>Consumers buy what a creator recommends because they first trust the creator or their posts. </a:t>
            </a:r>
            <a:r>
              <a:rPr lang="en-US" sz="1400" dirty="0">
                <a:solidFill>
                  <a:schemeClr val="accent4"/>
                </a:solidFill>
              </a:rPr>
              <a:t>(Lou &amp; Yuan, 2019; Kim &amp; Kim, 2021)</a:t>
            </a:r>
            <a:endParaRPr lang="en-US" sz="1400" dirty="0"/>
          </a:p>
          <a:p>
            <a:pPr marL="228600" indent="-228600">
              <a:spcAft>
                <a:spcPts val="900"/>
              </a:spcAft>
              <a:buSzPct val="100000"/>
              <a:buChar char="■"/>
            </a:pPr>
            <a:r>
              <a:rPr lang="en-US" sz="1400" dirty="0">
                <a:solidFill>
                  <a:schemeClr val="tx1"/>
                </a:solidFill>
              </a:rPr>
              <a:t>Virtual influencers' artificial nature creates an inherent trust deficit, but humanising cues can lift trust to nearly human levels. </a:t>
            </a:r>
            <a:r>
              <a:rPr lang="en-US" sz="1400" dirty="0">
                <a:solidFill>
                  <a:schemeClr val="accent4"/>
                </a:solidFill>
              </a:rPr>
              <a:t>(Sands et al., 2022; Cascio Rizzo et al., 2026)</a:t>
            </a:r>
            <a:endParaRPr lang="en-US" sz="1400" dirty="0"/>
          </a:p>
          <a:p>
            <a:pPr marL="228600" indent="-228600">
              <a:spcAft>
                <a:spcPts val="900"/>
              </a:spcAft>
              <a:buSzPct val="100000"/>
              <a:buChar char="■"/>
            </a:pPr>
            <a:r>
              <a:rPr lang="en-US" sz="1400" dirty="0">
                <a:solidFill>
                  <a:schemeClr val="tx1"/>
                </a:solidFill>
              </a:rPr>
              <a:t>In India, trust mediated the effect of credibility, congruence and engagement on the purchase intention of 326 fashion followers. </a:t>
            </a:r>
            <a:r>
              <a:rPr lang="en-US" sz="1400" dirty="0">
                <a:solidFill>
                  <a:schemeClr val="accent4"/>
                </a:solidFill>
              </a:rPr>
              <a:t>(Jha et al., 2025)</a:t>
            </a:r>
            <a:endParaRPr lang="en-US" sz="1400" dirty="0"/>
          </a:p>
          <a:p>
            <a:pPr marL="228600" indent="-228600">
              <a:spcAft>
                <a:spcPts val="900"/>
              </a:spcAft>
              <a:buSzPct val="100000"/>
              <a:buChar char="■"/>
            </a:pPr>
            <a:r>
              <a:rPr lang="en-US" sz="1400" dirty="0">
                <a:solidFill>
                  <a:schemeClr val="tx1"/>
                </a:solidFill>
              </a:rPr>
              <a:t>Yet engagement with virtual influencers did not improve brand trust or purchase intention among Indian Gen Z. </a:t>
            </a:r>
            <a:r>
              <a:rPr lang="en-US" sz="1400" dirty="0">
                <a:solidFill>
                  <a:schemeClr val="accent4"/>
                </a:solidFill>
              </a:rPr>
              <a:t>(George et al., 2026)</a:t>
            </a:r>
            <a:endParaRPr lang="en-US" sz="1400" dirty="0"/>
          </a:p>
        </p:txBody>
      </p:sp>
      <p:sp>
        <p:nvSpPr>
          <p:cNvPr id="4" name="Perceptions step"/>
          <p:cNvSpPr/>
          <p:nvPr/>
        </p:nvSpPr>
        <p:spPr>
          <a:xfrm>
            <a:off x="8732520" y="1783080"/>
            <a:ext cx="2926080" cy="914400"/>
          </a:xfrm>
          <a:prstGeom prst="roundRect">
            <a:avLst>
              <a:gd name="adj" fmla="val 12000"/>
            </a:avLst>
          </a:prstGeom>
          <a:solidFill>
            <a:schemeClr val="tx2"/>
          </a:solidFill>
          <a:ln w="12700">
            <a:solidFill>
              <a:schemeClr val="tx2"/>
            </a:solidFill>
            <a:prstDash val="solid"/>
          </a:ln>
        </p:spPr>
      </p:sp>
      <p:sp>
        <p:nvSpPr>
          <p:cNvPr id="5" name="Text 3"/>
          <p:cNvSpPr txBox="1"/>
          <p:nvPr/>
        </p:nvSpPr>
        <p:spPr>
          <a:xfrm>
            <a:off x="8732520" y="1783080"/>
            <a:ext cx="2926080" cy="914400"/>
          </a:xfrm>
          <a:prstGeom prst="rect">
            <a:avLst/>
          </a:prstGeom>
          <a:noFill/>
          <a:ln/>
        </p:spPr>
        <p:txBody>
          <a:bodyPr wrap="square" rtlCol="0" anchor="ctr"/>
          <a:lstStyle/>
          <a:p>
            <a:pPr algn="ctr" indent="0" marL="0">
              <a:buNone/>
            </a:pPr>
            <a:r>
              <a:rPr lang="en-US" sz="1800" b="1" dirty="0">
                <a:solidFill>
                  <a:schemeClr val="bg1"/>
                </a:solidFill>
              </a:rPr>
              <a:t>Perceptions</a:t>
            </a:r>
            <a:endParaRPr lang="en-US" sz="1800" dirty="0"/>
          </a:p>
        </p:txBody>
      </p:sp>
      <p:sp>
        <p:nvSpPr>
          <p:cNvPr id="6" name="flow arrow 0"/>
          <p:cNvSpPr/>
          <p:nvPr/>
        </p:nvSpPr>
        <p:spPr>
          <a:xfrm>
            <a:off x="10195560" y="2743200"/>
            <a:ext cx="0" cy="502920"/>
          </a:xfrm>
          <a:prstGeom prst="line">
            <a:avLst/>
          </a:prstGeom>
          <a:noFill/>
          <a:ln w="31750">
            <a:solidFill>
              <a:schemeClr val="accent3"/>
            </a:solidFill>
            <a:prstDash val="solid"/>
            <a:tailEnd type="triangle"/>
          </a:ln>
        </p:spPr>
      </p:sp>
      <p:sp>
        <p:nvSpPr>
          <p:cNvPr id="7" name="Trust step"/>
          <p:cNvSpPr/>
          <p:nvPr/>
        </p:nvSpPr>
        <p:spPr>
          <a:xfrm>
            <a:off x="8732520" y="3291840"/>
            <a:ext cx="2926080" cy="914400"/>
          </a:xfrm>
          <a:prstGeom prst="roundRect">
            <a:avLst>
              <a:gd name="adj" fmla="val 12000"/>
            </a:avLst>
          </a:prstGeom>
          <a:solidFill>
            <a:schemeClr val="accent1"/>
          </a:solidFill>
          <a:ln w="12700">
            <a:solidFill>
              <a:schemeClr val="accent1"/>
            </a:solidFill>
            <a:prstDash val="solid"/>
          </a:ln>
        </p:spPr>
      </p:sp>
      <p:sp>
        <p:nvSpPr>
          <p:cNvPr id="8" name="Text 6"/>
          <p:cNvSpPr txBox="1"/>
          <p:nvPr/>
        </p:nvSpPr>
        <p:spPr>
          <a:xfrm>
            <a:off x="8732520" y="3291840"/>
            <a:ext cx="2926080" cy="914400"/>
          </a:xfrm>
          <a:prstGeom prst="rect">
            <a:avLst/>
          </a:prstGeom>
          <a:noFill/>
          <a:ln/>
        </p:spPr>
        <p:txBody>
          <a:bodyPr wrap="square" rtlCol="0" anchor="ctr"/>
          <a:lstStyle/>
          <a:p>
            <a:pPr algn="ctr" indent="0" marL="0">
              <a:buNone/>
            </a:pPr>
            <a:r>
              <a:rPr lang="en-US" sz="1800" b="1" dirty="0">
                <a:solidFill>
                  <a:schemeClr val="bg1"/>
                </a:solidFill>
              </a:rPr>
              <a:t>Trust</a:t>
            </a:r>
            <a:endParaRPr lang="en-US" sz="1800" dirty="0"/>
          </a:p>
        </p:txBody>
      </p:sp>
      <p:sp>
        <p:nvSpPr>
          <p:cNvPr id="9" name="flow arrow 1"/>
          <p:cNvSpPr/>
          <p:nvPr/>
        </p:nvSpPr>
        <p:spPr>
          <a:xfrm>
            <a:off x="10195560" y="4251960"/>
            <a:ext cx="0" cy="502920"/>
          </a:xfrm>
          <a:prstGeom prst="line">
            <a:avLst/>
          </a:prstGeom>
          <a:noFill/>
          <a:ln w="31750">
            <a:solidFill>
              <a:schemeClr val="accent3"/>
            </a:solidFill>
            <a:prstDash val="solid"/>
            <a:tailEnd type="triangle"/>
          </a:ln>
        </p:spPr>
      </p:sp>
      <p:sp>
        <p:nvSpPr>
          <p:cNvPr id="10" name="Purchase intention step"/>
          <p:cNvSpPr/>
          <p:nvPr/>
        </p:nvSpPr>
        <p:spPr>
          <a:xfrm>
            <a:off x="8732520" y="4800600"/>
            <a:ext cx="2926080" cy="914400"/>
          </a:xfrm>
          <a:prstGeom prst="roundRect">
            <a:avLst>
              <a:gd name="adj" fmla="val 12000"/>
            </a:avLst>
          </a:prstGeom>
          <a:solidFill>
            <a:schemeClr val="accent4"/>
          </a:solidFill>
          <a:ln w="12700">
            <a:solidFill>
              <a:schemeClr val="accent4"/>
            </a:solidFill>
            <a:prstDash val="solid"/>
          </a:ln>
        </p:spPr>
      </p:sp>
      <p:sp>
        <p:nvSpPr>
          <p:cNvPr id="11" name="Text 9"/>
          <p:cNvSpPr txBox="1"/>
          <p:nvPr/>
        </p:nvSpPr>
        <p:spPr>
          <a:xfrm>
            <a:off x="8732520" y="4800600"/>
            <a:ext cx="2926080" cy="914400"/>
          </a:xfrm>
          <a:prstGeom prst="rect">
            <a:avLst/>
          </a:prstGeom>
          <a:noFill/>
          <a:ln/>
        </p:spPr>
        <p:txBody>
          <a:bodyPr wrap="square" rtlCol="0" anchor="ctr"/>
          <a:lstStyle/>
          <a:p>
            <a:pPr algn="ctr" indent="0" marL="0">
              <a:buNone/>
            </a:pPr>
            <a:r>
              <a:rPr lang="en-US" sz="1800" b="1" dirty="0">
                <a:solidFill>
                  <a:schemeClr val="bg1"/>
                </a:solidFill>
              </a:rPr>
              <a:t>Purchase intention</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548640" y="749808"/>
            <a:ext cx="11091672" cy="658368"/>
          </a:xfrm>
          <a:prstGeom prst="rect">
            <a:avLst/>
          </a:prstGeom>
          <a:noFill/>
          <a:ln/>
        </p:spPr>
        <p:txBody>
          <a:bodyPr wrap="square" lIns="0" tIns="0" rIns="0" bIns="0" rtlCol="0" anchor="ctr"/>
          <a:lstStyle/>
          <a:p>
            <a:pPr algn="l" indent="0" marL="0">
              <a:buNone/>
            </a:pPr>
            <a:r>
              <a:rPr lang="en-US" sz="2600" b="1" dirty="0">
                <a:solidFill>
                  <a:schemeClr val="tx1"/>
                </a:solidFill>
              </a:rPr>
              <a:t>LITERATURE REVIEW – PURCHASE INTENTION &amp; GEN Z</a:t>
            </a:r>
            <a:endParaRPr lang="en-US" sz="2600" dirty="0"/>
          </a:p>
        </p:txBody>
      </p:sp>
      <p:sp>
        <p:nvSpPr>
          <p:cNvPr id="3" name="Purchase Intention card"/>
          <p:cNvSpPr/>
          <p:nvPr/>
        </p:nvSpPr>
        <p:spPr>
          <a:xfrm>
            <a:off x="548640" y="1600200"/>
            <a:ext cx="5413248" cy="4709160"/>
          </a:xfrm>
          <a:prstGeom prst="rect">
            <a:avLst/>
          </a:prstGeom>
          <a:solidFill>
            <a:schemeClr val="bg2"/>
          </a:solidFill>
          <a:ln w="12700">
            <a:solidFill>
              <a:schemeClr val="bg2"/>
            </a:solidFill>
            <a:prstDash val="solid"/>
          </a:ln>
        </p:spPr>
      </p:sp>
      <p:sp>
        <p:nvSpPr>
          <p:cNvPr id="4" name="Purchase Intention circle"/>
          <p:cNvSpPr/>
          <p:nvPr/>
        </p:nvSpPr>
        <p:spPr>
          <a:xfrm>
            <a:off x="777240" y="1783080"/>
            <a:ext cx="640080" cy="640080"/>
          </a:xfrm>
          <a:prstGeom prst="ellipse">
            <a:avLst/>
          </a:prstGeom>
          <a:solidFill>
            <a:schemeClr val="accent1"/>
          </a:solidFill>
          <a:ln w="12700">
            <a:solidFill>
              <a:schemeClr val="accent1"/>
            </a:solidFill>
            <a:prstDash val="solid"/>
          </a:ln>
        </p:spPr>
      </p:sp>
      <p:pic>
        <p:nvPicPr>
          <p:cNvPr id="5" name="Purchase Intention icon" descr="preencoded.png">    </p:cNvPr>
          <p:cNvPicPr>
            <a:picLocks noChangeAspect="1"/>
          </p:cNvPicPr>
          <p:nvPr/>
        </p:nvPicPr>
        <p:blipFill>
          <a:blip r:embed="rId1"/>
          <a:stretch>
            <a:fillRect/>
          </a:stretch>
        </p:blipFill>
        <p:spPr>
          <a:xfrm>
            <a:off x="937260" y="1943100"/>
            <a:ext cx="320040" cy="320040"/>
          </a:xfrm>
          <a:prstGeom prst="rect">
            <a:avLst/>
          </a:prstGeom>
        </p:spPr>
      </p:pic>
      <p:sp>
        <p:nvSpPr>
          <p:cNvPr id="6" name="Text 3"/>
          <p:cNvSpPr txBox="1"/>
          <p:nvPr/>
        </p:nvSpPr>
        <p:spPr>
          <a:xfrm>
            <a:off x="1554480" y="1783080"/>
            <a:ext cx="4206240" cy="640080"/>
          </a:xfrm>
          <a:prstGeom prst="rect">
            <a:avLst/>
          </a:prstGeom>
          <a:noFill/>
          <a:ln/>
        </p:spPr>
        <p:txBody>
          <a:bodyPr wrap="square" lIns="0" tIns="0" rIns="0" bIns="0" rtlCol="0" anchor="ctr"/>
          <a:lstStyle/>
          <a:p>
            <a:pPr indent="0" marL="0">
              <a:buNone/>
            </a:pPr>
            <a:r>
              <a:rPr lang="en-US" sz="1800" b="1" dirty="0">
                <a:solidFill>
                  <a:schemeClr val="tx1"/>
                </a:solidFill>
              </a:rPr>
              <a:t>Purchase Intention</a:t>
            </a:r>
            <a:endParaRPr lang="en-US" sz="1800" dirty="0"/>
          </a:p>
          <a:p>
            <a:pPr indent="0" marL="0">
              <a:buNone/>
            </a:pPr>
            <a:r>
              <a:rPr lang="en-US" sz="1200" dirty="0">
                <a:solidFill>
                  <a:schemeClr val="accent4"/>
                </a:solidFill>
              </a:rPr>
              <a:t>Dependent variable</a:t>
            </a:r>
            <a:endParaRPr lang="en-US" sz="1800" dirty="0"/>
          </a:p>
        </p:txBody>
      </p:sp>
      <p:sp>
        <p:nvSpPr>
          <p:cNvPr id="7" name="Text 4"/>
          <p:cNvSpPr txBox="1"/>
          <p:nvPr/>
        </p:nvSpPr>
        <p:spPr>
          <a:xfrm>
            <a:off x="731520" y="2606040"/>
            <a:ext cx="5074920" cy="3611880"/>
          </a:xfrm>
          <a:prstGeom prst="rect">
            <a:avLst/>
          </a:prstGeom>
          <a:noFill/>
          <a:ln/>
        </p:spPr>
        <p:txBody>
          <a:bodyPr wrap="square" lIns="25400" tIns="50800" rIns="50800" bIns="25400" rtlCol="0" anchor="t"/>
          <a:lstStyle/>
          <a:p>
            <a:pPr marL="228600" indent="-228600">
              <a:spcAft>
                <a:spcPts val="1000"/>
              </a:spcAft>
              <a:buSzPct val="100000"/>
              <a:buChar char="■"/>
            </a:pPr>
            <a:r>
              <a:rPr lang="en-US" sz="1400" dirty="0">
                <a:solidFill>
                  <a:schemeClr val="tx1"/>
                </a:solidFill>
              </a:rPr>
              <a:t>A consumer's conscious plan to buy a product or brand. </a:t>
            </a:r>
            <a:r>
              <a:rPr lang="en-US" sz="1400" dirty="0">
                <a:solidFill>
                  <a:schemeClr val="accent4"/>
                </a:solidFill>
              </a:rPr>
              <a:t>(Spears &amp; Singh, 2004)</a:t>
            </a:r>
            <a:endParaRPr lang="en-US" sz="1400" dirty="0"/>
          </a:p>
          <a:p>
            <a:pPr marL="228600" indent="-228600">
              <a:spcAft>
                <a:spcPts val="1000"/>
              </a:spcAft>
              <a:buSzPct val="100000"/>
              <a:buChar char="■"/>
            </a:pPr>
            <a:r>
              <a:rPr lang="en-US" sz="1400" dirty="0">
                <a:solidFill>
                  <a:schemeClr val="tx1"/>
                </a:solidFill>
              </a:rPr>
              <a:t>Intention is the most immediate predictor of behaviour. </a:t>
            </a:r>
            <a:r>
              <a:rPr lang="en-US" sz="1400" dirty="0">
                <a:solidFill>
                  <a:schemeClr val="accent4"/>
                </a:solidFill>
              </a:rPr>
              <a:t>(Ajzen, 1991)</a:t>
            </a:r>
            <a:endParaRPr lang="en-US" sz="1400" dirty="0"/>
          </a:p>
          <a:p>
            <a:pPr marL="228600" indent="-228600">
              <a:spcAft>
                <a:spcPts val="1000"/>
              </a:spcAft>
              <a:buSzPct val="100000"/>
              <a:buChar char="■"/>
            </a:pPr>
            <a:r>
              <a:rPr lang="en-US" sz="1400" dirty="0">
                <a:solidFill>
                  <a:schemeClr val="tx1"/>
                </a:solidFill>
              </a:rPr>
              <a:t>Influencer trustworthiness and credibility predict buying intentions among Indian consumers. </a:t>
            </a:r>
            <a:r>
              <a:rPr lang="en-US" sz="1400" dirty="0">
                <a:solidFill>
                  <a:schemeClr val="accent4"/>
                </a:solidFill>
              </a:rPr>
              <a:t>(Saima &amp; Khan, 2021; Trivedi &amp; Sama, 2020)</a:t>
            </a:r>
            <a:endParaRPr lang="en-US" sz="1400" dirty="0"/>
          </a:p>
          <a:p>
            <a:pPr marL="228600" indent="-228600">
              <a:spcAft>
                <a:spcPts val="1000"/>
              </a:spcAft>
              <a:buSzPct val="100000"/>
              <a:buChar char="■"/>
            </a:pPr>
            <a:r>
              <a:rPr lang="en-US" sz="1400" dirty="0">
                <a:solidFill>
                  <a:schemeClr val="tx1"/>
                </a:solidFill>
              </a:rPr>
              <a:t>For virtual influencers the link is positive in some studies, weak or indirect in others, and product-dependent. </a:t>
            </a:r>
            <a:r>
              <a:rPr lang="en-US" sz="1400" dirty="0">
                <a:solidFill>
                  <a:schemeClr val="accent4"/>
                </a:solidFill>
              </a:rPr>
              <a:t>(Gerlich, 2023; Lou et al., 2023; Zhou et al., 2024)</a:t>
            </a:r>
            <a:endParaRPr lang="en-US" sz="1400" dirty="0"/>
          </a:p>
        </p:txBody>
      </p:sp>
      <p:sp>
        <p:nvSpPr>
          <p:cNvPr id="8" name="Generation Z card"/>
          <p:cNvSpPr/>
          <p:nvPr/>
        </p:nvSpPr>
        <p:spPr>
          <a:xfrm>
            <a:off x="6227064" y="1600200"/>
            <a:ext cx="5413248" cy="4709160"/>
          </a:xfrm>
          <a:prstGeom prst="rect">
            <a:avLst/>
          </a:prstGeom>
          <a:solidFill>
            <a:schemeClr val="bg2"/>
          </a:solidFill>
          <a:ln w="12700">
            <a:solidFill>
              <a:schemeClr val="bg2"/>
            </a:solidFill>
            <a:prstDash val="solid"/>
          </a:ln>
        </p:spPr>
      </p:sp>
      <p:sp>
        <p:nvSpPr>
          <p:cNvPr id="9" name="Generation Z circle"/>
          <p:cNvSpPr/>
          <p:nvPr/>
        </p:nvSpPr>
        <p:spPr>
          <a:xfrm>
            <a:off x="6455664" y="1783080"/>
            <a:ext cx="640080" cy="640080"/>
          </a:xfrm>
          <a:prstGeom prst="ellipse">
            <a:avLst/>
          </a:prstGeom>
          <a:solidFill>
            <a:schemeClr val="accent4"/>
          </a:solidFill>
          <a:ln w="12700">
            <a:solidFill>
              <a:schemeClr val="accent4"/>
            </a:solidFill>
            <a:prstDash val="solid"/>
          </a:ln>
        </p:spPr>
      </p:sp>
      <p:pic>
        <p:nvPicPr>
          <p:cNvPr id="10" name="Generation Z icon" descr="preencoded.png">    </p:cNvPr>
          <p:cNvPicPr>
            <a:picLocks noChangeAspect="1"/>
          </p:cNvPicPr>
          <p:nvPr/>
        </p:nvPicPr>
        <p:blipFill>
          <a:blip r:embed="rId2"/>
          <a:stretch>
            <a:fillRect/>
          </a:stretch>
        </p:blipFill>
        <p:spPr>
          <a:xfrm>
            <a:off x="6615684" y="1943100"/>
            <a:ext cx="320040" cy="320040"/>
          </a:xfrm>
          <a:prstGeom prst="rect">
            <a:avLst/>
          </a:prstGeom>
        </p:spPr>
      </p:pic>
      <p:sp>
        <p:nvSpPr>
          <p:cNvPr id="11" name="Text 7"/>
          <p:cNvSpPr txBox="1"/>
          <p:nvPr/>
        </p:nvSpPr>
        <p:spPr>
          <a:xfrm>
            <a:off x="7232904" y="1783080"/>
            <a:ext cx="4206240" cy="640080"/>
          </a:xfrm>
          <a:prstGeom prst="rect">
            <a:avLst/>
          </a:prstGeom>
          <a:noFill/>
          <a:ln/>
        </p:spPr>
        <p:txBody>
          <a:bodyPr wrap="square" lIns="0" tIns="0" rIns="0" bIns="0" rtlCol="0" anchor="ctr"/>
          <a:lstStyle/>
          <a:p>
            <a:pPr indent="0" marL="0">
              <a:buNone/>
            </a:pPr>
            <a:r>
              <a:rPr lang="en-US" sz="1800" b="1" dirty="0">
                <a:solidFill>
                  <a:schemeClr val="tx1"/>
                </a:solidFill>
              </a:rPr>
              <a:t>Generation Z</a:t>
            </a:r>
            <a:endParaRPr lang="en-US" sz="1800" dirty="0"/>
          </a:p>
          <a:p>
            <a:pPr indent="0" marL="0">
              <a:buNone/>
            </a:pPr>
            <a:r>
              <a:rPr lang="en-US" sz="1200" dirty="0">
                <a:solidFill>
                  <a:schemeClr val="accent4"/>
                </a:solidFill>
              </a:rPr>
              <a:t>Target population</a:t>
            </a:r>
            <a:endParaRPr lang="en-US" sz="1800" dirty="0"/>
          </a:p>
        </p:txBody>
      </p:sp>
      <p:sp>
        <p:nvSpPr>
          <p:cNvPr id="12" name="Text 8"/>
          <p:cNvSpPr txBox="1"/>
          <p:nvPr/>
        </p:nvSpPr>
        <p:spPr>
          <a:xfrm>
            <a:off x="6409944" y="2606040"/>
            <a:ext cx="5074920" cy="3611880"/>
          </a:xfrm>
          <a:prstGeom prst="rect">
            <a:avLst/>
          </a:prstGeom>
          <a:noFill/>
          <a:ln/>
        </p:spPr>
        <p:txBody>
          <a:bodyPr wrap="square" lIns="25400" tIns="50800" rIns="50800" bIns="25400" rtlCol="0" anchor="t"/>
          <a:lstStyle/>
          <a:p>
            <a:pPr marL="228600" indent="-228600">
              <a:spcAft>
                <a:spcPts val="1000"/>
              </a:spcAft>
              <a:buSzPct val="100000"/>
              <a:buChar char="■"/>
            </a:pPr>
            <a:r>
              <a:rPr lang="en-US" sz="1400" dirty="0">
                <a:solidFill>
                  <a:schemeClr val="tx1"/>
                </a:solidFill>
              </a:rPr>
              <a:t>Gen Z spend much of their time on visual platforms; Instagram content often prompts their purchases. </a:t>
            </a:r>
            <a:r>
              <a:rPr lang="en-US" sz="1400" dirty="0">
                <a:solidFill>
                  <a:schemeClr val="accent4"/>
                </a:solidFill>
              </a:rPr>
              <a:t>(Djafarova &amp; Bowes, 2021)</a:t>
            </a:r>
            <a:endParaRPr lang="en-US" sz="1400" dirty="0"/>
          </a:p>
          <a:p>
            <a:pPr marL="228600" indent="-228600">
              <a:spcAft>
                <a:spcPts val="1000"/>
              </a:spcAft>
              <a:buSzPct val="100000"/>
              <a:buChar char="■"/>
            </a:pPr>
            <a:r>
              <a:rPr lang="en-US" sz="1400" dirty="0">
                <a:solidFill>
                  <a:schemeClr val="tx1"/>
                </a:solidFill>
              </a:rPr>
              <a:t>Virtual influencers are positioned specifically at young consumers. </a:t>
            </a:r>
            <a:r>
              <a:rPr lang="en-US" sz="1400" dirty="0">
                <a:solidFill>
                  <a:schemeClr val="accent4"/>
                </a:solidFill>
              </a:rPr>
              <a:t>(Jhawar et al., 2023)</a:t>
            </a:r>
            <a:endParaRPr lang="en-US" sz="1400" dirty="0"/>
          </a:p>
          <a:p>
            <a:pPr marL="228600" indent="-228600">
              <a:spcAft>
                <a:spcPts val="1000"/>
              </a:spcAft>
              <a:buSzPct val="100000"/>
              <a:buChar char="■"/>
            </a:pPr>
            <a:r>
              <a:rPr lang="en-US" sz="1400" dirty="0">
                <a:solidFill>
                  <a:schemeClr val="tx1"/>
                </a:solidFill>
              </a:rPr>
              <a:t>Anthropomorphism and social presence shape Gen Z trust in virtual humans. </a:t>
            </a:r>
            <a:r>
              <a:rPr lang="en-US" sz="1400" dirty="0">
                <a:solidFill>
                  <a:schemeClr val="accent4"/>
                </a:solidFill>
              </a:rPr>
              <a:t>(Lonsdale et al., 2025)</a:t>
            </a:r>
            <a:endParaRPr lang="en-US" sz="1400" dirty="0"/>
          </a:p>
          <a:p>
            <a:pPr marL="228600" indent="-228600">
              <a:spcAft>
                <a:spcPts val="1000"/>
              </a:spcAft>
              <a:buSzPct val="100000"/>
              <a:buChar char="■"/>
            </a:pPr>
            <a:r>
              <a:rPr lang="en-US" sz="1400" dirty="0">
                <a:solidFill>
                  <a:schemeClr val="tx1"/>
                </a:solidFill>
              </a:rPr>
              <a:t>Indian evidence is thin and mixed, and leading experiments use US participants. </a:t>
            </a:r>
            <a:r>
              <a:rPr lang="en-US" sz="1400" dirty="0">
                <a:solidFill>
                  <a:schemeClr val="accent4"/>
                </a:solidFill>
              </a:rPr>
              <a:t>(Jha et al., 2025; George et al., 2026; Cascio Rizzo et al., 2026)</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title" hasCustomPrompt="1"/>
          </p:nvPr>
        </p:nvSpPr>
        <p:spPr>
          <a:xfrm>
            <a:off x="548640" y="749808"/>
            <a:ext cx="11091672" cy="658368"/>
          </a:xfrm>
          <a:prstGeom prst="rect">
            <a:avLst/>
          </a:prstGeom>
          <a:noFill/>
          <a:ln/>
        </p:spPr>
        <p:txBody>
          <a:bodyPr wrap="square" lIns="0" tIns="0" rIns="0" bIns="0" rtlCol="0" anchor="ctr"/>
          <a:lstStyle/>
          <a:p>
            <a:pPr algn="l" indent="0" marL="0">
              <a:buNone/>
            </a:pPr>
            <a:r>
              <a:rPr lang="en-US" sz="2600" b="1" dirty="0">
                <a:solidFill>
                  <a:schemeClr val="tx1"/>
                </a:solidFill>
              </a:rPr>
              <a:t>RESEARCH GAP</a:t>
            </a:r>
            <a:endParaRPr lang="en-US" sz="2600" dirty="0"/>
          </a:p>
        </p:txBody>
      </p:sp>
      <p:sp>
        <p:nvSpPr>
          <p:cNvPr id="3" name="Gap 1"/>
          <p:cNvSpPr/>
          <p:nvPr/>
        </p:nvSpPr>
        <p:spPr>
          <a:xfrm>
            <a:off x="548640" y="1645920"/>
            <a:ext cx="11091672" cy="777240"/>
          </a:xfrm>
          <a:prstGeom prst="rect">
            <a:avLst/>
          </a:prstGeom>
          <a:solidFill>
            <a:schemeClr val="bg2"/>
          </a:solidFill>
          <a:ln w="12700">
            <a:solidFill>
              <a:schemeClr val="bg2"/>
            </a:solidFill>
            <a:prstDash val="solid"/>
          </a:ln>
        </p:spPr>
      </p:sp>
      <p:sp>
        <p:nvSpPr>
          <p:cNvPr id="4" name="Gap number 1"/>
          <p:cNvSpPr/>
          <p:nvPr/>
        </p:nvSpPr>
        <p:spPr>
          <a:xfrm>
            <a:off x="713232" y="1773936"/>
            <a:ext cx="521208" cy="521208"/>
          </a:xfrm>
          <a:prstGeom prst="ellipse">
            <a:avLst/>
          </a:prstGeom>
          <a:solidFill>
            <a:schemeClr val="accent1"/>
          </a:solidFill>
          <a:ln w="12700">
            <a:solidFill>
              <a:schemeClr val="accent1"/>
            </a:solidFill>
            <a:prstDash val="solid"/>
          </a:ln>
        </p:spPr>
      </p:sp>
      <p:sp>
        <p:nvSpPr>
          <p:cNvPr id="5" name="Text 3"/>
          <p:cNvSpPr txBox="1"/>
          <p:nvPr/>
        </p:nvSpPr>
        <p:spPr>
          <a:xfrm>
            <a:off x="713232" y="1773936"/>
            <a:ext cx="521208" cy="521208"/>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463040" y="1645920"/>
            <a:ext cx="10012680" cy="777240"/>
          </a:xfrm>
          <a:prstGeom prst="rect">
            <a:avLst/>
          </a:prstGeom>
          <a:noFill/>
          <a:ln/>
        </p:spPr>
        <p:txBody>
          <a:bodyPr wrap="square" lIns="0" tIns="0" rIns="0" bIns="0" rtlCol="0" anchor="ctr"/>
          <a:lstStyle/>
          <a:p>
            <a:pPr indent="0" marL="0">
              <a:buNone/>
            </a:pPr>
            <a:r>
              <a:rPr lang="en-US" sz="1600" dirty="0">
                <a:solidFill>
                  <a:schemeClr val="tx1"/>
                </a:solidFill>
              </a:rPr>
              <a:t>The four perceptions have mostly been studied in isolation or in separate pairs.</a:t>
            </a:r>
            <a:endParaRPr lang="en-US" sz="1600" dirty="0"/>
          </a:p>
        </p:txBody>
      </p:sp>
      <p:sp>
        <p:nvSpPr>
          <p:cNvPr id="7" name="Gap 2"/>
          <p:cNvSpPr/>
          <p:nvPr/>
        </p:nvSpPr>
        <p:spPr>
          <a:xfrm>
            <a:off x="548640" y="2578608"/>
            <a:ext cx="11091672" cy="777240"/>
          </a:xfrm>
          <a:prstGeom prst="rect">
            <a:avLst/>
          </a:prstGeom>
          <a:solidFill>
            <a:schemeClr val="bg2"/>
          </a:solidFill>
          <a:ln w="12700">
            <a:solidFill>
              <a:schemeClr val="bg2"/>
            </a:solidFill>
            <a:prstDash val="solid"/>
          </a:ln>
        </p:spPr>
      </p:sp>
      <p:sp>
        <p:nvSpPr>
          <p:cNvPr id="8" name="Gap number 2"/>
          <p:cNvSpPr/>
          <p:nvPr/>
        </p:nvSpPr>
        <p:spPr>
          <a:xfrm>
            <a:off x="713232" y="2706624"/>
            <a:ext cx="521208" cy="521208"/>
          </a:xfrm>
          <a:prstGeom prst="ellipse">
            <a:avLst/>
          </a:prstGeom>
          <a:solidFill>
            <a:schemeClr val="accent4"/>
          </a:solidFill>
          <a:ln w="12700">
            <a:solidFill>
              <a:schemeClr val="accent4"/>
            </a:solidFill>
            <a:prstDash val="solid"/>
          </a:ln>
        </p:spPr>
      </p:sp>
      <p:sp>
        <p:nvSpPr>
          <p:cNvPr id="9" name="Text 7"/>
          <p:cNvSpPr txBox="1"/>
          <p:nvPr/>
        </p:nvSpPr>
        <p:spPr>
          <a:xfrm>
            <a:off x="713232" y="2706624"/>
            <a:ext cx="521208" cy="521208"/>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463040" y="2578608"/>
            <a:ext cx="10012680" cy="777240"/>
          </a:xfrm>
          <a:prstGeom prst="rect">
            <a:avLst/>
          </a:prstGeom>
          <a:noFill/>
          <a:ln/>
        </p:spPr>
        <p:txBody>
          <a:bodyPr wrap="square" lIns="0" tIns="0" rIns="0" bIns="0" rtlCol="0" anchor="ctr"/>
          <a:lstStyle/>
          <a:p>
            <a:pPr indent="0" marL="0">
              <a:buNone/>
            </a:pPr>
            <a:r>
              <a:rPr lang="en-US" sz="1600" dirty="0">
                <a:solidFill>
                  <a:schemeClr val="tx1"/>
                </a:solidFill>
              </a:rPr>
              <a:t>The claim that anthropomorphism, rather than authenticity, drives trust in virtual influencers has not been tested directly.</a:t>
            </a:r>
            <a:endParaRPr lang="en-US" sz="1600" dirty="0"/>
          </a:p>
        </p:txBody>
      </p:sp>
      <p:sp>
        <p:nvSpPr>
          <p:cNvPr id="11" name="Gap 3"/>
          <p:cNvSpPr/>
          <p:nvPr/>
        </p:nvSpPr>
        <p:spPr>
          <a:xfrm>
            <a:off x="548640" y="3511296"/>
            <a:ext cx="11091672" cy="777240"/>
          </a:xfrm>
          <a:prstGeom prst="rect">
            <a:avLst/>
          </a:prstGeom>
          <a:solidFill>
            <a:schemeClr val="bg2"/>
          </a:solidFill>
          <a:ln w="12700">
            <a:solidFill>
              <a:schemeClr val="bg2"/>
            </a:solidFill>
            <a:prstDash val="solid"/>
          </a:ln>
        </p:spPr>
      </p:sp>
      <p:sp>
        <p:nvSpPr>
          <p:cNvPr id="12" name="Gap number 3"/>
          <p:cNvSpPr/>
          <p:nvPr/>
        </p:nvSpPr>
        <p:spPr>
          <a:xfrm>
            <a:off x="713232" y="3639312"/>
            <a:ext cx="521208" cy="521208"/>
          </a:xfrm>
          <a:prstGeom prst="ellipse">
            <a:avLst/>
          </a:prstGeom>
          <a:solidFill>
            <a:schemeClr val="accent1"/>
          </a:solidFill>
          <a:ln w="12700">
            <a:solidFill>
              <a:schemeClr val="accent1"/>
            </a:solidFill>
            <a:prstDash val="solid"/>
          </a:ln>
        </p:spPr>
      </p:sp>
      <p:sp>
        <p:nvSpPr>
          <p:cNvPr id="13" name="Text 11"/>
          <p:cNvSpPr txBox="1"/>
          <p:nvPr/>
        </p:nvSpPr>
        <p:spPr>
          <a:xfrm>
            <a:off x="713232" y="3639312"/>
            <a:ext cx="521208" cy="521208"/>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1463040" y="3511296"/>
            <a:ext cx="10012680" cy="777240"/>
          </a:xfrm>
          <a:prstGeom prst="rect">
            <a:avLst/>
          </a:prstGeom>
          <a:noFill/>
          <a:ln/>
        </p:spPr>
        <p:txBody>
          <a:bodyPr wrap="square" lIns="0" tIns="0" rIns="0" bIns="0" rtlCol="0" anchor="ctr"/>
          <a:lstStyle/>
          <a:p>
            <a:pPr indent="0" marL="0">
              <a:buNone/>
            </a:pPr>
            <a:r>
              <a:rPr lang="en-US" sz="1600" dirty="0">
                <a:solidFill>
                  <a:schemeClr val="tx1"/>
                </a:solidFill>
              </a:rPr>
              <a:t>Homophily has rarely been examined alongside anthropomorphism and authenticity, and evidence on attractiveness is inconsistent.</a:t>
            </a:r>
            <a:endParaRPr lang="en-US" sz="1600" dirty="0"/>
          </a:p>
        </p:txBody>
      </p:sp>
      <p:sp>
        <p:nvSpPr>
          <p:cNvPr id="15" name="Gap 4"/>
          <p:cNvSpPr/>
          <p:nvPr/>
        </p:nvSpPr>
        <p:spPr>
          <a:xfrm>
            <a:off x="548640" y="4443984"/>
            <a:ext cx="11091672" cy="777240"/>
          </a:xfrm>
          <a:prstGeom prst="rect">
            <a:avLst/>
          </a:prstGeom>
          <a:solidFill>
            <a:schemeClr val="bg2"/>
          </a:solidFill>
          <a:ln w="12700">
            <a:solidFill>
              <a:schemeClr val="bg2"/>
            </a:solidFill>
            <a:prstDash val="solid"/>
          </a:ln>
        </p:spPr>
      </p:sp>
      <p:sp>
        <p:nvSpPr>
          <p:cNvPr id="16" name="Gap number 4"/>
          <p:cNvSpPr/>
          <p:nvPr/>
        </p:nvSpPr>
        <p:spPr>
          <a:xfrm>
            <a:off x="713232" y="4572000"/>
            <a:ext cx="521208" cy="521208"/>
          </a:xfrm>
          <a:prstGeom prst="ellipse">
            <a:avLst/>
          </a:prstGeom>
          <a:solidFill>
            <a:schemeClr val="accent4"/>
          </a:solidFill>
          <a:ln w="12700">
            <a:solidFill>
              <a:schemeClr val="accent4"/>
            </a:solidFill>
            <a:prstDash val="solid"/>
          </a:ln>
        </p:spPr>
      </p:sp>
      <p:sp>
        <p:nvSpPr>
          <p:cNvPr id="17" name="Text 15"/>
          <p:cNvSpPr txBox="1"/>
          <p:nvPr/>
        </p:nvSpPr>
        <p:spPr>
          <a:xfrm>
            <a:off x="713232" y="4572000"/>
            <a:ext cx="521208" cy="521208"/>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 16"/>
          <p:cNvSpPr txBox="1"/>
          <p:nvPr/>
        </p:nvSpPr>
        <p:spPr>
          <a:xfrm>
            <a:off x="1463040" y="4443984"/>
            <a:ext cx="10012680" cy="777240"/>
          </a:xfrm>
          <a:prstGeom prst="rect">
            <a:avLst/>
          </a:prstGeom>
          <a:noFill/>
          <a:ln/>
        </p:spPr>
        <p:txBody>
          <a:bodyPr wrap="square" lIns="0" tIns="0" rIns="0" bIns="0" rtlCol="0" anchor="ctr"/>
          <a:lstStyle/>
          <a:p>
            <a:pPr indent="0" marL="0">
              <a:buNone/>
            </a:pPr>
            <a:r>
              <a:rPr lang="en-US" sz="1600" dirty="0">
                <a:solidFill>
                  <a:schemeClr val="tx1"/>
                </a:solidFill>
              </a:rPr>
              <a:t>Few studies examine trust as the common route linking all four perceptions to purchase intention.</a:t>
            </a:r>
            <a:endParaRPr lang="en-US" sz="1600" dirty="0"/>
          </a:p>
        </p:txBody>
      </p:sp>
      <p:sp>
        <p:nvSpPr>
          <p:cNvPr id="19" name="Gap 5"/>
          <p:cNvSpPr/>
          <p:nvPr/>
        </p:nvSpPr>
        <p:spPr>
          <a:xfrm>
            <a:off x="548640" y="5376672"/>
            <a:ext cx="11091672" cy="777240"/>
          </a:xfrm>
          <a:prstGeom prst="rect">
            <a:avLst/>
          </a:prstGeom>
          <a:solidFill>
            <a:schemeClr val="bg2"/>
          </a:solidFill>
          <a:ln w="12700">
            <a:solidFill>
              <a:schemeClr val="bg2"/>
            </a:solidFill>
            <a:prstDash val="solid"/>
          </a:ln>
        </p:spPr>
      </p:sp>
      <p:sp>
        <p:nvSpPr>
          <p:cNvPr id="20" name="Gap number 5"/>
          <p:cNvSpPr/>
          <p:nvPr/>
        </p:nvSpPr>
        <p:spPr>
          <a:xfrm>
            <a:off x="713232" y="5504688"/>
            <a:ext cx="521208" cy="521208"/>
          </a:xfrm>
          <a:prstGeom prst="ellipse">
            <a:avLst/>
          </a:prstGeom>
          <a:solidFill>
            <a:schemeClr val="accent1"/>
          </a:solidFill>
          <a:ln w="12700">
            <a:solidFill>
              <a:schemeClr val="accent1"/>
            </a:solidFill>
            <a:prstDash val="solid"/>
          </a:ln>
        </p:spPr>
      </p:sp>
      <p:sp>
        <p:nvSpPr>
          <p:cNvPr id="21" name="Text 19"/>
          <p:cNvSpPr txBox="1"/>
          <p:nvPr/>
        </p:nvSpPr>
        <p:spPr>
          <a:xfrm>
            <a:off x="713232" y="5504688"/>
            <a:ext cx="521208" cy="521208"/>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2" name="Text 20"/>
          <p:cNvSpPr txBox="1"/>
          <p:nvPr/>
        </p:nvSpPr>
        <p:spPr>
          <a:xfrm>
            <a:off x="1463040" y="5376672"/>
            <a:ext cx="10012680" cy="777240"/>
          </a:xfrm>
          <a:prstGeom prst="rect">
            <a:avLst/>
          </a:prstGeom>
          <a:noFill/>
          <a:ln/>
        </p:spPr>
        <p:txBody>
          <a:bodyPr wrap="square" lIns="0" tIns="0" rIns="0" bIns="0" rtlCol="0" anchor="ctr"/>
          <a:lstStyle/>
          <a:p>
            <a:pPr indent="0" marL="0">
              <a:buNone/>
            </a:pPr>
            <a:r>
              <a:rPr lang="en-US" sz="1600" dirty="0">
                <a:solidFill>
                  <a:schemeClr val="tx1"/>
                </a:solidFill>
              </a:rPr>
              <a:t>Evidence from Indian Gen Z consumers is limited and contradictory.</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title" hasCustomPrompt="1"/>
          </p:nvPr>
        </p:nvSpPr>
        <p:spPr>
          <a:xfrm>
            <a:off x="548640" y="749808"/>
            <a:ext cx="11091672" cy="658368"/>
          </a:xfrm>
          <a:prstGeom prst="rect">
            <a:avLst/>
          </a:prstGeom>
          <a:noFill/>
          <a:ln/>
        </p:spPr>
        <p:txBody>
          <a:bodyPr wrap="square" lIns="0" tIns="0" rIns="0" bIns="0" rtlCol="0" anchor="ctr"/>
          <a:lstStyle/>
          <a:p>
            <a:pPr algn="l" indent="0" marL="0">
              <a:buNone/>
            </a:pPr>
            <a:r>
              <a:rPr lang="en-US" sz="2600" b="1" dirty="0">
                <a:solidFill>
                  <a:schemeClr val="tx1"/>
                </a:solidFill>
              </a:rPr>
              <a:t>OBJECTIVES</a:t>
            </a:r>
            <a:endParaRPr lang="en-US" sz="2600" dirty="0"/>
          </a:p>
        </p:txBody>
      </p:sp>
      <p:sp>
        <p:nvSpPr>
          <p:cNvPr id="3" name="Target circle"/>
          <p:cNvSpPr/>
          <p:nvPr/>
        </p:nvSpPr>
        <p:spPr>
          <a:xfrm>
            <a:off x="960120" y="2240280"/>
            <a:ext cx="1828800" cy="1828800"/>
          </a:xfrm>
          <a:prstGeom prst="ellipse">
            <a:avLst/>
          </a:prstGeom>
          <a:solidFill>
            <a:schemeClr val="accent1"/>
          </a:solidFill>
          <a:ln w="12700">
            <a:solidFill>
              <a:schemeClr val="accent1"/>
            </a:solidFill>
            <a:prstDash val="solid"/>
          </a:ln>
        </p:spPr>
      </p:sp>
      <p:pic>
        <p:nvPicPr>
          <p:cNvPr id="4" name="Target icon" descr="preencoded.png">    </p:cNvPr>
          <p:cNvPicPr>
            <a:picLocks noChangeAspect="1"/>
          </p:cNvPicPr>
          <p:nvPr/>
        </p:nvPicPr>
        <p:blipFill>
          <a:blip r:embed="rId1"/>
          <a:stretch>
            <a:fillRect/>
          </a:stretch>
        </p:blipFill>
        <p:spPr>
          <a:xfrm>
            <a:off x="1417320" y="2697480"/>
            <a:ext cx="914400" cy="914400"/>
          </a:xfrm>
          <a:prstGeom prst="rect">
            <a:avLst/>
          </a:prstGeom>
        </p:spPr>
      </p:pic>
      <p:sp>
        <p:nvSpPr>
          <p:cNvPr id="5" name="Objectives box"/>
          <p:cNvSpPr/>
          <p:nvPr/>
        </p:nvSpPr>
        <p:spPr>
          <a:xfrm>
            <a:off x="3246120" y="1600200"/>
            <a:ext cx="8394192" cy="4206240"/>
          </a:xfrm>
          <a:prstGeom prst="rect">
            <a:avLst/>
          </a:prstGeom>
          <a:solidFill>
            <a:schemeClr val="bg2"/>
          </a:solidFill>
          <a:ln w="12700">
            <a:solidFill>
              <a:schemeClr val="bg2"/>
            </a:solidFill>
            <a:prstDash val="solid"/>
          </a:ln>
        </p:spPr>
      </p:sp>
      <p:sp>
        <p:nvSpPr>
          <p:cNvPr id="6" name="Text 3"/>
          <p:cNvSpPr txBox="1"/>
          <p:nvPr/>
        </p:nvSpPr>
        <p:spPr>
          <a:xfrm>
            <a:off x="3520440" y="1783080"/>
            <a:ext cx="7909560" cy="3840480"/>
          </a:xfrm>
          <a:prstGeom prst="rect">
            <a:avLst/>
          </a:prstGeom>
          <a:noFill/>
          <a:ln/>
        </p:spPr>
        <p:txBody>
          <a:bodyPr wrap="square" rtlCol="0" anchor="ctr"/>
          <a:lstStyle/>
          <a:p>
            <a:pPr marL="228600" indent="-228600">
              <a:spcAft>
                <a:spcPts val="1600"/>
              </a:spcAft>
              <a:buSzPct val="100000"/>
              <a:buChar char="■"/>
            </a:pPr>
            <a:r>
              <a:rPr lang="en-US" sz="1800" dirty="0">
                <a:solidFill>
                  <a:schemeClr val="tx1"/>
                </a:solidFill>
              </a:rPr>
              <a:t>To examine the influence of perceived authenticity, perceived anthropomorphism, perceived homophily and perceived attractiveness of virtual influencers on Gen Z consumers' trust</a:t>
            </a:r>
            <a:endParaRPr lang="en-US" sz="1800" dirty="0"/>
          </a:p>
          <a:p>
            <a:pPr marL="228600" indent="-228600">
              <a:spcAft>
                <a:spcPts val="1600"/>
              </a:spcAft>
              <a:buSzPct val="100000"/>
              <a:buChar char="■"/>
            </a:pPr>
            <a:r>
              <a:rPr lang="en-US" sz="1800" dirty="0">
                <a:solidFill>
                  <a:schemeClr val="tx1"/>
                </a:solidFill>
              </a:rPr>
              <a:t>To examine the effect of trust in virtual influencers on the purchase intention of Gen Z consumers</a:t>
            </a:r>
            <a:endParaRPr lang="en-US" sz="1800" dirty="0"/>
          </a:p>
          <a:p>
            <a:pPr marL="228600" indent="-228600">
              <a:spcAft>
                <a:spcPts val="1600"/>
              </a:spcAft>
              <a:buSzPct val="100000"/>
              <a:buChar char="■"/>
            </a:pPr>
            <a:r>
              <a:rPr lang="en-US" sz="1800" dirty="0">
                <a:solidFill>
                  <a:schemeClr val="tx1"/>
                </a:solidFill>
              </a:rPr>
              <a:t>To analyse the mediating role of trust between consumer perceptions of virtual influencers and purchase intention</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3" type="title" hasCustomPrompt="1"/>
          </p:nvPr>
        </p:nvSpPr>
        <p:spPr>
          <a:xfrm>
            <a:off x="548640" y="749808"/>
            <a:ext cx="11091672" cy="658368"/>
          </a:xfrm>
          <a:prstGeom prst="rect">
            <a:avLst/>
          </a:prstGeom>
          <a:noFill/>
          <a:ln/>
        </p:spPr>
        <p:txBody>
          <a:bodyPr wrap="square" lIns="0" tIns="0" rIns="0" bIns="0" rtlCol="0" anchor="ctr"/>
          <a:lstStyle/>
          <a:p>
            <a:pPr algn="l" indent="0" marL="0">
              <a:buNone/>
            </a:pPr>
            <a:r>
              <a:rPr lang="en-US" sz="2600" b="1" dirty="0">
                <a:solidFill>
                  <a:schemeClr val="tx1"/>
                </a:solidFill>
              </a:rPr>
              <a:t>CONCEPTUAL FRAMEWORK</a:t>
            </a:r>
            <a:endParaRPr lang="en-US" sz="2600" dirty="0"/>
          </a:p>
        </p:txBody>
      </p:sp>
      <p:sp>
        <p:nvSpPr>
          <p:cNvPr id="3" name="Text 1"/>
          <p:cNvSpPr txBox="1"/>
          <p:nvPr/>
        </p:nvSpPr>
        <p:spPr>
          <a:xfrm>
            <a:off x="548640" y="1463040"/>
            <a:ext cx="3291840" cy="320040"/>
          </a:xfrm>
          <a:prstGeom prst="rect">
            <a:avLst/>
          </a:prstGeom>
          <a:noFill/>
          <a:ln/>
        </p:spPr>
        <p:txBody>
          <a:bodyPr wrap="square" lIns="0" tIns="0" rIns="0" bIns="0" rtlCol="0" anchor="ctr"/>
          <a:lstStyle/>
          <a:p>
            <a:pPr algn="ctr" indent="0" marL="0">
              <a:buNone/>
            </a:pPr>
            <a:r>
              <a:rPr lang="en-US" sz="1200" b="1" dirty="0">
                <a:solidFill>
                  <a:schemeClr val="accent3"/>
                </a:solidFill>
              </a:rPr>
              <a:t>STIMULUS · Independent variables</a:t>
            </a:r>
            <a:endParaRPr lang="en-US" sz="1200" dirty="0"/>
          </a:p>
        </p:txBody>
      </p:sp>
      <p:sp>
        <p:nvSpPr>
          <p:cNvPr id="4" name="Text 2"/>
          <p:cNvSpPr txBox="1"/>
          <p:nvPr/>
        </p:nvSpPr>
        <p:spPr>
          <a:xfrm>
            <a:off x="5486400" y="1463040"/>
            <a:ext cx="2377440" cy="320040"/>
          </a:xfrm>
          <a:prstGeom prst="rect">
            <a:avLst/>
          </a:prstGeom>
          <a:noFill/>
          <a:ln/>
        </p:spPr>
        <p:txBody>
          <a:bodyPr wrap="square" lIns="0" tIns="0" rIns="0" bIns="0" rtlCol="0" anchor="ctr"/>
          <a:lstStyle/>
          <a:p>
            <a:pPr algn="ctr" indent="0" marL="0">
              <a:buNone/>
            </a:pPr>
            <a:r>
              <a:rPr lang="en-US" sz="1200" b="1" dirty="0">
                <a:solidFill>
                  <a:schemeClr val="accent3"/>
                </a:solidFill>
              </a:rPr>
              <a:t>ORGANISM · Mediator</a:t>
            </a:r>
            <a:endParaRPr lang="en-US" sz="1200" dirty="0"/>
          </a:p>
        </p:txBody>
      </p:sp>
      <p:sp>
        <p:nvSpPr>
          <p:cNvPr id="5" name="Text 3"/>
          <p:cNvSpPr txBox="1"/>
          <p:nvPr/>
        </p:nvSpPr>
        <p:spPr>
          <a:xfrm>
            <a:off x="8915400" y="1463040"/>
            <a:ext cx="2743200" cy="320040"/>
          </a:xfrm>
          <a:prstGeom prst="rect">
            <a:avLst/>
          </a:prstGeom>
          <a:noFill/>
          <a:ln/>
        </p:spPr>
        <p:txBody>
          <a:bodyPr wrap="square" lIns="0" tIns="0" rIns="0" bIns="0" rtlCol="0" anchor="ctr"/>
          <a:lstStyle/>
          <a:p>
            <a:pPr algn="ctr" indent="0" marL="0">
              <a:buNone/>
            </a:pPr>
            <a:r>
              <a:rPr lang="en-US" sz="1200" b="1" dirty="0">
                <a:solidFill>
                  <a:schemeClr val="accent3"/>
                </a:solidFill>
              </a:rPr>
              <a:t>RESPONSE · Dependent variable</a:t>
            </a:r>
            <a:endParaRPr lang="en-US" sz="1200" dirty="0"/>
          </a:p>
        </p:txBody>
      </p:sp>
      <p:sp>
        <p:nvSpPr>
          <p:cNvPr id="6" name="Perceived Authenticity box"/>
          <p:cNvSpPr/>
          <p:nvPr/>
        </p:nvSpPr>
        <p:spPr>
          <a:xfrm>
            <a:off x="548640" y="1920240"/>
            <a:ext cx="3291840" cy="777240"/>
          </a:xfrm>
          <a:prstGeom prst="roundRect">
            <a:avLst>
              <a:gd name="adj" fmla="val 11765"/>
            </a:avLst>
          </a:prstGeom>
          <a:solidFill>
            <a:schemeClr val="bg2"/>
          </a:solidFill>
          <a:ln w="15875">
            <a:solidFill>
              <a:schemeClr val="tx2"/>
            </a:solidFill>
            <a:prstDash val="solid"/>
          </a:ln>
        </p:spPr>
      </p:sp>
      <p:sp>
        <p:nvSpPr>
          <p:cNvPr id="7" name="Text 5"/>
          <p:cNvSpPr txBox="1"/>
          <p:nvPr/>
        </p:nvSpPr>
        <p:spPr>
          <a:xfrm>
            <a:off x="548640" y="1920240"/>
            <a:ext cx="3291840" cy="777240"/>
          </a:xfrm>
          <a:prstGeom prst="rect">
            <a:avLst/>
          </a:prstGeom>
          <a:noFill/>
          <a:ln/>
        </p:spPr>
        <p:txBody>
          <a:bodyPr wrap="square" rtlCol="0" anchor="ctr"/>
          <a:lstStyle/>
          <a:p>
            <a:pPr algn="ctr" indent="0" marL="0">
              <a:buNone/>
            </a:pPr>
            <a:r>
              <a:rPr lang="en-US" sz="1600" b="1" dirty="0">
                <a:solidFill>
                  <a:schemeClr val="tx2"/>
                </a:solidFill>
              </a:rPr>
              <a:t>Perceived Authenticity</a:t>
            </a:r>
            <a:endParaRPr lang="en-US" sz="1600" dirty="0"/>
          </a:p>
        </p:txBody>
      </p:sp>
      <p:sp>
        <p:nvSpPr>
          <p:cNvPr id="8" name="Arrow H1"/>
          <p:cNvSpPr/>
          <p:nvPr/>
        </p:nvSpPr>
        <p:spPr>
          <a:xfrm>
            <a:off x="3840480" y="2308860"/>
            <a:ext cx="1645920" cy="1485900"/>
          </a:xfrm>
          <a:prstGeom prst="line">
            <a:avLst/>
          </a:prstGeom>
          <a:noFill/>
          <a:ln w="25400">
            <a:solidFill>
              <a:schemeClr val="accent3"/>
            </a:solidFill>
            <a:prstDash val="solid"/>
            <a:tailEnd type="triangle"/>
          </a:ln>
        </p:spPr>
      </p:sp>
      <p:sp>
        <p:nvSpPr>
          <p:cNvPr id="9" name="Label H1"/>
          <p:cNvSpPr/>
          <p:nvPr/>
        </p:nvSpPr>
        <p:spPr>
          <a:xfrm>
            <a:off x="4416552" y="2896362"/>
            <a:ext cx="493776" cy="310896"/>
          </a:xfrm>
          <a:prstGeom prst="ellipse">
            <a:avLst/>
          </a:prstGeom>
          <a:solidFill>
            <a:schemeClr val="bg1"/>
          </a:solidFill>
          <a:ln w="12700">
            <a:solidFill>
              <a:schemeClr val="accent1"/>
            </a:solidFill>
            <a:prstDash val="solid"/>
          </a:ln>
        </p:spPr>
      </p:sp>
      <p:sp>
        <p:nvSpPr>
          <p:cNvPr id="10" name="Text 8"/>
          <p:cNvSpPr txBox="1"/>
          <p:nvPr/>
        </p:nvSpPr>
        <p:spPr>
          <a:xfrm>
            <a:off x="4416552" y="2896362"/>
            <a:ext cx="493776" cy="310896"/>
          </a:xfrm>
          <a:prstGeom prst="rect">
            <a:avLst/>
          </a:prstGeom>
          <a:noFill/>
          <a:ln/>
        </p:spPr>
        <p:txBody>
          <a:bodyPr wrap="square" lIns="0" tIns="0" rIns="0" bIns="0" rtlCol="0" anchor="ctr"/>
          <a:lstStyle/>
          <a:p>
            <a:pPr algn="ctr" indent="0" marL="0">
              <a:buNone/>
            </a:pPr>
            <a:r>
              <a:rPr lang="en-US" sz="1100" b="1" dirty="0">
                <a:solidFill>
                  <a:schemeClr val="accent4"/>
                </a:solidFill>
              </a:rPr>
              <a:t>H1</a:t>
            </a:r>
            <a:endParaRPr lang="en-US" sz="1100" dirty="0"/>
          </a:p>
        </p:txBody>
      </p:sp>
      <p:sp>
        <p:nvSpPr>
          <p:cNvPr id="11" name="Perceived Anthropomorphism box"/>
          <p:cNvSpPr/>
          <p:nvPr/>
        </p:nvSpPr>
        <p:spPr>
          <a:xfrm>
            <a:off x="548640" y="2999232"/>
            <a:ext cx="3291840" cy="777240"/>
          </a:xfrm>
          <a:prstGeom prst="roundRect">
            <a:avLst>
              <a:gd name="adj" fmla="val 11765"/>
            </a:avLst>
          </a:prstGeom>
          <a:solidFill>
            <a:schemeClr val="bg2"/>
          </a:solidFill>
          <a:ln w="15875">
            <a:solidFill>
              <a:schemeClr val="tx2"/>
            </a:solidFill>
            <a:prstDash val="solid"/>
          </a:ln>
        </p:spPr>
      </p:sp>
      <p:sp>
        <p:nvSpPr>
          <p:cNvPr id="12" name="Text 10"/>
          <p:cNvSpPr txBox="1"/>
          <p:nvPr/>
        </p:nvSpPr>
        <p:spPr>
          <a:xfrm>
            <a:off x="548640" y="2999232"/>
            <a:ext cx="3291840" cy="777240"/>
          </a:xfrm>
          <a:prstGeom prst="rect">
            <a:avLst/>
          </a:prstGeom>
          <a:noFill/>
          <a:ln/>
        </p:spPr>
        <p:txBody>
          <a:bodyPr wrap="square" rtlCol="0" anchor="ctr"/>
          <a:lstStyle/>
          <a:p>
            <a:pPr algn="ctr" indent="0" marL="0">
              <a:buNone/>
            </a:pPr>
            <a:r>
              <a:rPr lang="en-US" sz="1600" b="1" dirty="0">
                <a:solidFill>
                  <a:schemeClr val="tx2"/>
                </a:solidFill>
              </a:rPr>
              <a:t>Perceived Anthropomorphism</a:t>
            </a:r>
            <a:endParaRPr lang="en-US" sz="1600" dirty="0"/>
          </a:p>
        </p:txBody>
      </p:sp>
      <p:sp>
        <p:nvSpPr>
          <p:cNvPr id="13" name="Arrow H2"/>
          <p:cNvSpPr/>
          <p:nvPr/>
        </p:nvSpPr>
        <p:spPr>
          <a:xfrm>
            <a:off x="3840480" y="3387852"/>
            <a:ext cx="1645920" cy="406908"/>
          </a:xfrm>
          <a:prstGeom prst="line">
            <a:avLst/>
          </a:prstGeom>
          <a:noFill/>
          <a:ln w="25400">
            <a:solidFill>
              <a:schemeClr val="accent3"/>
            </a:solidFill>
            <a:prstDash val="solid"/>
            <a:tailEnd type="triangle"/>
          </a:ln>
        </p:spPr>
      </p:sp>
      <p:sp>
        <p:nvSpPr>
          <p:cNvPr id="14" name="Label H2"/>
          <p:cNvSpPr/>
          <p:nvPr/>
        </p:nvSpPr>
        <p:spPr>
          <a:xfrm>
            <a:off x="4416552" y="3435858"/>
            <a:ext cx="493776" cy="310896"/>
          </a:xfrm>
          <a:prstGeom prst="ellipse">
            <a:avLst/>
          </a:prstGeom>
          <a:solidFill>
            <a:schemeClr val="bg1"/>
          </a:solidFill>
          <a:ln w="12700">
            <a:solidFill>
              <a:schemeClr val="accent1"/>
            </a:solidFill>
            <a:prstDash val="solid"/>
          </a:ln>
        </p:spPr>
      </p:sp>
      <p:sp>
        <p:nvSpPr>
          <p:cNvPr id="15" name="Text 13"/>
          <p:cNvSpPr txBox="1"/>
          <p:nvPr/>
        </p:nvSpPr>
        <p:spPr>
          <a:xfrm>
            <a:off x="4416552" y="3435858"/>
            <a:ext cx="493776" cy="310896"/>
          </a:xfrm>
          <a:prstGeom prst="rect">
            <a:avLst/>
          </a:prstGeom>
          <a:noFill/>
          <a:ln/>
        </p:spPr>
        <p:txBody>
          <a:bodyPr wrap="square" lIns="0" tIns="0" rIns="0" bIns="0" rtlCol="0" anchor="ctr"/>
          <a:lstStyle/>
          <a:p>
            <a:pPr algn="ctr" indent="0" marL="0">
              <a:buNone/>
            </a:pPr>
            <a:r>
              <a:rPr lang="en-US" sz="1100" b="1" dirty="0">
                <a:solidFill>
                  <a:schemeClr val="accent4"/>
                </a:solidFill>
              </a:rPr>
              <a:t>H2</a:t>
            </a:r>
            <a:endParaRPr lang="en-US" sz="1100" dirty="0"/>
          </a:p>
        </p:txBody>
      </p:sp>
      <p:sp>
        <p:nvSpPr>
          <p:cNvPr id="16" name="Perceived Homophily box"/>
          <p:cNvSpPr/>
          <p:nvPr/>
        </p:nvSpPr>
        <p:spPr>
          <a:xfrm>
            <a:off x="548640" y="4078224"/>
            <a:ext cx="3291840" cy="777240"/>
          </a:xfrm>
          <a:prstGeom prst="roundRect">
            <a:avLst>
              <a:gd name="adj" fmla="val 11765"/>
            </a:avLst>
          </a:prstGeom>
          <a:solidFill>
            <a:schemeClr val="bg2"/>
          </a:solidFill>
          <a:ln w="15875">
            <a:solidFill>
              <a:schemeClr val="tx2"/>
            </a:solidFill>
            <a:prstDash val="solid"/>
          </a:ln>
        </p:spPr>
      </p:sp>
      <p:sp>
        <p:nvSpPr>
          <p:cNvPr id="17" name="Text 15"/>
          <p:cNvSpPr txBox="1"/>
          <p:nvPr/>
        </p:nvSpPr>
        <p:spPr>
          <a:xfrm>
            <a:off x="548640" y="4078224"/>
            <a:ext cx="3291840" cy="777240"/>
          </a:xfrm>
          <a:prstGeom prst="rect">
            <a:avLst/>
          </a:prstGeom>
          <a:noFill/>
          <a:ln/>
        </p:spPr>
        <p:txBody>
          <a:bodyPr wrap="square" rtlCol="0" anchor="ctr"/>
          <a:lstStyle/>
          <a:p>
            <a:pPr algn="ctr" indent="0" marL="0">
              <a:buNone/>
            </a:pPr>
            <a:r>
              <a:rPr lang="en-US" sz="1600" b="1" dirty="0">
                <a:solidFill>
                  <a:schemeClr val="tx2"/>
                </a:solidFill>
              </a:rPr>
              <a:t>Perceived Homophily</a:t>
            </a:r>
            <a:endParaRPr lang="en-US" sz="1600" dirty="0"/>
          </a:p>
        </p:txBody>
      </p:sp>
      <p:sp>
        <p:nvSpPr>
          <p:cNvPr id="18" name="Arrow H3"/>
          <p:cNvSpPr/>
          <p:nvPr/>
        </p:nvSpPr>
        <p:spPr>
          <a:xfrm flipV="1">
            <a:off x="3840480" y="3794760"/>
            <a:ext cx="1645920" cy="672084"/>
          </a:xfrm>
          <a:prstGeom prst="line">
            <a:avLst/>
          </a:prstGeom>
          <a:noFill/>
          <a:ln w="25400">
            <a:solidFill>
              <a:schemeClr val="accent3"/>
            </a:solidFill>
            <a:prstDash val="solid"/>
            <a:tailEnd type="triangle"/>
          </a:ln>
        </p:spPr>
      </p:sp>
      <p:sp>
        <p:nvSpPr>
          <p:cNvPr id="19" name="Label H3"/>
          <p:cNvSpPr/>
          <p:nvPr/>
        </p:nvSpPr>
        <p:spPr>
          <a:xfrm>
            <a:off x="4416552" y="3975354"/>
            <a:ext cx="493776" cy="310896"/>
          </a:xfrm>
          <a:prstGeom prst="ellipse">
            <a:avLst/>
          </a:prstGeom>
          <a:solidFill>
            <a:schemeClr val="bg1"/>
          </a:solidFill>
          <a:ln w="12700">
            <a:solidFill>
              <a:schemeClr val="accent1"/>
            </a:solidFill>
            <a:prstDash val="solid"/>
          </a:ln>
        </p:spPr>
      </p:sp>
      <p:sp>
        <p:nvSpPr>
          <p:cNvPr id="20" name="Text 18"/>
          <p:cNvSpPr txBox="1"/>
          <p:nvPr/>
        </p:nvSpPr>
        <p:spPr>
          <a:xfrm>
            <a:off x="4416552" y="3975354"/>
            <a:ext cx="493776" cy="310896"/>
          </a:xfrm>
          <a:prstGeom prst="rect">
            <a:avLst/>
          </a:prstGeom>
          <a:noFill/>
          <a:ln/>
        </p:spPr>
        <p:txBody>
          <a:bodyPr wrap="square" lIns="0" tIns="0" rIns="0" bIns="0" rtlCol="0" anchor="ctr"/>
          <a:lstStyle/>
          <a:p>
            <a:pPr algn="ctr" indent="0" marL="0">
              <a:buNone/>
            </a:pPr>
            <a:r>
              <a:rPr lang="en-US" sz="1100" b="1" dirty="0">
                <a:solidFill>
                  <a:schemeClr val="accent4"/>
                </a:solidFill>
              </a:rPr>
              <a:t>H3</a:t>
            </a:r>
            <a:endParaRPr lang="en-US" sz="1100" dirty="0"/>
          </a:p>
        </p:txBody>
      </p:sp>
      <p:sp>
        <p:nvSpPr>
          <p:cNvPr id="21" name="Perceived Attractiveness box"/>
          <p:cNvSpPr/>
          <p:nvPr/>
        </p:nvSpPr>
        <p:spPr>
          <a:xfrm>
            <a:off x="548640" y="5157216"/>
            <a:ext cx="3291840" cy="777240"/>
          </a:xfrm>
          <a:prstGeom prst="roundRect">
            <a:avLst>
              <a:gd name="adj" fmla="val 11765"/>
            </a:avLst>
          </a:prstGeom>
          <a:solidFill>
            <a:schemeClr val="bg2"/>
          </a:solidFill>
          <a:ln w="15875">
            <a:solidFill>
              <a:schemeClr val="tx2"/>
            </a:solidFill>
            <a:prstDash val="solid"/>
          </a:ln>
        </p:spPr>
      </p:sp>
      <p:sp>
        <p:nvSpPr>
          <p:cNvPr id="22" name="Text 20"/>
          <p:cNvSpPr txBox="1"/>
          <p:nvPr/>
        </p:nvSpPr>
        <p:spPr>
          <a:xfrm>
            <a:off x="548640" y="5157216"/>
            <a:ext cx="3291840" cy="777240"/>
          </a:xfrm>
          <a:prstGeom prst="rect">
            <a:avLst/>
          </a:prstGeom>
          <a:noFill/>
          <a:ln/>
        </p:spPr>
        <p:txBody>
          <a:bodyPr wrap="square" rtlCol="0" anchor="ctr"/>
          <a:lstStyle/>
          <a:p>
            <a:pPr algn="ctr" indent="0" marL="0">
              <a:buNone/>
            </a:pPr>
            <a:r>
              <a:rPr lang="en-US" sz="1600" b="1" dirty="0">
                <a:solidFill>
                  <a:schemeClr val="tx2"/>
                </a:solidFill>
              </a:rPr>
              <a:t>Perceived Attractiveness</a:t>
            </a:r>
            <a:endParaRPr lang="en-US" sz="1600" dirty="0"/>
          </a:p>
        </p:txBody>
      </p:sp>
      <p:sp>
        <p:nvSpPr>
          <p:cNvPr id="23" name="Arrow H4"/>
          <p:cNvSpPr/>
          <p:nvPr/>
        </p:nvSpPr>
        <p:spPr>
          <a:xfrm flipV="1">
            <a:off x="3840480" y="3794760"/>
            <a:ext cx="1645920" cy="1751076"/>
          </a:xfrm>
          <a:prstGeom prst="line">
            <a:avLst/>
          </a:prstGeom>
          <a:noFill/>
          <a:ln w="25400">
            <a:solidFill>
              <a:schemeClr val="accent3"/>
            </a:solidFill>
            <a:prstDash val="solid"/>
            <a:tailEnd type="triangle"/>
          </a:ln>
        </p:spPr>
      </p:sp>
      <p:sp>
        <p:nvSpPr>
          <p:cNvPr id="24" name="Label H4"/>
          <p:cNvSpPr/>
          <p:nvPr/>
        </p:nvSpPr>
        <p:spPr>
          <a:xfrm>
            <a:off x="4416552" y="4514850"/>
            <a:ext cx="493776" cy="310896"/>
          </a:xfrm>
          <a:prstGeom prst="ellipse">
            <a:avLst/>
          </a:prstGeom>
          <a:solidFill>
            <a:schemeClr val="bg1"/>
          </a:solidFill>
          <a:ln w="12700">
            <a:solidFill>
              <a:schemeClr val="accent1"/>
            </a:solidFill>
            <a:prstDash val="solid"/>
          </a:ln>
        </p:spPr>
      </p:sp>
      <p:sp>
        <p:nvSpPr>
          <p:cNvPr id="25" name="Text 23"/>
          <p:cNvSpPr txBox="1"/>
          <p:nvPr/>
        </p:nvSpPr>
        <p:spPr>
          <a:xfrm>
            <a:off x="4416552" y="4514850"/>
            <a:ext cx="493776" cy="310896"/>
          </a:xfrm>
          <a:prstGeom prst="rect">
            <a:avLst/>
          </a:prstGeom>
          <a:noFill/>
          <a:ln/>
        </p:spPr>
        <p:txBody>
          <a:bodyPr wrap="square" lIns="0" tIns="0" rIns="0" bIns="0" rtlCol="0" anchor="ctr"/>
          <a:lstStyle/>
          <a:p>
            <a:pPr algn="ctr" indent="0" marL="0">
              <a:buNone/>
            </a:pPr>
            <a:r>
              <a:rPr lang="en-US" sz="1100" b="1" dirty="0">
                <a:solidFill>
                  <a:schemeClr val="accent4"/>
                </a:solidFill>
              </a:rPr>
              <a:t>H4</a:t>
            </a:r>
            <a:endParaRPr lang="en-US" sz="1100" dirty="0"/>
          </a:p>
        </p:txBody>
      </p:sp>
      <p:sp>
        <p:nvSpPr>
          <p:cNvPr id="26" name="Trust box"/>
          <p:cNvSpPr/>
          <p:nvPr/>
        </p:nvSpPr>
        <p:spPr>
          <a:xfrm>
            <a:off x="5486400" y="3246120"/>
            <a:ext cx="2377440" cy="1097280"/>
          </a:xfrm>
          <a:prstGeom prst="roundRect">
            <a:avLst>
              <a:gd name="adj" fmla="val 10000"/>
            </a:avLst>
          </a:prstGeom>
          <a:solidFill>
            <a:schemeClr val="accent1"/>
          </a:solidFill>
          <a:ln w="12700">
            <a:solidFill>
              <a:schemeClr val="accent1"/>
            </a:solidFill>
            <a:prstDash val="solid"/>
          </a:ln>
        </p:spPr>
      </p:sp>
      <p:sp>
        <p:nvSpPr>
          <p:cNvPr id="27" name="Text 25"/>
          <p:cNvSpPr txBox="1"/>
          <p:nvPr/>
        </p:nvSpPr>
        <p:spPr>
          <a:xfrm>
            <a:off x="5486400" y="3246120"/>
            <a:ext cx="2377440" cy="1097280"/>
          </a:xfrm>
          <a:prstGeom prst="rect">
            <a:avLst/>
          </a:prstGeom>
          <a:noFill/>
          <a:ln/>
        </p:spPr>
        <p:txBody>
          <a:bodyPr wrap="square" rtlCol="0" anchor="ctr"/>
          <a:lstStyle/>
          <a:p>
            <a:pPr algn="ctr" indent="0" marL="0">
              <a:buNone/>
            </a:pPr>
            <a:r>
              <a:rPr lang="en-US" sz="2200" b="1" dirty="0">
                <a:solidFill>
                  <a:schemeClr val="bg1"/>
                </a:solidFill>
              </a:rPr>
              <a:t>TRUST</a:t>
            </a:r>
            <a:endParaRPr lang="en-US" sz="2200" dirty="0"/>
          </a:p>
        </p:txBody>
      </p:sp>
      <p:sp>
        <p:nvSpPr>
          <p:cNvPr id="28" name="Arrow H5"/>
          <p:cNvSpPr/>
          <p:nvPr/>
        </p:nvSpPr>
        <p:spPr>
          <a:xfrm>
            <a:off x="7863840" y="3794760"/>
            <a:ext cx="1051560" cy="0"/>
          </a:xfrm>
          <a:prstGeom prst="line">
            <a:avLst/>
          </a:prstGeom>
          <a:noFill/>
          <a:ln w="31750">
            <a:solidFill>
              <a:schemeClr val="accent3"/>
            </a:solidFill>
            <a:prstDash val="solid"/>
            <a:tailEnd type="triangle"/>
          </a:ln>
        </p:spPr>
      </p:sp>
      <p:sp>
        <p:nvSpPr>
          <p:cNvPr id="29" name="Text 27"/>
          <p:cNvSpPr txBox="1"/>
          <p:nvPr/>
        </p:nvSpPr>
        <p:spPr>
          <a:xfrm>
            <a:off x="8138160" y="3383280"/>
            <a:ext cx="548640" cy="320040"/>
          </a:xfrm>
          <a:prstGeom prst="rect">
            <a:avLst/>
          </a:prstGeom>
          <a:noFill/>
          <a:ln/>
        </p:spPr>
        <p:txBody>
          <a:bodyPr wrap="square" lIns="0" tIns="0" rIns="0" bIns="0" rtlCol="0" anchor="ctr"/>
          <a:lstStyle/>
          <a:p>
            <a:pPr algn="ctr" indent="0" marL="0">
              <a:buNone/>
            </a:pPr>
            <a:r>
              <a:rPr lang="en-US" sz="1100" b="1" dirty="0">
                <a:solidFill>
                  <a:schemeClr val="accent4"/>
                </a:solidFill>
              </a:rPr>
              <a:t>H5</a:t>
            </a:r>
            <a:endParaRPr lang="en-US" sz="1100" dirty="0"/>
          </a:p>
        </p:txBody>
      </p:sp>
      <p:sp>
        <p:nvSpPr>
          <p:cNvPr id="30" name="Purchase intention box"/>
          <p:cNvSpPr/>
          <p:nvPr/>
        </p:nvSpPr>
        <p:spPr>
          <a:xfrm>
            <a:off x="8915400" y="3246120"/>
            <a:ext cx="2743200" cy="1097280"/>
          </a:xfrm>
          <a:prstGeom prst="roundRect">
            <a:avLst>
              <a:gd name="adj" fmla="val 10000"/>
            </a:avLst>
          </a:prstGeom>
          <a:solidFill>
            <a:schemeClr val="accent4"/>
          </a:solidFill>
          <a:ln w="12700">
            <a:solidFill>
              <a:schemeClr val="accent4"/>
            </a:solidFill>
            <a:prstDash val="solid"/>
          </a:ln>
        </p:spPr>
      </p:sp>
      <p:sp>
        <p:nvSpPr>
          <p:cNvPr id="31" name="Text 29"/>
          <p:cNvSpPr txBox="1"/>
          <p:nvPr/>
        </p:nvSpPr>
        <p:spPr>
          <a:xfrm>
            <a:off x="8915400" y="3246120"/>
            <a:ext cx="2743200" cy="1097280"/>
          </a:xfrm>
          <a:prstGeom prst="rect">
            <a:avLst/>
          </a:prstGeom>
          <a:noFill/>
          <a:ln/>
        </p:spPr>
        <p:txBody>
          <a:bodyPr wrap="square" rtlCol="0" anchor="ctr"/>
          <a:lstStyle/>
          <a:p>
            <a:pPr algn="ctr" indent="0" marL="0">
              <a:buNone/>
            </a:pPr>
            <a:r>
              <a:rPr lang="en-US" sz="2000" b="1" dirty="0">
                <a:solidFill>
                  <a:schemeClr val="bg1"/>
                </a:solidFill>
              </a:rPr>
              <a:t>PURCHASE INTENTION</a:t>
            </a:r>
            <a:endParaRPr lang="en-US" sz="2000" dirty="0"/>
          </a:p>
        </p:txBody>
      </p:sp>
      <p:sp>
        <p:nvSpPr>
          <p:cNvPr id="32" name="Text 30"/>
          <p:cNvSpPr txBox="1"/>
          <p:nvPr/>
        </p:nvSpPr>
        <p:spPr>
          <a:xfrm>
            <a:off x="5486400" y="4937760"/>
            <a:ext cx="6172200" cy="1005840"/>
          </a:xfrm>
          <a:prstGeom prst="rect">
            <a:avLst/>
          </a:prstGeom>
          <a:noFill/>
          <a:ln/>
        </p:spPr>
        <p:txBody>
          <a:bodyPr wrap="square" lIns="0" tIns="0" rIns="0" bIns="0" rtlCol="0" anchor="t"/>
          <a:lstStyle/>
          <a:p>
            <a:pPr indent="0" marL="0">
              <a:buNone/>
            </a:pPr>
            <a:r>
              <a:rPr lang="en-US" sz="1400" b="1" dirty="0">
                <a:solidFill>
                  <a:schemeClr val="accent4"/>
                </a:solidFill>
              </a:rPr>
              <a:t>H6: </a:t>
            </a:r>
            <a:r>
              <a:rPr lang="en-US" sz="1400" dirty="0">
                <a:solidFill>
                  <a:schemeClr val="tx1"/>
                </a:solidFill>
              </a:rPr>
              <a:t>Trust mediates the relationship between each perception and purchase intention</a:t>
            </a:r>
            <a:endParaRPr lang="en-US" sz="1400" dirty="0"/>
          </a:p>
          <a:p>
            <a:pPr indent="0" marL="0">
              <a:buNone/>
            </a:pPr>
            <a:r>
              <a:rPr lang="en-US" sz="1100" i="1" dirty="0">
                <a:solidFill>
                  <a:schemeClr val="accent3"/>
                </a:solidFill>
              </a:rPr>
              <a:t>Source: Developed by the researcher, based on the S-O-R framework (Mehrabian &amp; Russell, 1974)</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3" type="title" hasCustomPrompt="1"/>
          </p:nvPr>
        </p:nvSpPr>
        <p:spPr>
          <a:xfrm>
            <a:off x="548640" y="749808"/>
            <a:ext cx="11091672" cy="658368"/>
          </a:xfrm>
          <a:prstGeom prst="rect">
            <a:avLst/>
          </a:prstGeom>
          <a:noFill/>
          <a:ln/>
        </p:spPr>
        <p:txBody>
          <a:bodyPr wrap="square" lIns="0" tIns="0" rIns="0" bIns="0" rtlCol="0" anchor="ctr"/>
          <a:lstStyle/>
          <a:p>
            <a:pPr algn="l" indent="0" marL="0">
              <a:buNone/>
            </a:pPr>
            <a:r>
              <a:rPr lang="en-US" sz="2600" b="1" dirty="0">
                <a:solidFill>
                  <a:schemeClr val="tx1"/>
                </a:solidFill>
              </a:rPr>
              <a:t>HYPOTHESES</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822960"/>
                <a:gridCol w="7342632"/>
                <a:gridCol w="2926080"/>
              </a:tblGrid>
              <a:tr h="640080">
                <a:tc>
                  <a:txBody>
                    <a:bodyPr/>
                    <a:lstStyle/>
                    <a:p>
                      <a:pPr indent="0" marL="0">
                        <a:buNone/>
                      </a:pPr>
                      <a:r>
                        <a:rPr lang="en-US" sz="1500" b="1" dirty="0">
                          <a:solidFill>
                            <a:schemeClr val="bg1"/>
                          </a:solidFill>
                        </a:rPr>
                        <a:t>No.</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Hypothesis</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Path</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tx2"/>
                    </a:solidFill>
                  </a:tcPr>
                </a:tc>
              </a:tr>
              <a:tr h="640080">
                <a:tc>
                  <a:txBody>
                    <a:bodyPr/>
                    <a:lstStyle/>
                    <a:p>
                      <a:pPr indent="0" marL="0">
                        <a:buNone/>
                      </a:pPr>
                      <a:r>
                        <a:rPr lang="en-US" sz="1500" b="1" dirty="0">
                          <a:solidFill>
                            <a:schemeClr val="accent4"/>
                          </a:solidFill>
                        </a:rPr>
                        <a:t>H1</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Perceived authenticity of virtual influencers has a significant positive effect on trust</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Authenticity → Trust</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bg2"/>
                    </a:solidFill>
                  </a:tcPr>
                </a:tc>
              </a:tr>
              <a:tr h="640080">
                <a:tc>
                  <a:txBody>
                    <a:bodyPr/>
                    <a:lstStyle/>
                    <a:p>
                      <a:pPr indent="0" marL="0">
                        <a:buNone/>
                      </a:pPr>
                      <a:r>
                        <a:rPr lang="en-US" sz="1500" b="1" dirty="0">
                          <a:solidFill>
                            <a:schemeClr val="accent4"/>
                          </a:solidFill>
                        </a:rPr>
                        <a:t>H2</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Perceived anthropomorphism of virtual influencers has a significant positive effect on trust</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Anthropomorphism → Trust</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bg1"/>
                    </a:solidFill>
                  </a:tcPr>
                </a:tc>
              </a:tr>
              <a:tr h="640080">
                <a:tc>
                  <a:txBody>
                    <a:bodyPr/>
                    <a:lstStyle/>
                    <a:p>
                      <a:pPr indent="0" marL="0">
                        <a:buNone/>
                      </a:pPr>
                      <a:r>
                        <a:rPr lang="en-US" sz="1500" b="1" dirty="0">
                          <a:solidFill>
                            <a:schemeClr val="accent4"/>
                          </a:solidFill>
                        </a:rPr>
                        <a:t>H3</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Perceived homophily with virtual influencers has a significant positive effect on trust</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Homophily → Trust</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bg2"/>
                    </a:solidFill>
                  </a:tcPr>
                </a:tc>
              </a:tr>
              <a:tr h="640080">
                <a:tc>
                  <a:txBody>
                    <a:bodyPr/>
                    <a:lstStyle/>
                    <a:p>
                      <a:pPr indent="0" marL="0">
                        <a:buNone/>
                      </a:pPr>
                      <a:r>
                        <a:rPr lang="en-US" sz="1500" b="1" dirty="0">
                          <a:solidFill>
                            <a:schemeClr val="accent4"/>
                          </a:solidFill>
                        </a:rPr>
                        <a:t>H4</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Perceived attractiveness of virtual influencers has a significant positive effect on trust</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Attractiveness → Trust</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bg1"/>
                    </a:solidFill>
                  </a:tcPr>
                </a:tc>
              </a:tr>
              <a:tr h="640080">
                <a:tc>
                  <a:txBody>
                    <a:bodyPr/>
                    <a:lstStyle/>
                    <a:p>
                      <a:pPr indent="0" marL="0">
                        <a:buNone/>
                      </a:pPr>
                      <a:r>
                        <a:rPr lang="en-US" sz="1500" b="1" dirty="0">
                          <a:solidFill>
                            <a:schemeClr val="accent4"/>
                          </a:solidFill>
                        </a:rPr>
                        <a:t>H5</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Trust in virtual influencers has a significant positive effect on purchase intention</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Trust → Purchase intention</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bg2"/>
                    </a:solidFill>
                  </a:tcPr>
                </a:tc>
              </a:tr>
              <a:tr h="640080">
                <a:tc>
                  <a:txBody>
                    <a:bodyPr/>
                    <a:lstStyle/>
                    <a:p>
                      <a:pPr indent="0" marL="0">
                        <a:buNone/>
                      </a:pPr>
                      <a:r>
                        <a:rPr lang="en-US" sz="1500" b="1" dirty="0">
                          <a:solidFill>
                            <a:schemeClr val="accent4"/>
                          </a:solidFill>
                        </a:rPr>
                        <a:t>H6</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Trust mediates the relationship between the four perceptions and purchase intention</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Perceptions → Trust → PI</a:t>
                      </a:r>
                      <a:endParaRPr lang="en-US" sz="1500" dirty="0"/>
                    </a:p>
                  </a:txBody>
                  <a:tcPr marL="101600" marR="101600" marT="50800" marB="50800" anchor="ctr">
                    <a:lnL w="9525" cap="flat" cmpd="sng" algn="ctr">
                      <a:solidFill>
                        <a:srgbClr val="989FA8"/>
                      </a:solidFill>
                      <a:prstDash val="solid"/>
                      <a:round/>
                      <a:headEnd type="none" w="med" len="med"/>
                      <a:tailEnd type="none" w="med" len="med"/>
                    </a:lnL>
                    <a:lnR w="9525" cap="flat" cmpd="sng" algn="ctr">
                      <a:solidFill>
                        <a:srgbClr val="989FA8"/>
                      </a:solidFill>
                      <a:prstDash val="solid"/>
                      <a:round/>
                      <a:headEnd type="none" w="med" len="med"/>
                      <a:tailEnd type="none" w="med" len="med"/>
                    </a:lnR>
                    <a:lnT w="9525" cap="flat" cmpd="sng" algn="ctr">
                      <a:solidFill>
                        <a:srgbClr val="989FA8"/>
                      </a:solidFill>
                      <a:prstDash val="solid"/>
                      <a:round/>
                      <a:headEnd type="none" w="med" len="med"/>
                      <a:tailEnd type="none" w="med" len="med"/>
                    </a:lnT>
                    <a:lnB w="9525" cap="flat" cmpd="sng" algn="ctr">
                      <a:solidFill>
                        <a:srgbClr val="989FA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3" type="title" hasCustomPrompt="1"/>
          </p:nvPr>
        </p:nvSpPr>
        <p:spPr>
          <a:xfrm>
            <a:off x="548640" y="749808"/>
            <a:ext cx="11091672" cy="658368"/>
          </a:xfrm>
          <a:prstGeom prst="rect">
            <a:avLst/>
          </a:prstGeom>
          <a:noFill/>
          <a:ln/>
        </p:spPr>
        <p:txBody>
          <a:bodyPr wrap="square" lIns="0" tIns="0" rIns="0" bIns="0" rtlCol="0" anchor="ctr"/>
          <a:lstStyle/>
          <a:p>
            <a:pPr algn="l" indent="0" marL="0">
              <a:buNone/>
            </a:pPr>
            <a:r>
              <a:rPr lang="en-US" sz="2600" b="1" dirty="0">
                <a:solidFill>
                  <a:schemeClr val="tx1"/>
                </a:solidFill>
              </a:rPr>
              <a:t>RESEARCH METHODOLOGY</a:t>
            </a:r>
            <a:endParaRPr lang="en-US" sz="2600" dirty="0"/>
          </a:p>
        </p:txBody>
      </p:sp>
      <p:sp>
        <p:nvSpPr>
          <p:cNvPr id="3" name="Research design card"/>
          <p:cNvSpPr/>
          <p:nvPr/>
        </p:nvSpPr>
        <p:spPr>
          <a:xfrm>
            <a:off x="548640" y="1600200"/>
            <a:ext cx="3538728" cy="2148840"/>
          </a:xfrm>
          <a:prstGeom prst="rect">
            <a:avLst/>
          </a:prstGeom>
          <a:solidFill>
            <a:schemeClr val="bg2"/>
          </a:solidFill>
          <a:ln w="12700">
            <a:solidFill>
              <a:schemeClr val="bg2"/>
            </a:solidFill>
            <a:prstDash val="solid"/>
          </a:ln>
        </p:spPr>
      </p:sp>
      <p:sp>
        <p:nvSpPr>
          <p:cNvPr id="4" name="Research design circle"/>
          <p:cNvSpPr/>
          <p:nvPr/>
        </p:nvSpPr>
        <p:spPr>
          <a:xfrm>
            <a:off x="731520" y="1783080"/>
            <a:ext cx="548640" cy="548640"/>
          </a:xfrm>
          <a:prstGeom prst="ellipse">
            <a:avLst/>
          </a:prstGeom>
          <a:solidFill>
            <a:schemeClr val="tx2"/>
          </a:solidFill>
          <a:ln w="12700">
            <a:solidFill>
              <a:schemeClr val="tx2"/>
            </a:solidFill>
            <a:prstDash val="solid"/>
          </a:ln>
        </p:spPr>
      </p:sp>
      <p:pic>
        <p:nvPicPr>
          <p:cNvPr id="5" name="Research design icon" descr="preencoded.png">    </p:cNvPr>
          <p:cNvPicPr>
            <a:picLocks noChangeAspect="1"/>
          </p:cNvPicPr>
          <p:nvPr/>
        </p:nvPicPr>
        <p:blipFill>
          <a:blip r:embed="rId1"/>
          <a:stretch>
            <a:fillRect/>
          </a:stretch>
        </p:blipFill>
        <p:spPr>
          <a:xfrm>
            <a:off x="868680" y="1920240"/>
            <a:ext cx="274320" cy="274320"/>
          </a:xfrm>
          <a:prstGeom prst="rect">
            <a:avLst/>
          </a:prstGeom>
        </p:spPr>
      </p:pic>
      <p:sp>
        <p:nvSpPr>
          <p:cNvPr id="6" name="Text 3"/>
          <p:cNvSpPr txBox="1"/>
          <p:nvPr/>
        </p:nvSpPr>
        <p:spPr>
          <a:xfrm>
            <a:off x="1417320" y="1783080"/>
            <a:ext cx="2560320" cy="548640"/>
          </a:xfrm>
          <a:prstGeom prst="rect">
            <a:avLst/>
          </a:prstGeom>
          <a:noFill/>
          <a:ln/>
        </p:spPr>
        <p:txBody>
          <a:bodyPr wrap="square" lIns="0" tIns="0" rIns="0" bIns="0" rtlCol="0" anchor="ctr"/>
          <a:lstStyle/>
          <a:p>
            <a:pPr indent="0" marL="0">
              <a:buNone/>
            </a:pPr>
            <a:r>
              <a:rPr lang="en-US" sz="1700" b="1" dirty="0">
                <a:solidFill>
                  <a:schemeClr val="tx1"/>
                </a:solidFill>
              </a:rPr>
              <a:t>Research design</a:t>
            </a:r>
            <a:endParaRPr lang="en-US" sz="1700" dirty="0"/>
          </a:p>
        </p:txBody>
      </p:sp>
      <p:sp>
        <p:nvSpPr>
          <p:cNvPr id="7" name="Text 4"/>
          <p:cNvSpPr txBox="1"/>
          <p:nvPr/>
        </p:nvSpPr>
        <p:spPr>
          <a:xfrm>
            <a:off x="731520" y="2468880"/>
            <a:ext cx="3200400" cy="1188720"/>
          </a:xfrm>
          <a:prstGeom prst="rect">
            <a:avLst/>
          </a:prstGeom>
          <a:noFill/>
          <a:ln/>
        </p:spPr>
        <p:txBody>
          <a:bodyPr wrap="square" lIns="0" tIns="0" rIns="0" bIns="0" rtlCol="0" anchor="t"/>
          <a:lstStyle/>
          <a:p>
            <a:pPr indent="0" marL="0">
              <a:buNone/>
            </a:pPr>
            <a:r>
              <a:rPr lang="en-US" sz="1400" dirty="0">
                <a:solidFill>
                  <a:schemeClr val="tx2"/>
                </a:solidFill>
              </a:rPr>
              <a:t>Descriptive, quantitative, cross-sectional survey</a:t>
            </a:r>
            <a:endParaRPr lang="en-US" sz="1400" dirty="0"/>
          </a:p>
        </p:txBody>
      </p:sp>
      <p:sp>
        <p:nvSpPr>
          <p:cNvPr id="8" name="Population card"/>
          <p:cNvSpPr/>
          <p:nvPr/>
        </p:nvSpPr>
        <p:spPr>
          <a:xfrm>
            <a:off x="4325112" y="1600200"/>
            <a:ext cx="3538728" cy="2148840"/>
          </a:xfrm>
          <a:prstGeom prst="rect">
            <a:avLst/>
          </a:prstGeom>
          <a:solidFill>
            <a:schemeClr val="bg2"/>
          </a:solidFill>
          <a:ln w="12700">
            <a:solidFill>
              <a:schemeClr val="bg2"/>
            </a:solidFill>
            <a:prstDash val="solid"/>
          </a:ln>
        </p:spPr>
      </p:sp>
      <p:sp>
        <p:nvSpPr>
          <p:cNvPr id="9" name="Population circle"/>
          <p:cNvSpPr/>
          <p:nvPr/>
        </p:nvSpPr>
        <p:spPr>
          <a:xfrm>
            <a:off x="4507992" y="1783080"/>
            <a:ext cx="548640" cy="548640"/>
          </a:xfrm>
          <a:prstGeom prst="ellipse">
            <a:avLst/>
          </a:prstGeom>
          <a:solidFill>
            <a:schemeClr val="accent1"/>
          </a:solidFill>
          <a:ln w="12700">
            <a:solidFill>
              <a:schemeClr val="accent1"/>
            </a:solidFill>
            <a:prstDash val="solid"/>
          </a:ln>
        </p:spPr>
      </p:sp>
      <p:pic>
        <p:nvPicPr>
          <p:cNvPr id="10" name="Population icon" descr="preencoded.png">    </p:cNvPr>
          <p:cNvPicPr>
            <a:picLocks noChangeAspect="1"/>
          </p:cNvPicPr>
          <p:nvPr/>
        </p:nvPicPr>
        <p:blipFill>
          <a:blip r:embed="rId2"/>
          <a:stretch>
            <a:fillRect/>
          </a:stretch>
        </p:blipFill>
        <p:spPr>
          <a:xfrm>
            <a:off x="4645152" y="1920240"/>
            <a:ext cx="274320" cy="274320"/>
          </a:xfrm>
          <a:prstGeom prst="rect">
            <a:avLst/>
          </a:prstGeom>
        </p:spPr>
      </p:pic>
      <p:sp>
        <p:nvSpPr>
          <p:cNvPr id="11" name="Text 7"/>
          <p:cNvSpPr txBox="1"/>
          <p:nvPr/>
        </p:nvSpPr>
        <p:spPr>
          <a:xfrm>
            <a:off x="5193792" y="1783080"/>
            <a:ext cx="2560320" cy="548640"/>
          </a:xfrm>
          <a:prstGeom prst="rect">
            <a:avLst/>
          </a:prstGeom>
          <a:noFill/>
          <a:ln/>
        </p:spPr>
        <p:txBody>
          <a:bodyPr wrap="square" lIns="0" tIns="0" rIns="0" bIns="0" rtlCol="0" anchor="ctr"/>
          <a:lstStyle/>
          <a:p>
            <a:pPr indent="0" marL="0">
              <a:buNone/>
            </a:pPr>
            <a:r>
              <a:rPr lang="en-US" sz="1700" b="1" dirty="0">
                <a:solidFill>
                  <a:schemeClr val="tx1"/>
                </a:solidFill>
              </a:rPr>
              <a:t>Population</a:t>
            </a:r>
            <a:endParaRPr lang="en-US" sz="1700" dirty="0"/>
          </a:p>
        </p:txBody>
      </p:sp>
      <p:sp>
        <p:nvSpPr>
          <p:cNvPr id="12" name="Text 8"/>
          <p:cNvSpPr txBox="1"/>
          <p:nvPr/>
        </p:nvSpPr>
        <p:spPr>
          <a:xfrm>
            <a:off x="4507992" y="2468880"/>
            <a:ext cx="3200400" cy="1188720"/>
          </a:xfrm>
          <a:prstGeom prst="rect">
            <a:avLst/>
          </a:prstGeom>
          <a:noFill/>
          <a:ln/>
        </p:spPr>
        <p:txBody>
          <a:bodyPr wrap="square" lIns="0" tIns="0" rIns="0" bIns="0" rtlCol="0" anchor="t"/>
          <a:lstStyle/>
          <a:p>
            <a:pPr indent="0" marL="0">
              <a:buNone/>
            </a:pPr>
            <a:r>
              <a:rPr lang="en-US" sz="1400" dirty="0">
                <a:solidFill>
                  <a:schemeClr val="tx2"/>
                </a:solidFill>
              </a:rPr>
              <a:t>Gen Z consumers (born 1997–2012) who follow or have seen virtual influencers</a:t>
            </a:r>
            <a:endParaRPr lang="en-US" sz="1400" dirty="0"/>
          </a:p>
        </p:txBody>
      </p:sp>
      <p:sp>
        <p:nvSpPr>
          <p:cNvPr id="13" name="Sampling card"/>
          <p:cNvSpPr/>
          <p:nvPr/>
        </p:nvSpPr>
        <p:spPr>
          <a:xfrm>
            <a:off x="8101584" y="1600200"/>
            <a:ext cx="3538728" cy="2148840"/>
          </a:xfrm>
          <a:prstGeom prst="rect">
            <a:avLst/>
          </a:prstGeom>
          <a:solidFill>
            <a:schemeClr val="bg2"/>
          </a:solidFill>
          <a:ln w="12700">
            <a:solidFill>
              <a:schemeClr val="bg2"/>
            </a:solidFill>
            <a:prstDash val="solid"/>
          </a:ln>
        </p:spPr>
      </p:sp>
      <p:sp>
        <p:nvSpPr>
          <p:cNvPr id="14" name="Sampling circle"/>
          <p:cNvSpPr/>
          <p:nvPr/>
        </p:nvSpPr>
        <p:spPr>
          <a:xfrm>
            <a:off x="8284464" y="1783080"/>
            <a:ext cx="548640" cy="548640"/>
          </a:xfrm>
          <a:prstGeom prst="ellipse">
            <a:avLst/>
          </a:prstGeom>
          <a:solidFill>
            <a:schemeClr val="accent4"/>
          </a:solidFill>
          <a:ln w="12700">
            <a:solidFill>
              <a:schemeClr val="accent4"/>
            </a:solidFill>
            <a:prstDash val="solid"/>
          </a:ln>
        </p:spPr>
      </p:sp>
      <p:pic>
        <p:nvPicPr>
          <p:cNvPr id="15" name="Sampling icon" descr="preencoded.png">    </p:cNvPr>
          <p:cNvPicPr>
            <a:picLocks noChangeAspect="1"/>
          </p:cNvPicPr>
          <p:nvPr/>
        </p:nvPicPr>
        <p:blipFill>
          <a:blip r:embed="rId3"/>
          <a:stretch>
            <a:fillRect/>
          </a:stretch>
        </p:blipFill>
        <p:spPr>
          <a:xfrm>
            <a:off x="8421624" y="1920240"/>
            <a:ext cx="274320" cy="274320"/>
          </a:xfrm>
          <a:prstGeom prst="rect">
            <a:avLst/>
          </a:prstGeom>
        </p:spPr>
      </p:pic>
      <p:sp>
        <p:nvSpPr>
          <p:cNvPr id="16" name="Text 11"/>
          <p:cNvSpPr txBox="1"/>
          <p:nvPr/>
        </p:nvSpPr>
        <p:spPr>
          <a:xfrm>
            <a:off x="8970264" y="1783080"/>
            <a:ext cx="2560320" cy="548640"/>
          </a:xfrm>
          <a:prstGeom prst="rect">
            <a:avLst/>
          </a:prstGeom>
          <a:noFill/>
          <a:ln/>
        </p:spPr>
        <p:txBody>
          <a:bodyPr wrap="square" lIns="0" tIns="0" rIns="0" bIns="0" rtlCol="0" anchor="ctr"/>
          <a:lstStyle/>
          <a:p>
            <a:pPr indent="0" marL="0">
              <a:buNone/>
            </a:pPr>
            <a:r>
              <a:rPr lang="en-US" sz="1700" b="1" dirty="0">
                <a:solidFill>
                  <a:schemeClr val="tx1"/>
                </a:solidFill>
              </a:rPr>
              <a:t>Sampling</a:t>
            </a:r>
            <a:endParaRPr lang="en-US" sz="1700" dirty="0"/>
          </a:p>
        </p:txBody>
      </p:sp>
      <p:sp>
        <p:nvSpPr>
          <p:cNvPr id="17" name="Text 12"/>
          <p:cNvSpPr txBox="1"/>
          <p:nvPr/>
        </p:nvSpPr>
        <p:spPr>
          <a:xfrm>
            <a:off x="8284464" y="2468880"/>
            <a:ext cx="3200400" cy="1188720"/>
          </a:xfrm>
          <a:prstGeom prst="rect">
            <a:avLst/>
          </a:prstGeom>
          <a:noFill/>
          <a:ln/>
        </p:spPr>
        <p:txBody>
          <a:bodyPr wrap="square" lIns="0" tIns="0" rIns="0" bIns="0" rtlCol="0" anchor="t"/>
          <a:lstStyle/>
          <a:p>
            <a:pPr indent="0" marL="0">
              <a:buNone/>
            </a:pPr>
            <a:r>
              <a:rPr lang="en-US" sz="1400" dirty="0">
                <a:solidFill>
                  <a:schemeClr val="tx2"/>
                </a:solidFill>
              </a:rPr>
              <a:t>Purposive / convenience sampling; sample size: [n] respondents</a:t>
            </a:r>
            <a:endParaRPr lang="en-US" sz="1400" dirty="0"/>
          </a:p>
        </p:txBody>
      </p:sp>
      <p:sp>
        <p:nvSpPr>
          <p:cNvPr id="18" name="Data collection card"/>
          <p:cNvSpPr/>
          <p:nvPr/>
        </p:nvSpPr>
        <p:spPr>
          <a:xfrm>
            <a:off x="548640" y="3977640"/>
            <a:ext cx="3538728" cy="2148840"/>
          </a:xfrm>
          <a:prstGeom prst="rect">
            <a:avLst/>
          </a:prstGeom>
          <a:solidFill>
            <a:schemeClr val="bg2"/>
          </a:solidFill>
          <a:ln w="12700">
            <a:solidFill>
              <a:schemeClr val="bg2"/>
            </a:solidFill>
            <a:prstDash val="solid"/>
          </a:ln>
        </p:spPr>
      </p:sp>
      <p:sp>
        <p:nvSpPr>
          <p:cNvPr id="19" name="Data collection circle"/>
          <p:cNvSpPr/>
          <p:nvPr/>
        </p:nvSpPr>
        <p:spPr>
          <a:xfrm>
            <a:off x="731520" y="4160520"/>
            <a:ext cx="548640" cy="548640"/>
          </a:xfrm>
          <a:prstGeom prst="ellipse">
            <a:avLst/>
          </a:prstGeom>
          <a:solidFill>
            <a:schemeClr val="tx2"/>
          </a:solidFill>
          <a:ln w="12700">
            <a:solidFill>
              <a:schemeClr val="tx2"/>
            </a:solidFill>
            <a:prstDash val="solid"/>
          </a:ln>
        </p:spPr>
      </p:sp>
      <p:pic>
        <p:nvPicPr>
          <p:cNvPr id="20" name="Data collection icon" descr="preencoded.png">    </p:cNvPr>
          <p:cNvPicPr>
            <a:picLocks noChangeAspect="1"/>
          </p:cNvPicPr>
          <p:nvPr/>
        </p:nvPicPr>
        <p:blipFill>
          <a:blip r:embed="rId4"/>
          <a:stretch>
            <a:fillRect/>
          </a:stretch>
        </p:blipFill>
        <p:spPr>
          <a:xfrm>
            <a:off x="868680" y="4297680"/>
            <a:ext cx="274320" cy="274320"/>
          </a:xfrm>
          <a:prstGeom prst="rect">
            <a:avLst/>
          </a:prstGeom>
        </p:spPr>
      </p:pic>
      <p:sp>
        <p:nvSpPr>
          <p:cNvPr id="21" name="Text 15"/>
          <p:cNvSpPr txBox="1"/>
          <p:nvPr/>
        </p:nvSpPr>
        <p:spPr>
          <a:xfrm>
            <a:off x="1417320" y="4160520"/>
            <a:ext cx="2560320" cy="548640"/>
          </a:xfrm>
          <a:prstGeom prst="rect">
            <a:avLst/>
          </a:prstGeom>
          <a:noFill/>
          <a:ln/>
        </p:spPr>
        <p:txBody>
          <a:bodyPr wrap="square" lIns="0" tIns="0" rIns="0" bIns="0" rtlCol="0" anchor="ctr"/>
          <a:lstStyle/>
          <a:p>
            <a:pPr indent="0" marL="0">
              <a:buNone/>
            </a:pPr>
            <a:r>
              <a:rPr lang="en-US" sz="1700" b="1" dirty="0">
                <a:solidFill>
                  <a:schemeClr val="tx1"/>
                </a:solidFill>
              </a:rPr>
              <a:t>Data collection</a:t>
            </a:r>
            <a:endParaRPr lang="en-US" sz="1700" dirty="0"/>
          </a:p>
        </p:txBody>
      </p:sp>
      <p:sp>
        <p:nvSpPr>
          <p:cNvPr id="22" name="Text 16"/>
          <p:cNvSpPr txBox="1"/>
          <p:nvPr/>
        </p:nvSpPr>
        <p:spPr>
          <a:xfrm>
            <a:off x="731520" y="4846320"/>
            <a:ext cx="3200400" cy="1188720"/>
          </a:xfrm>
          <a:prstGeom prst="rect">
            <a:avLst/>
          </a:prstGeom>
          <a:noFill/>
          <a:ln/>
        </p:spPr>
        <p:txBody>
          <a:bodyPr wrap="square" lIns="0" tIns="0" rIns="0" bIns="0" rtlCol="0" anchor="t"/>
          <a:lstStyle/>
          <a:p>
            <a:pPr indent="0" marL="0">
              <a:buNone/>
            </a:pPr>
            <a:r>
              <a:rPr lang="en-US" sz="1400" dirty="0">
                <a:solidFill>
                  <a:schemeClr val="tx2"/>
                </a:solidFill>
              </a:rPr>
              <a:t>Structured online questionnaire on a 5-point Likert scale</a:t>
            </a:r>
            <a:endParaRPr lang="en-US" sz="1400" dirty="0"/>
          </a:p>
        </p:txBody>
      </p:sp>
      <p:sp>
        <p:nvSpPr>
          <p:cNvPr id="23" name="Measurement scales card"/>
          <p:cNvSpPr/>
          <p:nvPr/>
        </p:nvSpPr>
        <p:spPr>
          <a:xfrm>
            <a:off x="4325112" y="3977640"/>
            <a:ext cx="3538728" cy="2148840"/>
          </a:xfrm>
          <a:prstGeom prst="rect">
            <a:avLst/>
          </a:prstGeom>
          <a:solidFill>
            <a:schemeClr val="bg2"/>
          </a:solidFill>
          <a:ln w="12700">
            <a:solidFill>
              <a:schemeClr val="bg2"/>
            </a:solidFill>
            <a:prstDash val="solid"/>
          </a:ln>
        </p:spPr>
      </p:sp>
      <p:sp>
        <p:nvSpPr>
          <p:cNvPr id="24" name="Measurement scales circle"/>
          <p:cNvSpPr/>
          <p:nvPr/>
        </p:nvSpPr>
        <p:spPr>
          <a:xfrm>
            <a:off x="4507992" y="4160520"/>
            <a:ext cx="548640" cy="548640"/>
          </a:xfrm>
          <a:prstGeom prst="ellipse">
            <a:avLst/>
          </a:prstGeom>
          <a:solidFill>
            <a:schemeClr val="accent1"/>
          </a:solidFill>
          <a:ln w="12700">
            <a:solidFill>
              <a:schemeClr val="accent1"/>
            </a:solidFill>
            <a:prstDash val="solid"/>
          </a:ln>
        </p:spPr>
      </p:sp>
      <p:pic>
        <p:nvPicPr>
          <p:cNvPr id="25" name="Measurement scales icon" descr="preencoded.png">    </p:cNvPr>
          <p:cNvPicPr>
            <a:picLocks noChangeAspect="1"/>
          </p:cNvPicPr>
          <p:nvPr/>
        </p:nvPicPr>
        <p:blipFill>
          <a:blip r:embed="rId5"/>
          <a:stretch>
            <a:fillRect/>
          </a:stretch>
        </p:blipFill>
        <p:spPr>
          <a:xfrm>
            <a:off x="4645152" y="4297680"/>
            <a:ext cx="274320" cy="274320"/>
          </a:xfrm>
          <a:prstGeom prst="rect">
            <a:avLst/>
          </a:prstGeom>
        </p:spPr>
      </p:pic>
      <p:sp>
        <p:nvSpPr>
          <p:cNvPr id="26" name="Text 19"/>
          <p:cNvSpPr txBox="1"/>
          <p:nvPr/>
        </p:nvSpPr>
        <p:spPr>
          <a:xfrm>
            <a:off x="5193792" y="4160520"/>
            <a:ext cx="2560320" cy="548640"/>
          </a:xfrm>
          <a:prstGeom prst="rect">
            <a:avLst/>
          </a:prstGeom>
          <a:noFill/>
          <a:ln/>
        </p:spPr>
        <p:txBody>
          <a:bodyPr wrap="square" lIns="0" tIns="0" rIns="0" bIns="0" rtlCol="0" anchor="ctr"/>
          <a:lstStyle/>
          <a:p>
            <a:pPr indent="0" marL="0">
              <a:buNone/>
            </a:pPr>
            <a:r>
              <a:rPr lang="en-US" sz="1700" b="1" dirty="0">
                <a:solidFill>
                  <a:schemeClr val="tx1"/>
                </a:solidFill>
              </a:rPr>
              <a:t>Measurement scales</a:t>
            </a:r>
            <a:endParaRPr lang="en-US" sz="1700" dirty="0"/>
          </a:p>
        </p:txBody>
      </p:sp>
      <p:sp>
        <p:nvSpPr>
          <p:cNvPr id="27" name="Text 20"/>
          <p:cNvSpPr txBox="1"/>
          <p:nvPr/>
        </p:nvSpPr>
        <p:spPr>
          <a:xfrm>
            <a:off x="4507992" y="4846320"/>
            <a:ext cx="3200400" cy="1188720"/>
          </a:xfrm>
          <a:prstGeom prst="rect">
            <a:avLst/>
          </a:prstGeom>
          <a:noFill/>
          <a:ln/>
        </p:spPr>
        <p:txBody>
          <a:bodyPr wrap="square" lIns="0" tIns="0" rIns="0" bIns="0" rtlCol="0" anchor="t"/>
          <a:lstStyle/>
          <a:p>
            <a:pPr indent="0" marL="0">
              <a:buNone/>
            </a:pPr>
            <a:r>
              <a:rPr lang="en-US" sz="1400" dirty="0">
                <a:solidFill>
                  <a:schemeClr val="tx2"/>
                </a:solidFill>
              </a:rPr>
              <a:t>Adapted from Lee &amp; Eastin (2021), Bartneck et al. (2009), McCroskey et al. (1975), Ohanian (1990), Spears &amp; Singh (2004)</a:t>
            </a:r>
            <a:endParaRPr lang="en-US" sz="1400" dirty="0"/>
          </a:p>
        </p:txBody>
      </p:sp>
      <p:sp>
        <p:nvSpPr>
          <p:cNvPr id="28" name="Analysis card"/>
          <p:cNvSpPr/>
          <p:nvPr/>
        </p:nvSpPr>
        <p:spPr>
          <a:xfrm>
            <a:off x="8101584" y="3977640"/>
            <a:ext cx="3538728" cy="2148840"/>
          </a:xfrm>
          <a:prstGeom prst="rect">
            <a:avLst/>
          </a:prstGeom>
          <a:solidFill>
            <a:schemeClr val="bg2"/>
          </a:solidFill>
          <a:ln w="12700">
            <a:solidFill>
              <a:schemeClr val="bg2"/>
            </a:solidFill>
            <a:prstDash val="solid"/>
          </a:ln>
        </p:spPr>
      </p:sp>
      <p:sp>
        <p:nvSpPr>
          <p:cNvPr id="29" name="Analysis circle"/>
          <p:cNvSpPr/>
          <p:nvPr/>
        </p:nvSpPr>
        <p:spPr>
          <a:xfrm>
            <a:off x="8284464" y="4160520"/>
            <a:ext cx="548640" cy="548640"/>
          </a:xfrm>
          <a:prstGeom prst="ellipse">
            <a:avLst/>
          </a:prstGeom>
          <a:solidFill>
            <a:schemeClr val="accent4"/>
          </a:solidFill>
          <a:ln w="12700">
            <a:solidFill>
              <a:schemeClr val="accent4"/>
            </a:solidFill>
            <a:prstDash val="solid"/>
          </a:ln>
        </p:spPr>
      </p:sp>
      <p:pic>
        <p:nvPicPr>
          <p:cNvPr id="30" name="Analysis icon" descr="preencoded.png">    </p:cNvPr>
          <p:cNvPicPr>
            <a:picLocks noChangeAspect="1"/>
          </p:cNvPicPr>
          <p:nvPr/>
        </p:nvPicPr>
        <p:blipFill>
          <a:blip r:embed="rId6"/>
          <a:stretch>
            <a:fillRect/>
          </a:stretch>
        </p:blipFill>
        <p:spPr>
          <a:xfrm>
            <a:off x="8421624" y="4297680"/>
            <a:ext cx="274320" cy="274320"/>
          </a:xfrm>
          <a:prstGeom prst="rect">
            <a:avLst/>
          </a:prstGeom>
        </p:spPr>
      </p:pic>
      <p:sp>
        <p:nvSpPr>
          <p:cNvPr id="31" name="Text 23"/>
          <p:cNvSpPr txBox="1"/>
          <p:nvPr/>
        </p:nvSpPr>
        <p:spPr>
          <a:xfrm>
            <a:off x="8970264" y="4160520"/>
            <a:ext cx="2560320" cy="548640"/>
          </a:xfrm>
          <a:prstGeom prst="rect">
            <a:avLst/>
          </a:prstGeom>
          <a:noFill/>
          <a:ln/>
        </p:spPr>
        <p:txBody>
          <a:bodyPr wrap="square" lIns="0" tIns="0" rIns="0" bIns="0" rtlCol="0" anchor="ctr"/>
          <a:lstStyle/>
          <a:p>
            <a:pPr indent="0" marL="0">
              <a:buNone/>
            </a:pPr>
            <a:r>
              <a:rPr lang="en-US" sz="1700" b="1" dirty="0">
                <a:solidFill>
                  <a:schemeClr val="tx1"/>
                </a:solidFill>
              </a:rPr>
              <a:t>Analysis</a:t>
            </a:r>
            <a:endParaRPr lang="en-US" sz="1700" dirty="0"/>
          </a:p>
        </p:txBody>
      </p:sp>
      <p:sp>
        <p:nvSpPr>
          <p:cNvPr id="32" name="Text 24"/>
          <p:cNvSpPr txBox="1"/>
          <p:nvPr/>
        </p:nvSpPr>
        <p:spPr>
          <a:xfrm>
            <a:off x="8284464" y="4846320"/>
            <a:ext cx="3200400" cy="1188720"/>
          </a:xfrm>
          <a:prstGeom prst="rect">
            <a:avLst/>
          </a:prstGeom>
          <a:noFill/>
          <a:ln/>
        </p:spPr>
        <p:txBody>
          <a:bodyPr wrap="square" lIns="0" tIns="0" rIns="0" bIns="0" rtlCol="0" anchor="t"/>
          <a:lstStyle/>
          <a:p>
            <a:pPr indent="0" marL="0">
              <a:buNone/>
            </a:pPr>
            <a:r>
              <a:rPr lang="en-US" sz="1400" dirty="0">
                <a:solidFill>
                  <a:schemeClr val="tx2"/>
                </a:solidFill>
              </a:rPr>
              <a:t>Reliability &amp; validity tests, PLS-SEM / regression, mediation analysis (bootstrapping)</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3" type="title" hasCustomPrompt="1"/>
          </p:nvPr>
        </p:nvSpPr>
        <p:spPr>
          <a:xfrm>
            <a:off x="548640" y="749808"/>
            <a:ext cx="11091672" cy="658368"/>
          </a:xfrm>
          <a:prstGeom prst="rect">
            <a:avLst/>
          </a:prstGeom>
          <a:noFill/>
          <a:ln/>
        </p:spPr>
        <p:txBody>
          <a:bodyPr wrap="square" lIns="0" tIns="0" rIns="0" bIns="0" rtlCol="0" anchor="ctr"/>
          <a:lstStyle/>
          <a:p>
            <a:pPr algn="l" indent="0" marL="0">
              <a:buNone/>
            </a:pPr>
            <a:r>
              <a:rPr lang="en-US" sz="2600" b="1" dirty="0">
                <a:solidFill>
                  <a:schemeClr val="tx1"/>
                </a:solidFill>
              </a:rPr>
              <a:t>REFERENCES (SELECTED)</a:t>
            </a:r>
            <a:endParaRPr lang="en-US" sz="2600" dirty="0"/>
          </a:p>
        </p:txBody>
      </p:sp>
      <p:sp>
        <p:nvSpPr>
          <p:cNvPr id="3" name="Text 1"/>
          <p:cNvSpPr txBox="1"/>
          <p:nvPr/>
        </p:nvSpPr>
        <p:spPr>
          <a:xfrm>
            <a:off x="548640" y="1554480"/>
            <a:ext cx="11091672" cy="4846320"/>
          </a:xfrm>
          <a:prstGeom prst="rect">
            <a:avLst/>
          </a:prstGeom>
          <a:noFill/>
          <a:ln/>
        </p:spPr>
        <p:txBody>
          <a:bodyPr wrap="square" lIns="0" tIns="0" rIns="0" bIns="0" rtlCol="0" anchor="t"/>
          <a:lstStyle/>
          <a:p>
            <a:pPr indent="0" marL="0">
              <a:spcAft>
                <a:spcPts val="600"/>
              </a:spcAft>
              <a:buNone/>
            </a:pPr>
            <a:r>
              <a:rPr lang="en-US" sz="1200" dirty="0">
                <a:solidFill>
                  <a:schemeClr val="tx1"/>
                </a:solidFill>
              </a:rPr>
              <a:t>Allal-Chérif, O., Puertas, R., &amp; Carracedo, P. (2024). Intelligent influencer marketing: How AI-powered virtual influencers outperform human influencers. Technological Forecasting and Social Change, 200, 123113.</a:t>
            </a:r>
            <a:endParaRPr lang="en-US" sz="1200" dirty="0"/>
          </a:p>
          <a:p>
            <a:pPr indent="0" marL="0">
              <a:spcAft>
                <a:spcPts val="600"/>
              </a:spcAft>
              <a:buNone/>
            </a:pPr>
            <a:r>
              <a:rPr lang="en-US" sz="1200" dirty="0">
                <a:solidFill>
                  <a:schemeClr val="tx1"/>
                </a:solidFill>
              </a:rPr>
              <a:t>Belanche, D., Casaló, L. V., &amp; Flavián, M. (2024). Human versus virtual influences, a comparative study. Journal of Business Research, 173, 114493.</a:t>
            </a:r>
            <a:endParaRPr lang="en-US" sz="1200" dirty="0"/>
          </a:p>
          <a:p>
            <a:pPr indent="0" marL="0">
              <a:spcAft>
                <a:spcPts val="600"/>
              </a:spcAft>
              <a:buNone/>
            </a:pPr>
            <a:r>
              <a:rPr lang="en-US" sz="1200" dirty="0">
                <a:solidFill>
                  <a:schemeClr val="tx1"/>
                </a:solidFill>
              </a:rPr>
              <a:t>Byun, K. J., &amp; Ahn, S. J. (2023). A systematic review of virtual influencers. Journal of Interactive Advertising, 23(4), 293–306.</a:t>
            </a:r>
            <a:endParaRPr lang="en-US" sz="1200" dirty="0"/>
          </a:p>
          <a:p>
            <a:pPr indent="0" marL="0">
              <a:spcAft>
                <a:spcPts val="600"/>
              </a:spcAft>
              <a:buNone/>
            </a:pPr>
            <a:r>
              <a:rPr lang="en-US" sz="1200" dirty="0">
                <a:solidFill>
                  <a:schemeClr val="tx1"/>
                </a:solidFill>
              </a:rPr>
              <a:t>Cascio Rizzo, G. L., Villarroel Ordenes, F., &amp; Berger, J. (2026). What drives virtual influencers' impact? Journal of the Academy of Marketing Science.</a:t>
            </a:r>
            <a:endParaRPr lang="en-US" sz="1200" dirty="0"/>
          </a:p>
          <a:p>
            <a:pPr indent="0" marL="0">
              <a:spcAft>
                <a:spcPts val="600"/>
              </a:spcAft>
              <a:buNone/>
            </a:pPr>
            <a:r>
              <a:rPr lang="en-US" sz="1200" dirty="0">
                <a:solidFill>
                  <a:schemeClr val="tx1"/>
                </a:solidFill>
              </a:rPr>
              <a:t>Djafarova, E., &amp; Bowes, T. (2021). 'Instagram made me buy it': Generation Z impulse purchases in fashion industry. Journal of Retailing and Consumer Services, 59, 102345.</a:t>
            </a:r>
            <a:endParaRPr lang="en-US" sz="1200" dirty="0"/>
          </a:p>
          <a:p>
            <a:pPr indent="0" marL="0">
              <a:spcAft>
                <a:spcPts val="600"/>
              </a:spcAft>
              <a:buNone/>
            </a:pPr>
            <a:r>
              <a:rPr lang="en-US" sz="1200" dirty="0">
                <a:solidFill>
                  <a:schemeClr val="tx1"/>
                </a:solidFill>
              </a:rPr>
              <a:t>Epley, N., Waytz, A., &amp; Cacioppo, J. T. (2007). On seeing human: A three-factor theory of anthropomorphism. Psychological Review, 114(4), 864–886.</a:t>
            </a:r>
            <a:endParaRPr lang="en-US" sz="1200" dirty="0"/>
          </a:p>
          <a:p>
            <a:pPr indent="0" marL="0">
              <a:spcAft>
                <a:spcPts val="600"/>
              </a:spcAft>
              <a:buNone/>
            </a:pPr>
            <a:r>
              <a:rPr lang="en-US" sz="1200" dirty="0">
                <a:solidFill>
                  <a:schemeClr val="tx1"/>
                </a:solidFill>
              </a:rPr>
              <a:t>George, J. P., Muttungal, P. V., Priya, N., &amp; Davidson, B. G. J. (2026). Credibility, engagement, and purchase: How virtual influencers drive Gen Zs consumer behavior. Emerald Publishing.</a:t>
            </a:r>
            <a:endParaRPr lang="en-US" sz="1200" dirty="0"/>
          </a:p>
          <a:p>
            <a:pPr indent="0" marL="0">
              <a:spcAft>
                <a:spcPts val="600"/>
              </a:spcAft>
              <a:buNone/>
            </a:pPr>
            <a:r>
              <a:rPr lang="en-US" sz="1200" dirty="0">
                <a:solidFill>
                  <a:schemeClr val="tx1"/>
                </a:solidFill>
              </a:rPr>
              <a:t>Gerlich, M. (2023). The power of virtual influencers: Impact on consumer behaviour and attitudes in the age of AI. Administrative Sciences, 13(8), 178.</a:t>
            </a:r>
            <a:endParaRPr lang="en-US" sz="1200" dirty="0"/>
          </a:p>
          <a:p>
            <a:pPr indent="0" marL="0">
              <a:spcAft>
                <a:spcPts val="600"/>
              </a:spcAft>
              <a:buNone/>
            </a:pPr>
            <a:r>
              <a:rPr lang="en-US" sz="1200" dirty="0">
                <a:solidFill>
                  <a:schemeClr val="tx1"/>
                </a:solidFill>
              </a:rPr>
              <a:t>Jha, S., Chaudhary, R., &amp; Shukla, B. (2025). Trust dynamics of virtual influencers: Exploring their influence on fashion purchase decisions. Innovative Marketing, 21(3), 226–236.</a:t>
            </a:r>
            <a:endParaRPr lang="en-US" sz="1200" dirty="0"/>
          </a:p>
          <a:p>
            <a:pPr indent="0" marL="0">
              <a:spcAft>
                <a:spcPts val="600"/>
              </a:spcAft>
              <a:buNone/>
            </a:pPr>
            <a:r>
              <a:rPr lang="en-US" sz="1200" dirty="0">
                <a:solidFill>
                  <a:schemeClr val="tx1"/>
                </a:solidFill>
              </a:rPr>
              <a:t>Lee, J. A., &amp; Eastin, M. S. (2021). Perceived authenticity of social media influencers: Scale development and validation. Journal of Research in Interactive Marketing, 15(4), 822–841.</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title" hasCustomPrompt="1"/>
          </p:nvPr>
        </p:nvSpPr>
        <p:spPr>
          <a:xfrm>
            <a:off x="548640" y="749808"/>
            <a:ext cx="11091672" cy="658368"/>
          </a:xfrm>
          <a:prstGeom prst="rect">
            <a:avLst/>
          </a:prstGeom>
          <a:noFill/>
          <a:ln/>
        </p:spPr>
        <p:txBody>
          <a:bodyPr wrap="square" lIns="0" tIns="0" rIns="0" bIns="0" rtlCol="0" anchor="ctr"/>
          <a:lstStyle/>
          <a:p>
            <a:pPr algn="l" indent="0" marL="0">
              <a:buNone/>
            </a:pPr>
            <a:r>
              <a:rPr lang="en-US" sz="2600" b="1" dirty="0">
                <a:solidFill>
                  <a:schemeClr val="tx1"/>
                </a:solidFill>
              </a:rPr>
              <a:t>REFERENCES (CONTD.)</a:t>
            </a:r>
            <a:endParaRPr lang="en-US" sz="2600" dirty="0"/>
          </a:p>
        </p:txBody>
      </p:sp>
      <p:sp>
        <p:nvSpPr>
          <p:cNvPr id="3" name="Text 1"/>
          <p:cNvSpPr txBox="1"/>
          <p:nvPr/>
        </p:nvSpPr>
        <p:spPr>
          <a:xfrm>
            <a:off x="548640" y="1554480"/>
            <a:ext cx="11091672" cy="4846320"/>
          </a:xfrm>
          <a:prstGeom prst="rect">
            <a:avLst/>
          </a:prstGeom>
          <a:noFill/>
          <a:ln/>
        </p:spPr>
        <p:txBody>
          <a:bodyPr wrap="square" lIns="0" tIns="0" rIns="0" bIns="0" rtlCol="0" anchor="t"/>
          <a:lstStyle/>
          <a:p>
            <a:pPr indent="0" marL="0">
              <a:spcAft>
                <a:spcPts val="600"/>
              </a:spcAft>
              <a:buNone/>
            </a:pPr>
            <a:r>
              <a:rPr lang="en-US" sz="1200" dirty="0">
                <a:solidFill>
                  <a:schemeClr val="tx1"/>
                </a:solidFill>
              </a:rPr>
              <a:t>Lonsdale, N., Aydin, G., &amp; Magtibay, R. (2025). Anthropomorphism and diversity in virtual humans: Their influence on the trust and attitudes of Gen Z consumers. Corporate Communications, 30(5), 888–914.</a:t>
            </a:r>
            <a:endParaRPr lang="en-US" sz="1200" dirty="0"/>
          </a:p>
          <a:p>
            <a:pPr indent="0" marL="0">
              <a:spcAft>
                <a:spcPts val="600"/>
              </a:spcAft>
              <a:buNone/>
            </a:pPr>
            <a:r>
              <a:rPr lang="en-US" sz="1200" dirty="0">
                <a:solidFill>
                  <a:schemeClr val="tx1"/>
                </a:solidFill>
              </a:rPr>
              <a:t>Lou, C., Kiew, S. T. J., Chen, T., Lee, T. Y. M., Ong, J. E. C., &amp; Phua, Z. (2023). Authentically fake? How consumers respond to the influence of virtual influencers. Journal of Advertising, 52(4), 540–557.</a:t>
            </a:r>
            <a:endParaRPr lang="en-US" sz="1200" dirty="0"/>
          </a:p>
          <a:p>
            <a:pPr indent="0" marL="0">
              <a:spcAft>
                <a:spcPts val="600"/>
              </a:spcAft>
              <a:buNone/>
            </a:pPr>
            <a:r>
              <a:rPr lang="en-US" sz="1200" dirty="0">
                <a:solidFill>
                  <a:schemeClr val="tx1"/>
                </a:solidFill>
              </a:rPr>
              <a:t>Lou, C., &amp; Yuan, S. (2019). Influencer marketing: How message value and credibility affect consumer trust of branded content on social media. Journal of Interactive Advertising, 19(1), 58–73.</a:t>
            </a:r>
            <a:endParaRPr lang="en-US" sz="1200" dirty="0"/>
          </a:p>
          <a:p>
            <a:pPr indent="0" marL="0">
              <a:spcAft>
                <a:spcPts val="600"/>
              </a:spcAft>
              <a:buNone/>
            </a:pPr>
            <a:r>
              <a:rPr lang="en-US" sz="1200" dirty="0">
                <a:solidFill>
                  <a:schemeClr val="tx1"/>
                </a:solidFill>
              </a:rPr>
              <a:t>Mayer, R. C., Davis, J. H., &amp; Schoorman, F. D. (1995). An integrative model of organizational trust. Academy of Management Review, 20(3), 709–734.</a:t>
            </a:r>
            <a:endParaRPr lang="en-US" sz="1200" dirty="0"/>
          </a:p>
          <a:p>
            <a:pPr indent="0" marL="0">
              <a:spcAft>
                <a:spcPts val="600"/>
              </a:spcAft>
              <a:buNone/>
            </a:pPr>
            <a:r>
              <a:rPr lang="en-US" sz="1200" dirty="0">
                <a:solidFill>
                  <a:schemeClr val="tx1"/>
                </a:solidFill>
              </a:rPr>
              <a:t>McCroskey, J. C., Richmond, V. P., &amp; Daly, J. A. (1975). The development of a measure of perceived homophily in interpersonal communication. Human Communication Research, 1(4), 323–332.</a:t>
            </a:r>
            <a:endParaRPr lang="en-US" sz="1200" dirty="0"/>
          </a:p>
          <a:p>
            <a:pPr indent="0" marL="0">
              <a:spcAft>
                <a:spcPts val="600"/>
              </a:spcAft>
              <a:buNone/>
            </a:pPr>
            <a:r>
              <a:rPr lang="en-US" sz="1200" dirty="0">
                <a:solidFill>
                  <a:schemeClr val="tx1"/>
                </a:solidFill>
              </a:rPr>
              <a:t>Mehrabian, A., &amp; Russell, J. A. (1974). An approach to environmental psychology. MIT Press.</a:t>
            </a:r>
            <a:endParaRPr lang="en-US" sz="1200" dirty="0"/>
          </a:p>
          <a:p>
            <a:pPr indent="0" marL="0">
              <a:spcAft>
                <a:spcPts val="600"/>
              </a:spcAft>
              <a:buNone/>
            </a:pPr>
            <a:r>
              <a:rPr lang="en-US" sz="1200" dirty="0">
                <a:solidFill>
                  <a:schemeClr val="tx1"/>
                </a:solidFill>
              </a:rPr>
              <a:t>Ohanian, R. (1990). Construction and validation of a scale to measure celebrity endorsers' perceived expertise, trustworthiness, and attractiveness. Journal of Advertising, 19(3), 39–52.</a:t>
            </a:r>
            <a:endParaRPr lang="en-US" sz="1200" dirty="0"/>
          </a:p>
          <a:p>
            <a:pPr indent="0" marL="0">
              <a:spcAft>
                <a:spcPts val="600"/>
              </a:spcAft>
              <a:buNone/>
            </a:pPr>
            <a:r>
              <a:rPr lang="en-US" sz="1200" dirty="0">
                <a:solidFill>
                  <a:schemeClr val="tx1"/>
                </a:solidFill>
              </a:rPr>
              <a:t>Sands, S., Campbell, C. L., Plangger, K., &amp; Ferraro, C. (2022). Unreal influence: Leveraging AI in influencer marketing. European Journal of Marketing, 56(6), 1721–1747.</a:t>
            </a:r>
            <a:endParaRPr lang="en-US" sz="1200" dirty="0"/>
          </a:p>
          <a:p>
            <a:pPr indent="0" marL="0">
              <a:spcAft>
                <a:spcPts val="600"/>
              </a:spcAft>
              <a:buNone/>
            </a:pPr>
            <a:r>
              <a:rPr lang="en-US" sz="1200" dirty="0">
                <a:solidFill>
                  <a:schemeClr val="tx1"/>
                </a:solidFill>
              </a:rPr>
              <a:t>Spears, N., &amp; Singh, S. N. (2004). Measuring attitude toward the brand and purchase intentions. Journal of Current Issues &amp; Research in Advertising, 26(2), 53–66.</a:t>
            </a:r>
            <a:endParaRPr lang="en-US" sz="1200" dirty="0"/>
          </a:p>
          <a:p>
            <a:pPr indent="0" marL="0">
              <a:spcAft>
                <a:spcPts val="600"/>
              </a:spcAft>
              <a:buNone/>
            </a:pPr>
            <a:r>
              <a:rPr lang="en-US" sz="1200" dirty="0">
                <a:solidFill>
                  <a:schemeClr val="tx1"/>
                </a:solidFill>
              </a:rPr>
              <a:t>Stein, J.-P., Breves, P. L., &amp; Anders, N. (2024). Parasocial interactions with real and virtual influencers: The role of perceived similarity and human-likeness. New Media &amp; Society, 26(6), 3433–3453.</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3" type="title" hasCustomPrompt="1"/>
          </p:nvPr>
        </p:nvSpPr>
        <p:spPr>
          <a:xfrm>
            <a:off x="548640" y="1371600"/>
            <a:ext cx="11091672" cy="1737360"/>
          </a:xfrm>
          <a:prstGeom prst="rect">
            <a:avLst/>
          </a:prstGeom>
          <a:noFill/>
          <a:ln/>
        </p:spPr>
        <p:txBody>
          <a:bodyPr wrap="square" rtlCol="0" anchor="ctr"/>
          <a:lstStyle/>
          <a:p>
            <a:pPr algn="ctr" indent="0" marL="0">
              <a:buNone/>
            </a:pPr>
            <a:r>
              <a:rPr lang="en-US" sz="3400" b="1" dirty="0">
                <a:solidFill>
                  <a:schemeClr val="tx1"/>
                </a:solidFill>
              </a:rPr>
              <a:t>THANK YOU</a:t>
            </a:r>
            <a:endParaRPr lang="en-US" sz="3400" dirty="0"/>
          </a:p>
        </p:txBody>
      </p:sp>
      <p:sp>
        <p:nvSpPr>
          <p:cNvPr id="3" name="Text 1"/>
          <p:cNvSpPr txBox="1"/>
          <p:nvPr/>
        </p:nvSpPr>
        <p:spPr>
          <a:xfrm>
            <a:off x="548640" y="3429000"/>
            <a:ext cx="11091672" cy="457200"/>
          </a:xfrm>
          <a:prstGeom prst="rect">
            <a:avLst/>
          </a:prstGeom>
          <a:noFill/>
          <a:ln/>
        </p:spPr>
        <p:txBody>
          <a:bodyPr wrap="square" rtlCol="0" anchor="ctr"/>
          <a:lstStyle/>
          <a:p>
            <a:pPr algn="ctr" indent="0" marL="0">
              <a:buNone/>
            </a:pPr>
            <a:r>
              <a:rPr lang="en-US" sz="2000" dirty="0">
                <a:solidFill>
                  <a:schemeClr val="accent4"/>
                </a:solidFill>
              </a:rPr>
              <a:t>Questions and suggestions are welcome</a:t>
            </a:r>
            <a:endParaRPr lang="en-US" sz="2000" dirty="0"/>
          </a:p>
        </p:txBody>
      </p:sp>
    </p:spTree>
  </p:cSld>
  <p:clrMapOvr>
    <a:masterClrMapping/>
  </p:clrMapOvr>
</p:sld>
</file>

<file path=ppt/theme/theme1.xml><?xml version="1.0" encoding="utf-8"?>
<a:theme xmlns:a="http://schemas.openxmlformats.org/drawingml/2006/main" name="Virtual Influencers">
  <a:themeElements>
    <a:clrScheme name="Virtual Influencers">
      <a:dk1>
        <a:srgbClr val="404040"/>
      </a:dk1>
      <a:lt1>
        <a:srgbClr val="FFFFFF"/>
      </a:lt1>
      <a:dk2>
        <a:srgbClr val="3F4A51"/>
      </a:dk2>
      <a:lt2>
        <a:srgbClr val="E1ECEC"/>
      </a:lt2>
      <a:accent1>
        <a:srgbClr val="1AACE3"/>
      </a:accent1>
      <a:accent2>
        <a:srgbClr val="3F4A51"/>
      </a:accent2>
      <a:accent3>
        <a:srgbClr val="989FA8"/>
      </a:accent3>
      <a:accent4>
        <a:srgbClr val="1F86B5"/>
      </a:accent4>
      <a:accent5>
        <a:srgbClr val="F2A541"/>
      </a:accent5>
      <a:accent6>
        <a:srgbClr val="5BB98C"/>
      </a:accent6>
      <a:hlink>
        <a:srgbClr val="1F86B5"/>
      </a:hlink>
      <a:folHlink>
        <a:srgbClr val="989FA8"/>
      </a:folHlink>
    </a:clrScheme>
    <a:fontScheme name="Virtual Influencer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Influencers, Trust and Purchase Intention among Gen Z</dc:title>
  <dc:subject>PptxGenJS Presentation</dc:subject>
  <dc:creator>PptxGenJS</dc:creator>
  <cp:lastModifiedBy>PptxGenJS</cp:lastModifiedBy>
  <cp:revision>1</cp:revision>
  <dcterms:created xsi:type="dcterms:W3CDTF">2026-10-29T14:26:53Z</dcterms:created>
  <dcterms:modified xsi:type="dcterms:W3CDTF">2026-10-29T14:26:53Z</dcterms:modified>
</cp:coreProperties>
</file>
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b156724-616b-363f-a2c6-7180326e75eb}">
          <p14:sldIdLst>
            <p14:sldId id="256"/>
            <p14:sldId id="257"/>
            <p14:sldId id="258"/>
          </p14:sldIdLst>
        </p14:section>
        <p14:section name="Literature Review" id="{8209c875-974a-12e1-cdea-8cd227a62a27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Research Design" id="{58eb5e57-7ce3-0aaf-aab2-1f49aa042c95}">
          <p14:sldIdLst>
            <p14:sldId id="270"/>
            <p14:sldId id="271"/>
            <p14:sldId id="272"/>
            <p14:sldId id="273"/>
          </p14:sldIdLst>
        </p14:section>
        <p14:section name="References" id="{6afa3c90-69de-cf37-14bf-2ca3b87f08ad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457200"/>
            <a:ext cx="3712464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4242816" y="457200"/>
            <a:ext cx="3694176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8028432" y="457200"/>
            <a:ext cx="3712464" cy="914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1371600"/>
            <a:ext cx="11091672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8912" y="457200"/>
            <a:ext cx="3712464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4242816" y="457200"/>
            <a:ext cx="3694176" cy="9144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Shape 2"/>
          <p:cNvSpPr/>
          <p:nvPr/>
        </p:nvSpPr>
        <p:spPr>
          <a:xfrm>
            <a:off x="8028432" y="457200"/>
            <a:ext cx="3712464" cy="9144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1371600"/>
            <a:ext cx="1109167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HOW CONSUMER PERCEPTIONS OF VIRTUAL INFLUENCERS SHAPE TRUST AND PURCHASE INTENTION AMONG GEN Z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PROJECT PRESENTATION  |  AREA: MARKETING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7200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Under the guidance of: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Dr. Mithra Manmadhan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Assistant Professor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595360" y="45720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Abhiram JP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MBA Batch B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TVE25MBA03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INTRODUCTION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777240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Influencer marketing grew from social media users building personal brands that rival companies. </a:t>
            </a:r>
            <a:r>
              <a:rPr lang="en-US" sz="1900" dirty="0">
                <a:solidFill>
                  <a:schemeClr val="accent4"/>
                </a:solidFill>
              </a:rPr>
              <a:t>(Khamis et al., 2017)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Influencers combine an audience, a persuasive endorser and a content producer in one person. </a:t>
            </a:r>
            <a:r>
              <a:rPr lang="en-US" sz="1900" dirty="0">
                <a:solidFill>
                  <a:schemeClr val="accent4"/>
                </a:solidFill>
              </a:rPr>
              <a:t>(Campbell &amp; Farrell, 2020)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Virtual influencers are computer-generated characters that post, endorse brands and interact with followers like human creators.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They offer brands customisation, flexibility, ownership and automation. </a:t>
            </a:r>
            <a:r>
              <a:rPr lang="en-US" sz="1900" dirty="0">
                <a:solidFill>
                  <a:schemeClr val="accent4"/>
                </a:solidFill>
              </a:rPr>
              <a:t>(Mouritzen et al., 2024)</a:t>
            </a:r>
            <a:endParaRPr lang="en-US" sz="2400" dirty="0"/>
          </a:p>
        </p:txBody>
      </p:sp>
      <p:sp>
        <p:nvSpPr>
          <p:cNvPr id="4" name="Virtual influencer panel"/>
          <p:cNvSpPr/>
          <p:nvPr/>
        </p:nvSpPr>
        <p:spPr>
          <a:xfrm>
            <a:off x="8595360" y="1783080"/>
            <a:ext cx="3063240" cy="4389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Robot circle"/>
          <p:cNvSpPr/>
          <p:nvPr/>
        </p:nvSpPr>
        <p:spPr>
          <a:xfrm>
            <a:off x="9418320" y="2057400"/>
            <a:ext cx="1417320" cy="1417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Robo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2650" y="2411730"/>
            <a:ext cx="708660" cy="7086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732520" y="3657600"/>
            <a:ext cx="2788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 shift in the influencer marketing paradigm, especially for young consumers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52578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(Jhawar et al., 2023)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PROBLEM STATEMENT</a:t>
            </a:r>
            <a:endParaRPr lang="en-US" sz="2800" dirty="0"/>
          </a:p>
        </p:txBody>
      </p:sp>
      <p:sp>
        <p:nvSpPr>
          <p:cNvPr id="3" name="Problem box"/>
          <p:cNvSpPr/>
          <p:nvPr/>
        </p:nvSpPr>
        <p:spPr>
          <a:xfrm>
            <a:off x="548640" y="1691640"/>
            <a:ext cx="11091672" cy="2743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10744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Brands increasingly use virtual influencers to reach young consumers, yet evidence on whether they drive purchases is mixed, and it is unclear which perceptions build trust.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This study examines how Gen Z consumers' perceptions of virtual influencers shape trust and, through it, purchase intention.</a:t>
            </a:r>
            <a:endParaRPr lang="en-US" sz="2200" dirty="0"/>
          </a:p>
        </p:txBody>
      </p:sp>
      <p:sp>
        <p:nvSpPr>
          <p:cNvPr id="5" name="Trust deficit circle"/>
          <p:cNvSpPr/>
          <p:nvPr/>
        </p:nvSpPr>
        <p:spPr>
          <a:xfrm>
            <a:off x="548640" y="480060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Trust defici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501777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47091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Trust deficit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Trusted less than human influencers</a:t>
            </a:r>
            <a:endParaRPr lang="en-US" sz="2000" dirty="0"/>
          </a:p>
        </p:txBody>
      </p:sp>
      <p:sp>
        <p:nvSpPr>
          <p:cNvPr id="8" name="Mixed evidence circle"/>
          <p:cNvSpPr/>
          <p:nvPr/>
        </p:nvSpPr>
        <p:spPr>
          <a:xfrm>
            <a:off x="4325112" y="480060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Mixed evidenc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282" y="5017770"/>
            <a:ext cx="434340" cy="4343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30952" y="47091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Mixed evidence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Unclear effect on purchase intention</a:t>
            </a:r>
            <a:endParaRPr lang="en-US" sz="2000" dirty="0"/>
          </a:p>
        </p:txBody>
      </p:sp>
      <p:sp>
        <p:nvSpPr>
          <p:cNvPr id="11" name="Thin Indian evidence circle"/>
          <p:cNvSpPr/>
          <p:nvPr/>
        </p:nvSpPr>
        <p:spPr>
          <a:xfrm>
            <a:off x="8101584" y="480060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Thin Indian evidenc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8754" y="5017770"/>
            <a:ext cx="434340" cy="4343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07424" y="47091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Thin Indian evidence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Limited data on Indian Gen Z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INFLUENCER MARKETING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1672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Young consumers see online celebrities as more credible and relatable than traditional stars. </a:t>
            </a:r>
            <a:r>
              <a:rPr lang="en-US" sz="2100" dirty="0">
                <a:solidFill>
                  <a:schemeClr val="accent4"/>
                </a:solidFill>
              </a:rPr>
              <a:t>(Djafarova &amp; Rushworth, 2017)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The field runs as a chain: influencer characteristics → audience responses → purchase behaviour. </a:t>
            </a:r>
            <a:r>
              <a:rPr lang="en-US" sz="2100" dirty="0">
                <a:solidFill>
                  <a:schemeClr val="accent4"/>
                </a:solidFill>
              </a:rPr>
              <a:t>(Vrontis et al., 2021)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Source credibility is the most robust explanation of influencer impact. </a:t>
            </a:r>
            <a:r>
              <a:rPr lang="en-US" sz="2100" dirty="0">
                <a:solidFill>
                  <a:schemeClr val="accent4"/>
                </a:solidFill>
              </a:rPr>
              <a:t>(Han &amp; Balabanis, 2024)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Social identification and the informational and hedonic value of posts are the strongest drivers of purchase intention. </a:t>
            </a:r>
            <a:r>
              <a:rPr lang="en-US" sz="2100" dirty="0">
                <a:solidFill>
                  <a:schemeClr val="accent4"/>
                </a:solidFill>
              </a:rPr>
              <a:t>(Pan et al., 2025)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VIRTUAL INFLUENCERS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1672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Avatars perform best when how real they look matches how real they behave. </a:t>
            </a:r>
            <a:r>
              <a:rPr lang="en-US" sz="2100" dirty="0">
                <a:solidFill>
                  <a:schemeClr val="accent4"/>
                </a:solidFill>
              </a:rPr>
              <a:t>(Miao et al., 2022)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Their social media presence is built to imitate the lives of real people. </a:t>
            </a:r>
            <a:r>
              <a:rPr lang="en-US" sz="2100" dirty="0">
                <a:solidFill>
                  <a:schemeClr val="accent4"/>
                </a:solidFill>
              </a:rPr>
              <a:t>(Arsenyan &amp; Mirowska, 2021)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Human and virtual influencers share many qualities, but key differences limit virtual ones. </a:t>
            </a:r>
            <a:r>
              <a:rPr lang="en-US" sz="2100" dirty="0">
                <a:solidFill>
                  <a:schemeClr val="accent4"/>
                </a:solidFill>
              </a:rPr>
              <a:t>(Byun &amp; Ahn, 2023)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The central weakness is trust: virtual influencers are trusted less than human ones. </a:t>
            </a:r>
            <a:r>
              <a:rPr lang="en-US" sz="2100" dirty="0">
                <a:solidFill>
                  <a:schemeClr val="accent4"/>
                </a:solidFill>
              </a:rPr>
              <a:t>(Sands et al., 2022; Cascio Rizzo et al., 2026)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DO VIRTUAL INFLUENCERS SELL?</a:t>
            </a:r>
            <a:endParaRPr lang="en-US" sz="2800" dirty="0"/>
          </a:p>
        </p:txBody>
      </p:sp>
      <p:sp>
        <p:nvSpPr>
          <p:cNvPr id="3" name="Supportive evidence card"/>
          <p:cNvSpPr/>
          <p:nvPr/>
        </p:nvSpPr>
        <p:spPr>
          <a:xfrm>
            <a:off x="548640" y="1691640"/>
            <a:ext cx="5413248" cy="3977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upportive evidence circle"/>
          <p:cNvSpPr/>
          <p:nvPr/>
        </p:nvSpPr>
        <p:spPr>
          <a:xfrm>
            <a:off x="777240" y="187452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Supportive evide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0459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8745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Supportive evidence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Rated trustworthy and credible; linked to higher purchase intention. </a:t>
            </a:r>
            <a:r>
              <a:rPr lang="en-US" sz="1700" dirty="0">
                <a:solidFill>
                  <a:schemeClr val="accent4"/>
                </a:solidFill>
              </a:rPr>
              <a:t>(Gerlich, 2023)</a:t>
            </a:r>
            <a:endParaRPr lang="en-US" sz="2200" dirty="0"/>
          </a:p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Seen as more useful than human influencers. </a:t>
            </a:r>
            <a:r>
              <a:rPr lang="en-US" sz="1700" dirty="0">
                <a:solidFill>
                  <a:schemeClr val="accent4"/>
                </a:solidFill>
              </a:rPr>
              <a:t>(Belanche et al., 2024)</a:t>
            </a:r>
            <a:endParaRPr lang="en-US" sz="2200" dirty="0"/>
          </a:p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Their stories matter more than their looks. </a:t>
            </a:r>
            <a:r>
              <a:rPr lang="en-US" sz="1700" dirty="0">
                <a:solidFill>
                  <a:schemeClr val="accent4"/>
                </a:solidFill>
              </a:rPr>
              <a:t>(Allal-Chérif et al., 2024)</a:t>
            </a:r>
            <a:endParaRPr lang="en-US" sz="2200" dirty="0"/>
          </a:p>
        </p:txBody>
      </p:sp>
      <p:sp>
        <p:nvSpPr>
          <p:cNvPr id="8" name="Limiting evidence card"/>
          <p:cNvSpPr/>
          <p:nvPr/>
        </p:nvSpPr>
        <p:spPr>
          <a:xfrm>
            <a:off x="6227064" y="1691640"/>
            <a:ext cx="5413248" cy="3977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iting evidence circle"/>
          <p:cNvSpPr/>
          <p:nvPr/>
        </p:nvSpPr>
        <p:spPr>
          <a:xfrm>
            <a:off x="6455664" y="187452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Limiting evidenc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14" y="20459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24344" y="187452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Limiting evidence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409944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Build brand image but do little for purchase intention. </a:t>
            </a:r>
            <a:r>
              <a:rPr lang="en-US" sz="1700" dirty="0">
                <a:solidFill>
                  <a:schemeClr val="accent4"/>
                </a:solidFill>
              </a:rPr>
              <a:t>(Lou et al., 2023)</a:t>
            </a:r>
            <a:endParaRPr lang="en-US" sz="2200" dirty="0"/>
          </a:p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Weak when the product depends on taste or touch. </a:t>
            </a:r>
            <a:r>
              <a:rPr lang="en-US" sz="1700" dirty="0">
                <a:solidFill>
                  <a:schemeClr val="accent4"/>
                </a:solidFill>
              </a:rPr>
              <a:t>(Zhou et al., 2024)</a:t>
            </a:r>
            <a:endParaRPr lang="en-US" sz="2200" dirty="0"/>
          </a:p>
          <a:p>
            <a:pPr marL="355600" indent="-355600">
              <a:spcAft>
                <a:spcPts val="1200"/>
              </a:spcAft>
              <a:buSzPct val="100000"/>
              <a:buChar char="■"/>
            </a:pPr>
            <a:r>
              <a:rPr lang="en-US" sz="2200" dirty="0">
                <a:solidFill>
                  <a:schemeClr val="tx1"/>
                </a:solidFill>
              </a:rPr>
              <a:t>Seen as novel, or as uncanny and deceptive. </a:t>
            </a:r>
            <a:r>
              <a:rPr lang="en-US" sz="1700" dirty="0">
                <a:solidFill>
                  <a:schemeClr val="accent4"/>
                </a:solidFill>
              </a:rPr>
              <a:t>(Franke et al., 2023)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Takeaway: </a:t>
            </a:r>
            <a:r>
              <a:rPr lang="en-US" sz="2000" dirty="0">
                <a:solidFill>
                  <a:schemeClr val="tx1"/>
                </a:solidFill>
              </a:rPr>
              <a:t>the effect depends on how consumers perceive the influencer.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THEORETICAL FOUNDATION</a:t>
            </a:r>
            <a:endParaRPr lang="en-US" sz="2800" dirty="0"/>
          </a:p>
        </p:txBody>
      </p:sp>
      <p:sp>
        <p:nvSpPr>
          <p:cNvPr id="3" name="STIMULUS box"/>
          <p:cNvSpPr/>
          <p:nvPr/>
        </p:nvSpPr>
        <p:spPr>
          <a:xfrm>
            <a:off x="548640" y="1691640"/>
            <a:ext cx="3246120" cy="10972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STIMULUS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Perceptions</a:t>
            </a:r>
            <a:endParaRPr lang="en-US" sz="2200" dirty="0"/>
          </a:p>
        </p:txBody>
      </p:sp>
      <p:sp>
        <p:nvSpPr>
          <p:cNvPr id="5" name="SOR arrow 0"/>
          <p:cNvSpPr/>
          <p:nvPr/>
        </p:nvSpPr>
        <p:spPr>
          <a:xfrm>
            <a:off x="3840480" y="2240280"/>
            <a:ext cx="59436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ORGANISM box"/>
          <p:cNvSpPr/>
          <p:nvPr/>
        </p:nvSpPr>
        <p:spPr>
          <a:xfrm>
            <a:off x="4480560" y="1691640"/>
            <a:ext cx="3246120" cy="10972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69164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ORGANISM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Trust</a:t>
            </a:r>
            <a:endParaRPr lang="en-US" sz="2200" dirty="0"/>
          </a:p>
        </p:txBody>
      </p:sp>
      <p:sp>
        <p:nvSpPr>
          <p:cNvPr id="8" name="SOR arrow 1"/>
          <p:cNvSpPr/>
          <p:nvPr/>
        </p:nvSpPr>
        <p:spPr>
          <a:xfrm>
            <a:off x="7772400" y="2240280"/>
            <a:ext cx="59436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RESPONSE box"/>
          <p:cNvSpPr/>
          <p:nvPr/>
        </p:nvSpPr>
        <p:spPr>
          <a:xfrm>
            <a:off x="8412480" y="1691640"/>
            <a:ext cx="3246120" cy="10972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691640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RESPONSE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Purchase intention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S-O-R framework (Mehrabian &amp; Russell, 1974)</a:t>
            </a:r>
            <a:endParaRPr lang="en-US" sz="1600" dirty="0"/>
          </a:p>
        </p:txBody>
      </p:sp>
      <p:sp>
        <p:nvSpPr>
          <p:cNvPr id="12" name="Source credibility card"/>
          <p:cNvSpPr/>
          <p:nvPr/>
        </p:nvSpPr>
        <p:spPr>
          <a:xfrm>
            <a:off x="548640" y="3474720"/>
            <a:ext cx="2057400" cy="2834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611880"/>
            <a:ext cx="193852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Source credibility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Ohanian, 1990</a:t>
            </a:r>
            <a:endParaRPr lang="en-US" sz="15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Trustworthiness, expertise, attractiveness</a:t>
            </a:r>
            <a:endParaRPr lang="en-US" sz="1500" dirty="0"/>
          </a:p>
        </p:txBody>
      </p:sp>
      <p:sp>
        <p:nvSpPr>
          <p:cNvPr id="14" name="Anthropomorphism card"/>
          <p:cNvSpPr/>
          <p:nvPr/>
        </p:nvSpPr>
        <p:spPr>
          <a:xfrm>
            <a:off x="2807208" y="3474720"/>
            <a:ext cx="2057400" cy="2834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0360" y="3611880"/>
            <a:ext cx="193852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Anthropomorphism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Epley et al., 2007</a:t>
            </a:r>
            <a:endParaRPr lang="en-US" sz="15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Seeing a human mind in non-humans</a:t>
            </a:r>
            <a:endParaRPr lang="en-US" sz="1500" dirty="0"/>
          </a:p>
        </p:txBody>
      </p:sp>
      <p:sp>
        <p:nvSpPr>
          <p:cNvPr id="16" name="Media equation card"/>
          <p:cNvSpPr/>
          <p:nvPr/>
        </p:nvSpPr>
        <p:spPr>
          <a:xfrm>
            <a:off x="5065776" y="3474720"/>
            <a:ext cx="2057400" cy="2834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38928" y="3611880"/>
            <a:ext cx="193852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Media equation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Reeves &amp; Nass, 1996</a:t>
            </a:r>
            <a:endParaRPr lang="en-US" sz="15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People treat machines socially</a:t>
            </a:r>
            <a:endParaRPr lang="en-US" sz="1500" dirty="0"/>
          </a:p>
        </p:txBody>
      </p:sp>
      <p:sp>
        <p:nvSpPr>
          <p:cNvPr id="18" name="Uncanny valley card"/>
          <p:cNvSpPr/>
          <p:nvPr/>
        </p:nvSpPr>
        <p:spPr>
          <a:xfrm>
            <a:off x="7324344" y="3474720"/>
            <a:ext cx="2057400" cy="2834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97496" y="3611880"/>
            <a:ext cx="193852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Uncanny valley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Mori et al., 2012</a:t>
            </a:r>
            <a:endParaRPr lang="en-US" sz="15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Near-human can cause unease</a:t>
            </a:r>
            <a:endParaRPr lang="en-US" sz="1500" dirty="0"/>
          </a:p>
        </p:txBody>
      </p:sp>
      <p:sp>
        <p:nvSpPr>
          <p:cNvPr id="20" name="Homophily card"/>
          <p:cNvSpPr/>
          <p:nvPr/>
        </p:nvSpPr>
        <p:spPr>
          <a:xfrm>
            <a:off x="9582912" y="3474720"/>
            <a:ext cx="2057400" cy="2834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56064" y="3611880"/>
            <a:ext cx="193852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Homophily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McPherson et al., 2001</a:t>
            </a:r>
            <a:endParaRPr lang="en-US" sz="1500" dirty="0"/>
          </a:p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Similarity draws people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ANTHROPOMORPHISM</a:t>
            </a:r>
            <a:endParaRPr lang="en-US" sz="2800" dirty="0"/>
          </a:p>
        </p:txBody>
      </p:sp>
      <p:sp>
        <p:nvSpPr>
          <p:cNvPr id="3" name="Perceived Anthropomorphism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ceived Anthropomorphism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erceived Anthropomorphis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Perceived Anthropomorphism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Independent variable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How far a virtual influencer seems humanlike, with a mind and lifelikeness. </a:t>
            </a:r>
            <a:r>
              <a:rPr lang="en-US" sz="1900" dirty="0">
                <a:solidFill>
                  <a:schemeClr val="accent4"/>
                </a:solidFill>
              </a:rPr>
              <a:t>(Epley et al., 2007)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Humanlike cues raise trust, engagement and choice. </a:t>
            </a:r>
            <a:r>
              <a:rPr lang="en-US" sz="1900" dirty="0">
                <a:solidFill>
                  <a:schemeClr val="accent4"/>
                </a:solidFill>
              </a:rPr>
              <a:t>(Waytz et al., 2014; Cascio Rizzo et al., 2026)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Raised purchase intention and did not reduce Gen Z trust. </a:t>
            </a:r>
            <a:r>
              <a:rPr lang="en-US" sz="1900" dirty="0">
                <a:solidFill>
                  <a:schemeClr val="accent4"/>
                </a:solidFill>
              </a:rPr>
              <a:t>(Lin et al., 2025; Lonsdale et al., 2025)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Too humanlike can feel uncanny: a powerful but non-linear driver. </a:t>
            </a:r>
            <a:r>
              <a:rPr lang="en-US" sz="1900" dirty="0">
                <a:solidFill>
                  <a:schemeClr val="accent4"/>
                </a:solidFill>
              </a:rPr>
              <a:t>(Gutuleac et al., 2024)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AUTHENTICITY</a:t>
            </a:r>
            <a:endParaRPr lang="en-US" sz="2800" dirty="0"/>
          </a:p>
        </p:txBody>
      </p:sp>
      <p:sp>
        <p:nvSpPr>
          <p:cNvPr id="3" name="Perceived Authenticity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ceived Authenticity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Perceived Authenticit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Perceived Authenticity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Independent variable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Belief that the influencer is sincere and endorsements reflect real opinions. </a:t>
            </a:r>
            <a:r>
              <a:rPr lang="en-US" sz="1900" dirty="0">
                <a:solidFill>
                  <a:schemeClr val="accent4"/>
                </a:solidFill>
              </a:rPr>
              <a:t>(Lee &amp; Eastin, 2021)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Built through consistency, passion and transparency. </a:t>
            </a:r>
            <a:r>
              <a:rPr lang="en-US" sz="1900" dirty="0">
                <a:solidFill>
                  <a:schemeClr val="accent4"/>
                </a:solidFill>
              </a:rPr>
              <a:t>(Moulard et al., 2015; Audrezet et al., 2020)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Predicts purchase intention more strongly than attractiveness and builds trust. </a:t>
            </a:r>
            <a:r>
              <a:rPr lang="en-US" sz="1900" dirty="0">
                <a:solidFill>
                  <a:schemeClr val="accent4"/>
                </a:solidFill>
              </a:rPr>
              <a:t>(Pöyry et al., 2019; Kim &amp; Kim, 2021)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Contested for virtual influencers: seen as limited, yet strong stories can make them authentic. </a:t>
            </a:r>
            <a:r>
              <a:rPr lang="en-US" sz="1900" dirty="0">
                <a:solidFill>
                  <a:schemeClr val="accent4"/>
                </a:solidFill>
              </a:rPr>
              <a:t>(Lou et al., 2023; Allal-Chérif et al., 2024)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HOMOPHILY</a:t>
            </a:r>
            <a:endParaRPr lang="en-US" sz="2800" dirty="0"/>
          </a:p>
        </p:txBody>
      </p:sp>
      <p:sp>
        <p:nvSpPr>
          <p:cNvPr id="3" name="Perceived Homophily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ceived Homophily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Perceived Homophil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Perceived Homophily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Independent variable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How similar consumers feel to an influencer in attitudes, values, background or appearance. </a:t>
            </a:r>
            <a:r>
              <a:rPr lang="en-US" sz="1900" dirty="0">
                <a:solidFill>
                  <a:schemeClr val="accent4"/>
                </a:solidFill>
              </a:rPr>
              <a:t>(McCroskey et al., 1975)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Similarity raises trust and purchase intention. </a:t>
            </a:r>
            <a:r>
              <a:rPr lang="en-US" sz="1900" dirty="0">
                <a:solidFill>
                  <a:schemeClr val="accent4"/>
                </a:solidFill>
              </a:rPr>
              <a:t>(Ladhari et al., 2020; Lou &amp; Yuan, 2019)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A weak point: viewers feel less similar to virtual influencers. </a:t>
            </a:r>
            <a:r>
              <a:rPr lang="en-US" sz="1900" dirty="0">
                <a:solidFill>
                  <a:schemeClr val="accent4"/>
                </a:solidFill>
              </a:rPr>
              <a:t>(Stein et al., 2024; Belanche et al., 2024)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Strengthens the bond that anthropomorphism creates. </a:t>
            </a:r>
            <a:r>
              <a:rPr lang="en-US" sz="1900" dirty="0">
                <a:solidFill>
                  <a:schemeClr val="accent4"/>
                </a:solidFill>
              </a:rPr>
              <a:t>(Lee &amp; Kim, 2025)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ATTRACTIVENESS</a:t>
            </a:r>
            <a:endParaRPr lang="en-US" sz="2800" dirty="0"/>
          </a:p>
        </p:txBody>
      </p:sp>
      <p:sp>
        <p:nvSpPr>
          <p:cNvPr id="3" name="Perceived Attractiveness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ceived Attractiveness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Perceived Attractivenes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Perceived Attractiveness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Independent variable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How appealing, stylish and elegant an influencer appears. </a:t>
            </a:r>
            <a:r>
              <a:rPr lang="en-US" sz="1900" dirty="0">
                <a:solidFill>
                  <a:schemeClr val="accent4"/>
                </a:solidFill>
              </a:rPr>
              <a:t>(Ohanian, 1990)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Improves brand attitudes, trust and purchase intention. </a:t>
            </a:r>
            <a:r>
              <a:rPr lang="en-US" sz="1900" dirty="0">
                <a:solidFill>
                  <a:schemeClr val="accent4"/>
                </a:solidFill>
              </a:rPr>
              <a:t>(Kahle &amp; Homer, 1985; Weismueller et al., 2020)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Authenticity and expertise can outweigh it. </a:t>
            </a:r>
            <a:r>
              <a:rPr lang="en-US" sz="1900" dirty="0">
                <a:solidFill>
                  <a:schemeClr val="accent4"/>
                </a:solidFill>
              </a:rPr>
              <a:t>(Pöyry et al., 2019; Trivedi &amp; Sama, 2020)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For virtual influencers it works indirectly, through credibility. </a:t>
            </a:r>
            <a:r>
              <a:rPr lang="en-US" sz="1900" dirty="0">
                <a:solidFill>
                  <a:schemeClr val="accent4"/>
                </a:solidFill>
              </a:rPr>
              <a:t>(Kim &amp; Park, 2023; Yoo et al., 2025)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TRUST AS THE MEDIATOR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768096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Willingness to rely on another party based on ability, benevolence and integrity. </a:t>
            </a:r>
            <a:r>
              <a:rPr lang="en-US" sz="1900" dirty="0">
                <a:solidFill>
                  <a:schemeClr val="accent4"/>
                </a:solidFill>
              </a:rPr>
              <a:t>(Mayer et al., 1995)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Consumers buy what a creator recommends because they first trust them. </a:t>
            </a:r>
            <a:r>
              <a:rPr lang="en-US" sz="1900" dirty="0">
                <a:solidFill>
                  <a:schemeClr val="accent4"/>
                </a:solidFill>
              </a:rPr>
              <a:t>(Lou &amp; Yuan, 2019; Kim &amp; Kim, 2021)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Virtual influencers face an inherent trust deficit. </a:t>
            </a:r>
            <a:r>
              <a:rPr lang="en-US" sz="1900" dirty="0">
                <a:solidFill>
                  <a:schemeClr val="accent4"/>
                </a:solidFill>
              </a:rPr>
              <a:t>(Sands et al., 2022)</a:t>
            </a:r>
            <a:endParaRPr lang="en-US" sz="2400" dirty="0"/>
          </a:p>
          <a:p>
            <a:pPr marL="355600" indent="-355600">
              <a:spcAft>
                <a:spcPts val="18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Humanising cues can raise trust to nearly human levels. </a:t>
            </a:r>
            <a:r>
              <a:rPr lang="en-US" sz="1900" dirty="0">
                <a:solidFill>
                  <a:schemeClr val="accent4"/>
                </a:solidFill>
              </a:rPr>
              <a:t>(Cascio Rizzo et al., 2026)</a:t>
            </a:r>
            <a:endParaRPr lang="en-US" sz="2400" dirty="0"/>
          </a:p>
        </p:txBody>
      </p:sp>
      <p:sp>
        <p:nvSpPr>
          <p:cNvPr id="4" name="Perceptions step"/>
          <p:cNvSpPr/>
          <p:nvPr/>
        </p:nvSpPr>
        <p:spPr>
          <a:xfrm>
            <a:off x="8641080" y="1783080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41080" y="17830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Perceptions</a:t>
            </a:r>
            <a:endParaRPr lang="en-US" sz="2000" dirty="0"/>
          </a:p>
        </p:txBody>
      </p:sp>
      <p:sp>
        <p:nvSpPr>
          <p:cNvPr id="6" name="flow arrow 0"/>
          <p:cNvSpPr/>
          <p:nvPr/>
        </p:nvSpPr>
        <p:spPr>
          <a:xfrm>
            <a:off x="10149840" y="2743200"/>
            <a:ext cx="0" cy="50292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Trust step"/>
          <p:cNvSpPr/>
          <p:nvPr/>
        </p:nvSpPr>
        <p:spPr>
          <a:xfrm>
            <a:off x="8641080" y="3291840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41080" y="32918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Trust</a:t>
            </a:r>
            <a:endParaRPr lang="en-US" sz="2000" dirty="0"/>
          </a:p>
        </p:txBody>
      </p:sp>
      <p:sp>
        <p:nvSpPr>
          <p:cNvPr id="9" name="flow arrow 1"/>
          <p:cNvSpPr/>
          <p:nvPr/>
        </p:nvSpPr>
        <p:spPr>
          <a:xfrm>
            <a:off x="10149840" y="4251960"/>
            <a:ext cx="0" cy="50292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Purchase intention step"/>
          <p:cNvSpPr/>
          <p:nvPr/>
        </p:nvSpPr>
        <p:spPr>
          <a:xfrm>
            <a:off x="8641080" y="4800600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41080" y="48006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Purchase intention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PURCHASE INTENTION</a:t>
            </a:r>
            <a:endParaRPr lang="en-US" sz="2800" dirty="0"/>
          </a:p>
        </p:txBody>
      </p:sp>
      <p:sp>
        <p:nvSpPr>
          <p:cNvPr id="3" name="Purchase Intention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urchase Intention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Purchase Inten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Purchase Intention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Dependent variable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A consumer's conscious plan to buy a product or brand. </a:t>
            </a:r>
            <a:r>
              <a:rPr lang="en-US" sz="1900" dirty="0">
                <a:solidFill>
                  <a:schemeClr val="accent4"/>
                </a:solidFill>
              </a:rPr>
              <a:t>(Spears &amp; Singh, 2004)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Intention is the most immediate predictor of behaviour. </a:t>
            </a:r>
            <a:r>
              <a:rPr lang="en-US" sz="1900" dirty="0">
                <a:solidFill>
                  <a:schemeClr val="accent4"/>
                </a:solidFill>
              </a:rPr>
              <a:t>(Ajzen, 1991)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Influencer credibility predicts buying intentions in India. </a:t>
            </a:r>
            <a:r>
              <a:rPr lang="en-US" sz="1900" dirty="0">
                <a:solidFill>
                  <a:schemeClr val="accent4"/>
                </a:solidFill>
              </a:rPr>
              <a:t>(Saima &amp; Khan, 2021)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For virtual influencers the link is mixed and product-dependent. </a:t>
            </a:r>
            <a:r>
              <a:rPr lang="en-US" sz="1900" dirty="0">
                <a:solidFill>
                  <a:schemeClr val="accent4"/>
                </a:solidFill>
              </a:rPr>
              <a:t>(Gerlich, 2023; Lou et al., 2023; Zhou et al., 2024)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LITERATURE REVIEW – GEN Z</a:t>
            </a:r>
            <a:endParaRPr lang="en-US" sz="2800" dirty="0"/>
          </a:p>
        </p:txBody>
      </p:sp>
      <p:sp>
        <p:nvSpPr>
          <p:cNvPr id="3" name="Generation Z panel"/>
          <p:cNvSpPr/>
          <p:nvPr/>
        </p:nvSpPr>
        <p:spPr>
          <a:xfrm>
            <a:off x="548640" y="1691640"/>
            <a:ext cx="3200400" cy="4572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eneration Z circle"/>
          <p:cNvSpPr/>
          <p:nvPr/>
        </p:nvSpPr>
        <p:spPr>
          <a:xfrm>
            <a:off x="1371600" y="2103120"/>
            <a:ext cx="1554480" cy="1554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Generation Z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022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931920"/>
            <a:ext cx="29260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Generation Z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Target population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069080" y="1691640"/>
            <a:ext cx="7589520" cy="46634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Instagram content often prompts Gen Z purchases. </a:t>
            </a:r>
            <a:r>
              <a:rPr lang="en-US" sz="1900" dirty="0">
                <a:solidFill>
                  <a:schemeClr val="accent4"/>
                </a:solidFill>
              </a:rPr>
              <a:t>(Djafarova &amp; Bowes, 2021)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Virtual influencers are aimed at young consumers. </a:t>
            </a:r>
            <a:r>
              <a:rPr lang="en-US" sz="1900" dirty="0">
                <a:solidFill>
                  <a:schemeClr val="accent4"/>
                </a:solidFill>
              </a:rPr>
              <a:t>(Jhawar et al., 2023)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In India, trust mediated virtual influencers' effect on purchase intention. </a:t>
            </a:r>
            <a:r>
              <a:rPr lang="en-US" sz="1900" dirty="0">
                <a:solidFill>
                  <a:schemeClr val="accent4"/>
                </a:solidFill>
              </a:rPr>
              <a:t>(Jha et al., 2025)</a:t>
            </a:r>
            <a:endParaRPr lang="en-US" sz="2400" dirty="0"/>
          </a:p>
          <a:p>
            <a:pPr marL="355600" indent="-355600">
              <a:spcAft>
                <a:spcPts val="1600"/>
              </a:spcAft>
              <a:buSzPct val="100000"/>
              <a:buChar char="■"/>
            </a:pPr>
            <a:r>
              <a:rPr lang="en-US" sz="2400" dirty="0">
                <a:solidFill>
                  <a:schemeClr val="tx1"/>
                </a:solidFill>
              </a:rPr>
              <a:t>But among Indian Gen Z, engagement did not raise trust or purchase intent. </a:t>
            </a:r>
            <a:r>
              <a:rPr lang="en-US" sz="1900" dirty="0">
                <a:solidFill>
                  <a:schemeClr val="accent4"/>
                </a:solidFill>
              </a:rPr>
              <a:t>(George et al., 2026)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RESEARCH GAP</a:t>
            </a:r>
            <a:endParaRPr lang="en-US" sz="2800" dirty="0"/>
          </a:p>
        </p:txBody>
      </p:sp>
      <p:sp>
        <p:nvSpPr>
          <p:cNvPr id="3" name="Gap 1"/>
          <p:cNvSpPr/>
          <p:nvPr/>
        </p:nvSpPr>
        <p:spPr>
          <a:xfrm>
            <a:off x="548640" y="1691640"/>
            <a:ext cx="11091672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ap number 1"/>
          <p:cNvSpPr/>
          <p:nvPr/>
        </p:nvSpPr>
        <p:spPr>
          <a:xfrm>
            <a:off x="713232" y="181051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8105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91640"/>
            <a:ext cx="9966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The four perceptions are mostly studied in isolation or in pairs</a:t>
            </a:r>
            <a:endParaRPr lang="en-US" sz="2100" dirty="0"/>
          </a:p>
        </p:txBody>
      </p:sp>
      <p:sp>
        <p:nvSpPr>
          <p:cNvPr id="7" name="Gap 2"/>
          <p:cNvSpPr/>
          <p:nvPr/>
        </p:nvSpPr>
        <p:spPr>
          <a:xfrm>
            <a:off x="548640" y="2624328"/>
            <a:ext cx="11091672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ap number 2"/>
          <p:cNvSpPr/>
          <p:nvPr/>
        </p:nvSpPr>
        <p:spPr>
          <a:xfrm>
            <a:off x="713232" y="2743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24328"/>
            <a:ext cx="9966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Anthropomorphism vs authenticity as drivers of trust is untested</a:t>
            </a:r>
            <a:endParaRPr lang="en-US" sz="2100" dirty="0"/>
          </a:p>
        </p:txBody>
      </p:sp>
      <p:sp>
        <p:nvSpPr>
          <p:cNvPr id="11" name="Gap 3"/>
          <p:cNvSpPr/>
          <p:nvPr/>
        </p:nvSpPr>
        <p:spPr>
          <a:xfrm>
            <a:off x="548640" y="3557016"/>
            <a:ext cx="11091672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Gap number 3"/>
          <p:cNvSpPr/>
          <p:nvPr/>
        </p:nvSpPr>
        <p:spPr>
          <a:xfrm>
            <a:off x="713232" y="367588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675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557016"/>
            <a:ext cx="9966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Homophily is rarely studied with the other perceptions</a:t>
            </a:r>
            <a:endParaRPr lang="en-US" sz="2100" dirty="0"/>
          </a:p>
        </p:txBody>
      </p:sp>
      <p:sp>
        <p:nvSpPr>
          <p:cNvPr id="15" name="Gap 4"/>
          <p:cNvSpPr/>
          <p:nvPr/>
        </p:nvSpPr>
        <p:spPr>
          <a:xfrm>
            <a:off x="548640" y="4489704"/>
            <a:ext cx="11091672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Gap number 4"/>
          <p:cNvSpPr/>
          <p:nvPr/>
        </p:nvSpPr>
        <p:spPr>
          <a:xfrm>
            <a:off x="713232" y="4608576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6085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89704"/>
            <a:ext cx="9966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Few studies test trust as the common route to purchase intention</a:t>
            </a:r>
            <a:endParaRPr lang="en-US" sz="2100" dirty="0"/>
          </a:p>
        </p:txBody>
      </p:sp>
      <p:sp>
        <p:nvSpPr>
          <p:cNvPr id="19" name="Gap 5"/>
          <p:cNvSpPr/>
          <p:nvPr/>
        </p:nvSpPr>
        <p:spPr>
          <a:xfrm>
            <a:off x="548640" y="5422392"/>
            <a:ext cx="11091672" cy="786384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Gap number 5"/>
          <p:cNvSpPr/>
          <p:nvPr/>
        </p:nvSpPr>
        <p:spPr>
          <a:xfrm>
            <a:off x="713232" y="554126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5541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422392"/>
            <a:ext cx="9966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Evidence from Indian Gen Z is limited and contradictory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OBJECTIVES</a:t>
            </a:r>
            <a:endParaRPr lang="en-US" sz="2800" dirty="0"/>
          </a:p>
        </p:txBody>
      </p:sp>
      <p:sp>
        <p:nvSpPr>
          <p:cNvPr id="3" name="Target circle"/>
          <p:cNvSpPr/>
          <p:nvPr/>
        </p:nvSpPr>
        <p:spPr>
          <a:xfrm>
            <a:off x="914400" y="2377440"/>
            <a:ext cx="1828800" cy="1828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Targe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834640"/>
            <a:ext cx="914400" cy="914400"/>
          </a:xfrm>
          <a:prstGeom prst="rect">
            <a:avLst/>
          </a:prstGeom>
        </p:spPr>
      </p:pic>
      <p:sp>
        <p:nvSpPr>
          <p:cNvPr id="5" name="Objectives box"/>
          <p:cNvSpPr/>
          <p:nvPr/>
        </p:nvSpPr>
        <p:spPr>
          <a:xfrm>
            <a:off x="3154680" y="1691640"/>
            <a:ext cx="8485632" cy="4480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383280" y="1920240"/>
            <a:ext cx="8046720" cy="41148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To examine the influence of perceived authenticity, anthropomorphism, homophily and attractiveness of virtual influencers on Gen Z trust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To examine the effect of trust on Gen Z purchase intention</a:t>
            </a:r>
            <a:endParaRPr lang="en-US" sz="2600" dirty="0"/>
          </a:p>
          <a:p>
            <a:pPr marL="355600" indent="-355600">
              <a:spcAft>
                <a:spcPts val="2200"/>
              </a:spcAft>
              <a:buSzPct val="100000"/>
              <a:buChar char="■"/>
            </a:pPr>
            <a:r>
              <a:rPr lang="en-US" sz="2600" dirty="0">
                <a:solidFill>
                  <a:schemeClr val="tx1"/>
                </a:solidFill>
              </a:rPr>
              <a:t>To analyse the mediating role of trust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CONCEPTUAL FRAMEWORK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INDEPENDENT VARIABLES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6235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MEDIATOR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15544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DEPENDENT VARIABLE</a:t>
            </a:r>
            <a:endParaRPr lang="en-US" sz="1500" dirty="0"/>
          </a:p>
        </p:txBody>
      </p:sp>
      <p:sp>
        <p:nvSpPr>
          <p:cNvPr id="6" name="Perceived Authenticity box"/>
          <p:cNvSpPr/>
          <p:nvPr/>
        </p:nvSpPr>
        <p:spPr>
          <a:xfrm>
            <a:off x="548640" y="2011680"/>
            <a:ext cx="356616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Perceived Authenticity</a:t>
            </a:r>
            <a:endParaRPr lang="en-US" sz="1900" dirty="0"/>
          </a:p>
        </p:txBody>
      </p:sp>
      <p:sp>
        <p:nvSpPr>
          <p:cNvPr id="8" name="Arrow H1"/>
          <p:cNvSpPr/>
          <p:nvPr/>
        </p:nvSpPr>
        <p:spPr>
          <a:xfrm>
            <a:off x="4114800" y="2423160"/>
            <a:ext cx="1508760" cy="1508760"/>
          </a:xfrm>
          <a:prstGeom prst="line">
            <a:avLst/>
          </a:prstGeom>
          <a:noFill/>
          <a:ln w="285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Label H1"/>
          <p:cNvSpPr/>
          <p:nvPr/>
        </p:nvSpPr>
        <p:spPr>
          <a:xfrm>
            <a:off x="4553712" y="2994660"/>
            <a:ext cx="585216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299466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H1</a:t>
            </a:r>
            <a:endParaRPr lang="en-US" sz="1400" dirty="0"/>
          </a:p>
        </p:txBody>
      </p:sp>
      <p:sp>
        <p:nvSpPr>
          <p:cNvPr id="11" name="Perceived Anthropomorphism box"/>
          <p:cNvSpPr/>
          <p:nvPr/>
        </p:nvSpPr>
        <p:spPr>
          <a:xfrm>
            <a:off x="548640" y="3090672"/>
            <a:ext cx="356616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90672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Perceived Anthropomorphism</a:t>
            </a:r>
            <a:endParaRPr lang="en-US" sz="1900" dirty="0"/>
          </a:p>
        </p:txBody>
      </p:sp>
      <p:sp>
        <p:nvSpPr>
          <p:cNvPr id="13" name="Arrow H2"/>
          <p:cNvSpPr/>
          <p:nvPr/>
        </p:nvSpPr>
        <p:spPr>
          <a:xfrm>
            <a:off x="4114800" y="3502152"/>
            <a:ext cx="1508760" cy="429768"/>
          </a:xfrm>
          <a:prstGeom prst="line">
            <a:avLst/>
          </a:prstGeom>
          <a:noFill/>
          <a:ln w="285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Label H2"/>
          <p:cNvSpPr/>
          <p:nvPr/>
        </p:nvSpPr>
        <p:spPr>
          <a:xfrm>
            <a:off x="4553712" y="3534156"/>
            <a:ext cx="585216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3712" y="3534156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H2</a:t>
            </a:r>
            <a:endParaRPr lang="en-US" sz="1400" dirty="0"/>
          </a:p>
        </p:txBody>
      </p:sp>
      <p:sp>
        <p:nvSpPr>
          <p:cNvPr id="16" name="Perceived Homophily box"/>
          <p:cNvSpPr/>
          <p:nvPr/>
        </p:nvSpPr>
        <p:spPr>
          <a:xfrm>
            <a:off x="548640" y="4169664"/>
            <a:ext cx="356616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69664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Perceived Homophily</a:t>
            </a:r>
            <a:endParaRPr lang="en-US" sz="1900" dirty="0"/>
          </a:p>
        </p:txBody>
      </p:sp>
      <p:sp>
        <p:nvSpPr>
          <p:cNvPr id="18" name="Arrow H3"/>
          <p:cNvSpPr/>
          <p:nvPr/>
        </p:nvSpPr>
        <p:spPr>
          <a:xfrm flipV="1">
            <a:off x="4114800" y="3931920"/>
            <a:ext cx="1508760" cy="649224"/>
          </a:xfrm>
          <a:prstGeom prst="line">
            <a:avLst/>
          </a:prstGeom>
          <a:noFill/>
          <a:ln w="285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Label H3"/>
          <p:cNvSpPr/>
          <p:nvPr/>
        </p:nvSpPr>
        <p:spPr>
          <a:xfrm>
            <a:off x="4553712" y="4073652"/>
            <a:ext cx="585216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3712" y="4073652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H3</a:t>
            </a:r>
            <a:endParaRPr lang="en-US" sz="1400" dirty="0"/>
          </a:p>
        </p:txBody>
      </p:sp>
      <p:sp>
        <p:nvSpPr>
          <p:cNvPr id="21" name="Perceived Attractiveness box"/>
          <p:cNvSpPr/>
          <p:nvPr/>
        </p:nvSpPr>
        <p:spPr>
          <a:xfrm>
            <a:off x="548640" y="5248656"/>
            <a:ext cx="356616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248656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Perceived Attractiveness</a:t>
            </a:r>
            <a:endParaRPr lang="en-US" sz="1900" dirty="0"/>
          </a:p>
        </p:txBody>
      </p:sp>
      <p:sp>
        <p:nvSpPr>
          <p:cNvPr id="23" name="Arrow H4"/>
          <p:cNvSpPr/>
          <p:nvPr/>
        </p:nvSpPr>
        <p:spPr>
          <a:xfrm flipV="1">
            <a:off x="4114800" y="3931920"/>
            <a:ext cx="1508760" cy="1728216"/>
          </a:xfrm>
          <a:prstGeom prst="line">
            <a:avLst/>
          </a:prstGeom>
          <a:noFill/>
          <a:ln w="2857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4" name="Label H4"/>
          <p:cNvSpPr/>
          <p:nvPr/>
        </p:nvSpPr>
        <p:spPr>
          <a:xfrm>
            <a:off x="4553712" y="4613148"/>
            <a:ext cx="585216" cy="36576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3712" y="461314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H4</a:t>
            </a:r>
            <a:endParaRPr lang="en-US" sz="1400" dirty="0"/>
          </a:p>
        </p:txBody>
      </p:sp>
      <p:sp>
        <p:nvSpPr>
          <p:cNvPr id="26" name="Trust box"/>
          <p:cNvSpPr/>
          <p:nvPr/>
        </p:nvSpPr>
        <p:spPr>
          <a:xfrm>
            <a:off x="5623560" y="3337560"/>
            <a:ext cx="2377440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23560" y="333756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TRUST</a:t>
            </a:r>
            <a:endParaRPr lang="en-US" sz="2600" dirty="0"/>
          </a:p>
        </p:txBody>
      </p:sp>
      <p:sp>
        <p:nvSpPr>
          <p:cNvPr id="28" name="Arrow H5"/>
          <p:cNvSpPr/>
          <p:nvPr/>
        </p:nvSpPr>
        <p:spPr>
          <a:xfrm>
            <a:off x="8001000" y="3931920"/>
            <a:ext cx="77724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092440" y="347472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H5</a:t>
            </a:r>
            <a:endParaRPr lang="en-US" sz="1400" dirty="0"/>
          </a:p>
        </p:txBody>
      </p:sp>
      <p:sp>
        <p:nvSpPr>
          <p:cNvPr id="30" name="Purchase intention box"/>
          <p:cNvSpPr/>
          <p:nvPr/>
        </p:nvSpPr>
        <p:spPr>
          <a:xfrm>
            <a:off x="8778240" y="3337560"/>
            <a:ext cx="2880360" cy="118872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0" y="3337560"/>
            <a:ext cx="2880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PURCHASE INTENTION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5623560" y="5257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H6: </a:t>
            </a:r>
            <a:r>
              <a:rPr lang="en-US" sz="1800" dirty="0">
                <a:solidFill>
                  <a:schemeClr val="tx1"/>
                </a:solidFill>
              </a:rPr>
              <a:t>Trust mediates perceptions → purchase intention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5623560" y="57607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Based on the S-O-R framework (Mehrabian &amp; Russell, 1974)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HYPOTHESES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99439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bg1"/>
                          </a:solidFill>
                        </a:rPr>
                        <a:t>No.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bg1"/>
                          </a:solidFill>
                        </a:rPr>
                        <a:t>Hypothesis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H1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Perceived authenticity positively affects trust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H2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Perceived anthropomorphism positively affects trust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H3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Perceived homophily positively affects trust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H4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Perceived attractiveness positively affects trust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H5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Trust positively affects purchase intention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chemeClr val="accent4"/>
                          </a:solidFill>
                        </a:rPr>
                        <a:t>H6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chemeClr val="tx1"/>
                          </a:solidFill>
                        </a:rPr>
                        <a:t>Trust mediates the effect of the perceptions on purchase intention</a:t>
                      </a:r>
                      <a:endParaRPr lang="en-US" sz="2100" dirty="0"/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89F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167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Allal-Chérif, O., Puertas, R., &amp; Carracedo, P. (2024). Intelligent influencer marketing: How AI-powered virtual influencers outperform human influencers. Technological Forecasting and Social Change, 200, 123113.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Belanche, D., Casaló, L. V., &amp; Flavián, M. (2024). Human versus virtual influences, a comparative study. Journal of Business Research, 173, 114493.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Cascio Rizzo, G. L., Villarroel Ordenes, F., &amp; Berger, J. (2026). What drives virtual influencers' impact? Journal of the Academy of Marketing Science.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Epley, N., Waytz, A., &amp; Cacioppo, J. T. (2007). On seeing human: A three-factor theory of anthropomorphism. Psychological Review, 114(4), 864–886.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George, J. P., Muttungal, P. V., Priya, N., &amp; Davidson, B. G. J. (2026). Credibility, engagement, and purchase: How virtual influencers drive Gen Zs consumer behavior. Emerald Publishing.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Gerlich, M. (2023). The power of virtual influencers: Impact on consumer behaviour and attitudes in the age of AI. Administrative Sciences, 13(8), 178.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REFERENCES (CONTD.)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167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Jha, S., Chaudhary, R., &amp; Shukla, B. (2025). Trust dynamics of virtual influencers: Exploring their influence on fashion purchase decisions. Innovative Marketing, 21(3), 226–236.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Lee, J. A., &amp; Eastin, M. S. (2021). Perceived authenticity of social media influencers: Scale development and validation. Journal of Research in Interactive Marketing, 15(4), 822–841.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Lonsdale, N., Aydin, G., &amp; Magtibay, R. (2025). Anthropomorphism and diversity in virtual humans: Their influence on the trust and attitudes of Gen Z consumers. Corporate Communications, 30(5), 888–914.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Lou, C., Kiew, S. T. J., Chen, T., Lee, T. Y. M., Ong, J. E. C., &amp; Phua, Z. (2023). Authentically fake? How consumers respond to the influence of virtual influencers. Journal of Advertising, 52(4), 540–557.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Lou, C., &amp; Yuan, S. (2019). Influencer marketing: How message value and credibility affect consumer trust of branded content on social media. Journal of Interactive Advertising, 19(1), 58–73.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Mayer, R. C., Davis, J. H., &amp; Schoorman, F. D. (1995). An integrative model of organizational trust. Academy of Management Review, 20(3), 709–734.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74980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REFERENCES (CONTD.)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1109167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McCroskey, J. C., Richmond, V. P., &amp; Daly, J. A. (1975). The development of a measure of perceived homophily in interpersonal communication. Human Communication Research, 1(4), 323–332.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Mehrabian, A., &amp; Russell, J. A. (1974). An approach to environmental psychology. MIT Press.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Ohanian, R. (1990). Construction and validation of a scale to measure celebrity endorsers' perceived expertise, trustworthiness, and attractiveness. Journal of Advertising, 19(3), 39–52.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Sands, S., Campbell, C. L., Plangger, K., &amp; Ferraro, C. (2022). Unreal influence: Leveraging AI in influencer marketing. European Journal of Marketing, 56(6), 1721–1747.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Spears, N., &amp; Singh, S. N. (2004). Measuring attitude toward the brand and purchase intentions. Journal of Current Issues &amp; Research in Advertising, 26(2), 53–66.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Stein, J.-P., Breves, P. L., &amp; Anders, N. (2024). Parasocial interactions with real and virtual influencers: The role of perceived similarity and human-likeness. New Media &amp; Society, 26(6), 3433–3453.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1371600"/>
            <a:ext cx="1109167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42900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Questions and suggestions are welcome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rtual Influencers">
  <a:themeElements>
    <a:clrScheme name="Virtual Influencers">
      <a:dk1>
        <a:srgbClr val="404040"/>
      </a:dk1>
      <a:lt1>
        <a:srgbClr val="FFFFFF"/>
      </a:lt1>
      <a:dk2>
        <a:srgbClr val="3F4A51"/>
      </a:dk2>
      <a:lt2>
        <a:srgbClr val="E1ECEC"/>
      </a:lt2>
      <a:accent1>
        <a:srgbClr val="1AACE3"/>
      </a:accent1>
      <a:accent2>
        <a:srgbClr val="3F4A51"/>
      </a:accent2>
      <a:accent3>
        <a:srgbClr val="989FA8"/>
      </a:accent3>
      <a:accent4>
        <a:srgbClr val="1F86B5"/>
      </a:accent4>
      <a:accent5>
        <a:srgbClr val="F2A541"/>
      </a:accent5>
      <a:accent6>
        <a:srgbClr val="5BB98C"/>
      </a:accent6>
      <a:hlink>
        <a:srgbClr val="1F86B5"/>
      </a:hlink>
      <a:folHlink>
        <a:srgbClr val="989FA8"/>
      </a:folHlink>
    </a:clrScheme>
    <a:fontScheme name="Virtual Influencer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Influencers, Trust and Purchase Intention among Gen Z</dc:title>
  <dc:subject>PptxGenJS Presentation</dc:subject>
  <dc:creator>PptxGenJS</dc:creator>
  <cp:lastModifiedBy>PptxGenJS</cp:lastModifiedBy>
  <cp:revision>1</cp:revision>
  <dcterms:created xsi:type="dcterms:W3CDTF">2026-10-29T14:59:35Z</dcterms:created>
  <dcterms:modified xsi:type="dcterms:W3CDTF">2026-10-29T14:59:35Z</dcterms:modified>
</cp:coreProperties>
</file>